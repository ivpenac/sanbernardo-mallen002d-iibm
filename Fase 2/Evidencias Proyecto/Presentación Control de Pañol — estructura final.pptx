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HK Grotesk Bold" charset="1" panose="00000800000000000000"/>
      <p:regular r:id="rId24"/>
    </p:embeddedFont>
    <p:embeddedFont>
      <p:font typeface="Open Sans Bold" charset="1" panose="020B0806030504020204"/>
      <p:regular r:id="rId25"/>
    </p:embeddedFont>
    <p:embeddedFont>
      <p:font typeface="HK Grotesk" charset="1" panose="00000500000000000000"/>
      <p:regular r:id="rId26"/>
    </p:embeddedFont>
    <p:embeddedFont>
      <p:font typeface="Arimo Bold" charset="1" panose="020B0704020202020204"/>
      <p:regular r:id="rId28"/>
    </p:embeddedFont>
    <p:embeddedFont>
      <p:font typeface="Arimo" charset="1" panose="020B0604020202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Benjamín Vargas  ·  Tiempo: 0:15  ·  Slide 1 de 13</a:t>
            </a:r>
          </a:p>
          <a:p>
            <a:r>
              <a:rPr lang="en-US"/>
              <a:t>Buenas tardes, comisión. Somos Benjamín Vargas, Iván Peña, Iker Justo Vergara y Matías Molina, y presentamos Control de Pañol, el sistema de control de bodega y pañoles que desarrollamos para Duoc UC San Bernardo.</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Iker Justo Vergara  ·  Tiempo: 0:35</a:t>
            </a:r>
          </a:p>
          <a:p>
            <a:r>
              <a:rPr lang="en-US"/>
              <a:t>El proyecto parte en el pañol y las bodegas de la sede San Bernardo, con dos turnos que se coordinaban por WhatsApp. El origen es la ficha del proyecto 2025-2 y una reunión con los encargados en la semana 3. Existía una herramienta en Python, pero quedó en un solo equipo y hoy no se usa. La necesidad es reemplazar el registro manual por un sistema con trazabilidad por elemento, para encargados, docentes, estudiantes y personal institucional.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Benjamín Vargas  ·  Tiempo: 0:45  ·  Slide 2 de 13</a:t>
            </a:r>
          </a:p>
          <a:p>
            <a:r>
              <a:rPr lang="en-US"/>
              <a:t>Parto con mi interés profesional: la ciberseguridad y el control de calidad; en el proyecto trabajé en pruebas como usuario y en el levantamiento de requerimientos. En ese levantamiento, en la semana 3, los encargados confirmaron tres problemas: los turnos se coordinaban por WhatsApp, los préstamos no tenían trazabilidad y los fungibles no tenían control de stock, lo que generaba compras redundantes y extravío de activos. Acotamos el alcance a software, sin hardware de geolocalización.</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Benjamín Vargas  ·  Tiempo: 0:30  ·  Slide 4 de 13</a:t>
            </a:r>
          </a:p>
          <a:p>
            <a:r>
              <a:rPr lang="en-US"/>
              <a:t>Nuestra propuesta es una plataforma web multiusuario que reemplaza el registro manual del pañol, desarrollada con DSDM y validada con los encargados en incrementos de 15 días. Antes, el registro era en papel o planilla, las herramientas se perdían sin responsable y no había visibilidad del inventario real. Ahora cada préstamo queda registrado digitalmente, cada activo tiene su historial de quién lo tuvo, y el inventario es visible desde el celular. El detalle de qué incluye y qué no lo ve Iván en el alcance.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Benjamín Vargas  ·  Tiempo: 0:25</a:t>
            </a:r>
          </a:p>
          <a:p>
            <a:r>
              <a:rPr lang="en-US"/>
              <a:t>El alcance es solo software: una plataforma web multiusuario, con inventario, préstamos, historial por elemento, dashboard y avisos. Quedó fuera el hardware de geolocalización, por restricciones de tiempo, además de la integración con el horario académico y varios pañoles independientes.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Iván Peña  ·  Tiempo: 0:40</a:t>
            </a:r>
          </a:p>
          <a:p>
            <a:r>
              <a:rPr lang="en-US"/>
              <a:t>El objetivo general es desarrollar un sistema web multiusuario de control de inventario y préstamos para el pañol, que reemplace el registro manual y entregue trazabilidad por elemento. Lo desglosamos en cinco objetivos específicos y los cinco tienen evidencia: registro, préstamos, roles, alertas y dashboard. Dos matices: en control de acceso falta cerrar con el pañol la matriz de permisos, y el selector de fechas del dashboard quedó como Won't have.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Iker Justo Vergara  ·  Tiempo: 0:40</a:t>
            </a:r>
          </a:p>
          <a:p>
            <a:r>
              <a:rPr lang="en-US"/>
              <a:t>Comparamos cinco metodologías y elegimos DSDM porque fija tiempo, costo y calidad y deja el alcance como variable de ajuste mediante MoSCoW. Eso calzaba con un calendario de 18 semanas que no se mueve y un cliente que aún podía cambiar requisitos. Trabajamos en timeboxes de 15 días, y eso nos permitió replantear el rumbo el 30 de septiembre sin mover fechas.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Iker Justo Vergara  ·  Tiempo: 0:30  ·  Slide 7 de 13</a:t>
            </a:r>
          </a:p>
          <a:p>
            <a:r>
              <a:rPr lang="en-US"/>
              <a:t>Así lo aplicamos: pre-proyecto y factibilidad en las primeras tres semanas, fundamentos hasta la sexta y, desde la séptima, desarrollo evolutivo en incrementos de 15 días. El ambiente en Azure ya está listo; quedan UAT y Demo Day. Josefa y Rodolfo, de pañol, son los Business Ambassadors, y la profesora es DSDM Coach.</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Matías Molina  ·  Tiempo: 0:30</a:t>
            </a:r>
          </a:p>
          <a:p>
            <a:r>
              <a:rPr lang="en-US"/>
              <a:t>Mi interés está en el backend, las bases de datos relacionales y la ciberseguridad; aquí fui Technical Coordinator. El backend está en Django 5.2 con PostgreSQL. Celery y Redis manejan los correos y el aviso diario de atrasos, y todo corre en contenedores con Docker Compose. El frontend usa plantillas Django, Bootstrap y Chart.js, y la gestión se hace con Jira y Git, una rama por funcionalidad.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Matías Molina  ·  Tiempo: 0:35</a:t>
            </a:r>
          </a:p>
          <a:p>
            <a:r>
              <a:rPr lang="en-US"/>
              <a:t>El sistema es un monolito modular en Django, organizado por capas: selectors para lectura y services para escritura transaccional, que es donde vive la lógica de negocio. En el diagrama de despliegue, Nginx recibe a encargados y docentes, Django atiende la aplicación, Celery y Redis procesan tareas en segundo plano, y PostgreSQL es un servidor administrado en Azure.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Iker Justo Vergara  ·  Tiempo: 0:40  ·  Slide 11 de 14</a:t>
            </a:r>
          </a:p>
          <a:p>
            <a:r>
              <a:rPr lang="en-US"/>
              <a:t>Cada incremento de 15 días termina con una demostración al pañol. El 10 de septiembre validaron el inventario: les gustó ingresar varias unidades a la vez, crear categorías y ver el historial. El 30 de septiembre no entendieron el flujo para crear elementos, así que lo rediseñamos: formulario único y un solo inventario con filtros. El cambio se absorbió sin mover ninguna fecha, porque DSDM fija tiempo, costo y calidad, y deja el alcance como variable de ajuste. A continuación, el detalle de lo construido en Jira.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Iker Justo Vergara  ·  Tiempo: 0:40  ·  Slide 12 de 14</a:t>
            </a:r>
          </a:p>
          <a:p>
            <a:r>
              <a:rPr lang="en-US"/>
              <a:t>El plan de trabajo vive en Jira. Tenemos 7 épicas, 26 features y 51 subtareas, todas en estado Listo, salvo una feature registrada como Won't have: el selector de fechas del dashboard. De las 26 features, 19 son Must have y 7 Should have. Por épica: préstamos e inventario con 6 features cada una, dashboard y reportes con 4, usuarios y requisitos no funcionales con 3, y autenticación y categorías con 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Matías Molina  ·  Tiempo: 1:30</a:t>
            </a:r>
          </a:p>
          <a:p>
            <a:r>
              <a:rPr lang="en-US"/>
              <a:t>Ahora les mostramos el sistema funcionando. Primero, el encargado da de alta un elemento desde el formulario único: nombre, cantidad y si es activo. Después, un docente crea una solicitud desde el portal. El encargado la aprueba, entrega una parte y, cuando el docente declara la devolución, la verifica en un segundo paso. Para terminar, vemos el dashboard con los préstamos activos y el historial de cada elemento.</a:t>
            </a:r>
          </a:p>
          <a:p>
            <a:r>
              <a:rPr lang="en-US"/>
              <a:t>[Respaldo: tener grabado un video del mismo recorrido por si falla la conexión.]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Matías Molina  ·  Tiempo: 1:30</a:t>
            </a:r>
          </a:p>
          <a:p>
            <a:r>
              <a:rPr lang="en-US"/>
              <a:t>Ahora les mostramos el sistema funcionando. Primero, el encargado da de alta un elemento desde el formulario único: nombre, cantidad y si es activo. Después, un docente crea una solicitud desde el portal. El encargado la aprueba, entrega una parte y, cuando el docente declara la devolución, la verifica en un segundo paso. Para terminar, vemos el dashboard con los préstamos activos y el historial de cada elemento.</a:t>
            </a:r>
          </a:p>
          <a:p>
            <a:r>
              <a:rPr lang="en-US"/>
              <a:t>[Respaldo: tener grabado un video del mismo recorrido por si falla la conexión.]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EXPONE: Matías Molina  ·  Tiempo: 0:45</a:t>
            </a:r>
          </a:p>
          <a:p>
            <a:r>
              <a:rPr lang="en-US"/>
              <a:t>Como reflexión, nos llevamos tres aprendizajes. Primero, validar temprano: el replanteo del 30 de septiembre con el pañol nos hizo cambiar el diseño a tiempo. Segundo, no depender de una sola persona: reemplazamos Angular por plantillas Django para que todo el equipo pueda mantener el sistema. Tercero, registrar los riesgos a tiempo. Queda por cerrar la seguridad previa a producción, la UAT y quién mantiene el sistema. En resumen, el sistema ya reemplaza el registro manual. Quedamos atentos a sus preguntas.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32.pn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40.png" Type="http://schemas.openxmlformats.org/officeDocument/2006/relationships/image"/><Relationship Id="rId12" Target="../media/image41.svg" Type="http://schemas.openxmlformats.org/officeDocument/2006/relationships/image"/><Relationship Id="rId13" Target="../media/image42.png" Type="http://schemas.openxmlformats.org/officeDocument/2006/relationships/image"/><Relationship Id="rId14" Target="../media/image43.svg" Type="http://schemas.openxmlformats.org/officeDocument/2006/relationships/image"/><Relationship Id="rId2" Target="../notesSlides/notesSlide13.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3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44.jpeg" Type="http://schemas.openxmlformats.org/officeDocument/2006/relationships/image"/><Relationship Id="rId8" Target="../media/VAHYMwnirWM.mp4" Type="http://schemas.openxmlformats.org/officeDocument/2006/relationships/video"/><Relationship Id="rId9" Target="../media/VAHYMwnirWM.mp4" Type="http://schemas.microsoft.com/office/2007/relationships/media"/></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45.png" Type="http://schemas.openxmlformats.org/officeDocument/2006/relationships/image"/><Relationship Id="rId4" Target="../media/image2.jpeg" Type="http://schemas.openxmlformats.org/officeDocument/2006/relationships/image"/><Relationship Id="rId5" Target="../media/image4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10595937" y="0"/>
            <a:ext cx="7691606" cy="10287000"/>
            <a:chOff x="0" y="0"/>
            <a:chExt cx="10255475" cy="13716000"/>
          </a:xfrm>
        </p:grpSpPr>
        <p:sp>
          <p:nvSpPr>
            <p:cNvPr name="Freeform 3" id="3" descr="Personas trabajando en una bodega con estanterías y una carga paletizada"/>
            <p:cNvSpPr/>
            <p:nvPr/>
          </p:nvSpPr>
          <p:spPr>
            <a:xfrm flipH="false" flipV="false" rot="0">
              <a:off x="0" y="0"/>
              <a:ext cx="10255450" cy="13716000"/>
            </a:xfrm>
            <a:custGeom>
              <a:avLst/>
              <a:gdLst/>
              <a:ahLst/>
              <a:cxnLst/>
              <a:rect r="r" b="b" t="t" l="l"/>
              <a:pathLst>
                <a:path h="13716000" w="10255450">
                  <a:moveTo>
                    <a:pt x="0" y="0"/>
                  </a:moveTo>
                  <a:lnTo>
                    <a:pt x="10255450" y="0"/>
                  </a:lnTo>
                  <a:lnTo>
                    <a:pt x="10255450" y="13716000"/>
                  </a:lnTo>
                  <a:lnTo>
                    <a:pt x="0" y="13716000"/>
                  </a:lnTo>
                  <a:lnTo>
                    <a:pt x="0" y="0"/>
                  </a:lnTo>
                  <a:close/>
                </a:path>
              </a:pathLst>
            </a:custGeom>
            <a:blipFill>
              <a:blip r:embed="rId3"/>
              <a:stretch>
                <a:fillRect l="-225" t="0" r="-100390" b="0"/>
              </a:stretch>
            </a:blipFill>
          </p:spPr>
        </p:sp>
      </p:grpSp>
      <p:grpSp>
        <p:nvGrpSpPr>
          <p:cNvPr name="Group 4" id="4"/>
          <p:cNvGrpSpPr/>
          <p:nvPr/>
        </p:nvGrpSpPr>
        <p:grpSpPr>
          <a:xfrm rot="0">
            <a:off x="1389013" y="1284634"/>
            <a:ext cx="7520321" cy="2584266"/>
            <a:chOff x="0" y="0"/>
            <a:chExt cx="11123420" cy="3822427"/>
          </a:xfrm>
        </p:grpSpPr>
        <p:sp>
          <p:nvSpPr>
            <p:cNvPr name="Freeform 5" id="5"/>
            <p:cNvSpPr/>
            <p:nvPr/>
          </p:nvSpPr>
          <p:spPr>
            <a:xfrm flipH="false" flipV="false" rot="0">
              <a:off x="0" y="0"/>
              <a:ext cx="11123419" cy="3822427"/>
            </a:xfrm>
            <a:custGeom>
              <a:avLst/>
              <a:gdLst/>
              <a:ahLst/>
              <a:cxnLst/>
              <a:rect r="r" b="b" t="t" l="l"/>
              <a:pathLst>
                <a:path h="3822427" w="11123419">
                  <a:moveTo>
                    <a:pt x="0" y="0"/>
                  </a:moveTo>
                  <a:lnTo>
                    <a:pt x="11123419" y="0"/>
                  </a:lnTo>
                  <a:lnTo>
                    <a:pt x="11123419" y="3822427"/>
                  </a:lnTo>
                  <a:lnTo>
                    <a:pt x="0" y="3822427"/>
                  </a:lnTo>
                  <a:close/>
                </a:path>
              </a:pathLst>
            </a:custGeom>
            <a:blipFill>
              <a:blip r:embed="rId4">
                <a:alphaModFix amt="0"/>
              </a:blip>
              <a:stretch>
                <a:fillRect l="0" t="-39470" r="-11798" b="12685"/>
              </a:stretch>
            </a:blipFill>
          </p:spPr>
        </p:sp>
        <p:sp>
          <p:nvSpPr>
            <p:cNvPr name="TextBox 6" id="6"/>
            <p:cNvSpPr txBox="true"/>
            <p:nvPr/>
          </p:nvSpPr>
          <p:spPr>
            <a:xfrm>
              <a:off x="0" y="-9525"/>
              <a:ext cx="11123420" cy="3831952"/>
            </a:xfrm>
            <a:prstGeom prst="rect">
              <a:avLst/>
            </a:prstGeom>
          </p:spPr>
          <p:txBody>
            <a:bodyPr anchor="ctr" rtlCol="false" tIns="0" lIns="0" bIns="0" rIns="0"/>
            <a:lstStyle/>
            <a:p>
              <a:pPr algn="ctr">
                <a:lnSpc>
                  <a:spcPts val="8640"/>
                </a:lnSpc>
              </a:pPr>
              <a:r>
                <a:rPr lang="en-US" b="true" sz="7200">
                  <a:solidFill>
                    <a:srgbClr val="4F2F1E"/>
                  </a:solidFill>
                  <a:latin typeface="HK Grotesk Bold"/>
                  <a:ea typeface="HK Grotesk Bold"/>
                  <a:cs typeface="HK Grotesk Bold"/>
                  <a:sym typeface="HK Grotesk Bold"/>
                </a:rPr>
                <a:t>Avance N°2 del Control de Pañol</a:t>
              </a:r>
            </a:p>
          </p:txBody>
        </p:sp>
      </p:grpSp>
      <p:sp>
        <p:nvSpPr>
          <p:cNvPr name="Freeform 7" id="7"/>
          <p:cNvSpPr/>
          <p:nvPr/>
        </p:nvSpPr>
        <p:spPr>
          <a:xfrm flipH="false" flipV="false" rot="0">
            <a:off x="1005253" y="4975080"/>
            <a:ext cx="8287839" cy="3729527"/>
          </a:xfrm>
          <a:custGeom>
            <a:avLst/>
            <a:gdLst/>
            <a:ahLst/>
            <a:cxnLst/>
            <a:rect r="r" b="b" t="t" l="l"/>
            <a:pathLst>
              <a:path h="3729527" w="8287839">
                <a:moveTo>
                  <a:pt x="0" y="0"/>
                </a:moveTo>
                <a:lnTo>
                  <a:pt x="8287839" y="0"/>
                </a:lnTo>
                <a:lnTo>
                  <a:pt x="8287839" y="3729528"/>
                </a:lnTo>
                <a:lnTo>
                  <a:pt x="0" y="37295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435842" y="6094682"/>
            <a:ext cx="1000217" cy="745162"/>
          </a:xfrm>
          <a:custGeom>
            <a:avLst/>
            <a:gdLst/>
            <a:ahLst/>
            <a:cxnLst/>
            <a:rect r="r" b="b" t="t" l="l"/>
            <a:pathLst>
              <a:path h="745162" w="1000217">
                <a:moveTo>
                  <a:pt x="0" y="0"/>
                </a:moveTo>
                <a:lnTo>
                  <a:pt x="1000217" y="0"/>
                </a:lnTo>
                <a:lnTo>
                  <a:pt x="1000217" y="745162"/>
                </a:lnTo>
                <a:lnTo>
                  <a:pt x="0" y="7451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true" rot="0">
            <a:off x="1435842" y="7449012"/>
            <a:ext cx="1000217" cy="745162"/>
          </a:xfrm>
          <a:custGeom>
            <a:avLst/>
            <a:gdLst/>
            <a:ahLst/>
            <a:cxnLst/>
            <a:rect r="r" b="b" t="t" l="l"/>
            <a:pathLst>
              <a:path h="745162" w="1000217">
                <a:moveTo>
                  <a:pt x="0" y="745162"/>
                </a:moveTo>
                <a:lnTo>
                  <a:pt x="1000217" y="745162"/>
                </a:lnTo>
                <a:lnTo>
                  <a:pt x="1000217" y="0"/>
                </a:lnTo>
                <a:lnTo>
                  <a:pt x="0" y="0"/>
                </a:lnTo>
                <a:lnTo>
                  <a:pt x="0" y="745162"/>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true" flipV="false" rot="0">
            <a:off x="7862286" y="6094682"/>
            <a:ext cx="1000217" cy="745162"/>
          </a:xfrm>
          <a:custGeom>
            <a:avLst/>
            <a:gdLst/>
            <a:ahLst/>
            <a:cxnLst/>
            <a:rect r="r" b="b" t="t" l="l"/>
            <a:pathLst>
              <a:path h="745162" w="1000217">
                <a:moveTo>
                  <a:pt x="1000218" y="0"/>
                </a:moveTo>
                <a:lnTo>
                  <a:pt x="0" y="0"/>
                </a:lnTo>
                <a:lnTo>
                  <a:pt x="0" y="745162"/>
                </a:lnTo>
                <a:lnTo>
                  <a:pt x="1000218" y="745162"/>
                </a:lnTo>
                <a:lnTo>
                  <a:pt x="100021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true" flipV="true" rot="0">
            <a:off x="7862286" y="7449012"/>
            <a:ext cx="1000217" cy="745162"/>
          </a:xfrm>
          <a:custGeom>
            <a:avLst/>
            <a:gdLst/>
            <a:ahLst/>
            <a:cxnLst/>
            <a:rect r="r" b="b" t="t" l="l"/>
            <a:pathLst>
              <a:path h="745162" w="1000217">
                <a:moveTo>
                  <a:pt x="1000218" y="745162"/>
                </a:moveTo>
                <a:lnTo>
                  <a:pt x="0" y="745162"/>
                </a:lnTo>
                <a:lnTo>
                  <a:pt x="0" y="0"/>
                </a:lnTo>
                <a:lnTo>
                  <a:pt x="1000218" y="0"/>
                </a:lnTo>
                <a:lnTo>
                  <a:pt x="1000218" y="745162"/>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true" rot="-2316038">
            <a:off x="8480030" y="3287723"/>
            <a:ext cx="1372284" cy="857677"/>
          </a:xfrm>
          <a:custGeom>
            <a:avLst/>
            <a:gdLst/>
            <a:ahLst/>
            <a:cxnLst/>
            <a:rect r="r" b="b" t="t" l="l"/>
            <a:pathLst>
              <a:path h="857677" w="1372284">
                <a:moveTo>
                  <a:pt x="0" y="857677"/>
                </a:moveTo>
                <a:lnTo>
                  <a:pt x="1372283" y="857677"/>
                </a:lnTo>
                <a:lnTo>
                  <a:pt x="1372283" y="0"/>
                </a:lnTo>
                <a:lnTo>
                  <a:pt x="0" y="0"/>
                </a:lnTo>
                <a:lnTo>
                  <a:pt x="0" y="857677"/>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2316038">
            <a:off x="940595" y="867780"/>
            <a:ext cx="1372284" cy="857677"/>
          </a:xfrm>
          <a:custGeom>
            <a:avLst/>
            <a:gdLst/>
            <a:ahLst/>
            <a:cxnLst/>
            <a:rect r="r" b="b" t="t" l="l"/>
            <a:pathLst>
              <a:path h="857677" w="1372284">
                <a:moveTo>
                  <a:pt x="0" y="0"/>
                </a:moveTo>
                <a:lnTo>
                  <a:pt x="1372283" y="0"/>
                </a:lnTo>
                <a:lnTo>
                  <a:pt x="1372283" y="857678"/>
                </a:lnTo>
                <a:lnTo>
                  <a:pt x="0" y="8576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2990675" y="5266415"/>
            <a:ext cx="629483" cy="828268"/>
          </a:xfrm>
          <a:custGeom>
            <a:avLst/>
            <a:gdLst/>
            <a:ahLst/>
            <a:cxnLst/>
            <a:rect r="r" b="b" t="t" l="l"/>
            <a:pathLst>
              <a:path h="828268" w="629483">
                <a:moveTo>
                  <a:pt x="0" y="0"/>
                </a:moveTo>
                <a:lnTo>
                  <a:pt x="629483" y="0"/>
                </a:lnTo>
                <a:lnTo>
                  <a:pt x="629483" y="828267"/>
                </a:lnTo>
                <a:lnTo>
                  <a:pt x="0" y="82826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5" id="15"/>
          <p:cNvSpPr txBox="true"/>
          <p:nvPr/>
        </p:nvSpPr>
        <p:spPr>
          <a:xfrm rot="0">
            <a:off x="3755653" y="5316510"/>
            <a:ext cx="2787040" cy="638916"/>
          </a:xfrm>
          <a:prstGeom prst="rect">
            <a:avLst/>
          </a:prstGeom>
        </p:spPr>
        <p:txBody>
          <a:bodyPr anchor="t" rtlCol="false" tIns="0" lIns="0" bIns="0" rIns="0">
            <a:spAutoFit/>
          </a:bodyPr>
          <a:lstStyle/>
          <a:p>
            <a:pPr algn="ctr">
              <a:lnSpc>
                <a:spcPts val="5283"/>
              </a:lnSpc>
            </a:pPr>
            <a:r>
              <a:rPr lang="en-US" b="true" sz="3773">
                <a:solidFill>
                  <a:srgbClr val="4F2F1E"/>
                </a:solidFill>
                <a:latin typeface="Open Sans Bold"/>
                <a:ea typeface="Open Sans Bold"/>
                <a:cs typeface="Open Sans Bold"/>
                <a:sym typeface="Open Sans Bold"/>
              </a:rPr>
              <a:t>Integrantes</a:t>
            </a:r>
          </a:p>
        </p:txBody>
      </p:sp>
      <p:sp>
        <p:nvSpPr>
          <p:cNvPr name="TextBox 16" id="16"/>
          <p:cNvSpPr txBox="true"/>
          <p:nvPr/>
        </p:nvSpPr>
        <p:spPr>
          <a:xfrm rot="0">
            <a:off x="2497701" y="6446566"/>
            <a:ext cx="2639064" cy="361950"/>
          </a:xfrm>
          <a:prstGeom prst="rect">
            <a:avLst/>
          </a:prstGeom>
        </p:spPr>
        <p:txBody>
          <a:bodyPr anchor="t" rtlCol="false" tIns="0" lIns="0" bIns="0" rIns="0">
            <a:spAutoFit/>
          </a:bodyPr>
          <a:lstStyle/>
          <a:p>
            <a:pPr algn="ctr">
              <a:lnSpc>
                <a:spcPts val="2879"/>
              </a:lnSpc>
              <a:spcBef>
                <a:spcPct val="0"/>
              </a:spcBef>
            </a:pPr>
            <a:r>
              <a:rPr lang="en-US" sz="2400">
                <a:solidFill>
                  <a:srgbClr val="4F2F1E"/>
                </a:solidFill>
                <a:latin typeface="HK Grotesk"/>
                <a:ea typeface="HK Grotesk"/>
                <a:cs typeface="HK Grotesk"/>
                <a:sym typeface="HK Grotesk"/>
              </a:rPr>
              <a:t>Benjamín Vargas</a:t>
            </a:r>
          </a:p>
        </p:txBody>
      </p:sp>
      <p:sp>
        <p:nvSpPr>
          <p:cNvPr name="TextBox 17" id="17"/>
          <p:cNvSpPr txBox="true"/>
          <p:nvPr/>
        </p:nvSpPr>
        <p:spPr>
          <a:xfrm rot="0">
            <a:off x="2662229" y="7459643"/>
            <a:ext cx="2721390" cy="361950"/>
          </a:xfrm>
          <a:prstGeom prst="rect">
            <a:avLst/>
          </a:prstGeom>
        </p:spPr>
        <p:txBody>
          <a:bodyPr anchor="t" rtlCol="false" tIns="0" lIns="0" bIns="0" rIns="0">
            <a:spAutoFit/>
          </a:bodyPr>
          <a:lstStyle/>
          <a:p>
            <a:pPr algn="ctr">
              <a:lnSpc>
                <a:spcPts val="2879"/>
              </a:lnSpc>
              <a:spcBef>
                <a:spcPct val="0"/>
              </a:spcBef>
            </a:pPr>
            <a:r>
              <a:rPr lang="en-US" sz="2400">
                <a:solidFill>
                  <a:srgbClr val="4F2F1E"/>
                </a:solidFill>
                <a:latin typeface="HK Grotesk"/>
                <a:ea typeface="HK Grotesk"/>
                <a:cs typeface="HK Grotesk"/>
                <a:sym typeface="HK Grotesk"/>
              </a:rPr>
              <a:t>Iker Justo Vergara</a:t>
            </a:r>
          </a:p>
        </p:txBody>
      </p:sp>
      <p:sp>
        <p:nvSpPr>
          <p:cNvPr name="TextBox 18" id="18"/>
          <p:cNvSpPr txBox="true"/>
          <p:nvPr/>
        </p:nvSpPr>
        <p:spPr>
          <a:xfrm rot="0">
            <a:off x="6257707" y="6446566"/>
            <a:ext cx="1428270" cy="361950"/>
          </a:xfrm>
          <a:prstGeom prst="rect">
            <a:avLst/>
          </a:prstGeom>
        </p:spPr>
        <p:txBody>
          <a:bodyPr anchor="t" rtlCol="false" tIns="0" lIns="0" bIns="0" rIns="0">
            <a:spAutoFit/>
          </a:bodyPr>
          <a:lstStyle/>
          <a:p>
            <a:pPr algn="ctr">
              <a:lnSpc>
                <a:spcPts val="2879"/>
              </a:lnSpc>
              <a:spcBef>
                <a:spcPct val="0"/>
              </a:spcBef>
            </a:pPr>
            <a:r>
              <a:rPr lang="en-US" sz="2400">
                <a:solidFill>
                  <a:srgbClr val="4F2F1E"/>
                </a:solidFill>
                <a:latin typeface="HK Grotesk"/>
                <a:ea typeface="HK Grotesk"/>
                <a:cs typeface="HK Grotesk"/>
                <a:sym typeface="HK Grotesk"/>
              </a:rPr>
              <a:t>Ivan Peña</a:t>
            </a:r>
          </a:p>
        </p:txBody>
      </p:sp>
      <p:sp>
        <p:nvSpPr>
          <p:cNvPr name="TextBox 19" id="19"/>
          <p:cNvSpPr txBox="true"/>
          <p:nvPr/>
        </p:nvSpPr>
        <p:spPr>
          <a:xfrm rot="0">
            <a:off x="5778238" y="7459643"/>
            <a:ext cx="1968679" cy="361950"/>
          </a:xfrm>
          <a:prstGeom prst="rect">
            <a:avLst/>
          </a:prstGeom>
        </p:spPr>
        <p:txBody>
          <a:bodyPr anchor="t" rtlCol="false" tIns="0" lIns="0" bIns="0" rIns="0">
            <a:spAutoFit/>
          </a:bodyPr>
          <a:lstStyle/>
          <a:p>
            <a:pPr algn="ctr">
              <a:lnSpc>
                <a:spcPts val="2879"/>
              </a:lnSpc>
              <a:spcBef>
                <a:spcPct val="0"/>
              </a:spcBef>
            </a:pPr>
            <a:r>
              <a:rPr lang="en-US" sz="2400">
                <a:solidFill>
                  <a:srgbClr val="4F2F1E"/>
                </a:solidFill>
                <a:latin typeface="HK Grotesk"/>
                <a:ea typeface="HK Grotesk"/>
                <a:cs typeface="HK Grotesk"/>
                <a:sym typeface="HK Grotesk"/>
              </a:rPr>
              <a:t>Matías Molina</a:t>
            </a:r>
          </a:p>
        </p:txBody>
      </p:sp>
      <p:sp>
        <p:nvSpPr>
          <p:cNvPr name="Freeform 20" id="20"/>
          <p:cNvSpPr/>
          <p:nvPr/>
        </p:nvSpPr>
        <p:spPr>
          <a:xfrm flipH="false" flipV="false" rot="0">
            <a:off x="6676043" y="5266415"/>
            <a:ext cx="629483" cy="828268"/>
          </a:xfrm>
          <a:custGeom>
            <a:avLst/>
            <a:gdLst/>
            <a:ahLst/>
            <a:cxnLst/>
            <a:rect r="r" b="b" t="t" l="l"/>
            <a:pathLst>
              <a:path h="828268" w="629483">
                <a:moveTo>
                  <a:pt x="0" y="0"/>
                </a:moveTo>
                <a:lnTo>
                  <a:pt x="629483" y="0"/>
                </a:lnTo>
                <a:lnTo>
                  <a:pt x="629483" y="828267"/>
                </a:lnTo>
                <a:lnTo>
                  <a:pt x="0" y="82826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822960" y="9628632"/>
            <a:ext cx="1988820" cy="329184"/>
            <a:chOff x="0" y="0"/>
            <a:chExt cx="2651760" cy="438912"/>
          </a:xfrm>
        </p:grpSpPr>
        <p:sp>
          <p:nvSpPr>
            <p:cNvPr name="Freeform 22" id="22"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13"/>
              <a:stretch>
                <a:fillRect l="-11" t="0" r="-11"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2210701" y="-151174"/>
            <a:ext cx="12382500" cy="2584266"/>
            <a:chOff x="0" y="0"/>
            <a:chExt cx="18315142" cy="3822427"/>
          </a:xfrm>
        </p:grpSpPr>
        <p:sp>
          <p:nvSpPr>
            <p:cNvPr name="Freeform 5" id="5"/>
            <p:cNvSpPr/>
            <p:nvPr/>
          </p:nvSpPr>
          <p:spPr>
            <a:xfrm flipH="false" flipV="false" rot="0">
              <a:off x="0" y="0"/>
              <a:ext cx="18315143" cy="3822427"/>
            </a:xfrm>
            <a:custGeom>
              <a:avLst/>
              <a:gdLst/>
              <a:ahLst/>
              <a:cxnLst/>
              <a:rect r="r" b="b" t="t" l="l"/>
              <a:pathLst>
                <a:path h="3822427" w="18315143">
                  <a:moveTo>
                    <a:pt x="0" y="0"/>
                  </a:moveTo>
                  <a:lnTo>
                    <a:pt x="18315143" y="0"/>
                  </a:lnTo>
                  <a:lnTo>
                    <a:pt x="18315143" y="3822427"/>
                  </a:lnTo>
                  <a:lnTo>
                    <a:pt x="0" y="3822427"/>
                  </a:lnTo>
                  <a:close/>
                </a:path>
              </a:pathLst>
            </a:custGeom>
            <a:blipFill>
              <a:blip r:embed="rId4">
                <a:alphaModFix amt="0"/>
              </a:blip>
              <a:stretch>
                <a:fillRect l="0" t="-39470" r="32100" b="12685"/>
              </a:stretch>
            </a:blipFill>
          </p:spPr>
        </p:sp>
        <p:sp>
          <p:nvSpPr>
            <p:cNvPr name="TextBox 6" id="6"/>
            <p:cNvSpPr txBox="true"/>
            <p:nvPr/>
          </p:nvSpPr>
          <p:spPr>
            <a:xfrm>
              <a:off x="0" y="0"/>
              <a:ext cx="18315142" cy="3822427"/>
            </a:xfrm>
            <a:prstGeom prst="rect">
              <a:avLst/>
            </a:prstGeom>
          </p:spPr>
          <p:txBody>
            <a:bodyPr anchor="ctr" rtlCol="false" tIns="0" lIns="0" bIns="0" rIns="0"/>
            <a:lstStyle/>
            <a:p>
              <a:pPr algn="ctr">
                <a:lnSpc>
                  <a:spcPts val="6480"/>
                </a:lnSpc>
              </a:pPr>
              <a:r>
                <a:rPr lang="en-US" sz="5400" b="true">
                  <a:solidFill>
                    <a:srgbClr val="4F2F1E"/>
                  </a:solidFill>
                  <a:latin typeface="HK Grotesk Bold"/>
                  <a:ea typeface="HK Grotesk Bold"/>
                  <a:cs typeface="HK Grotesk Bold"/>
                  <a:sym typeface="HK Grotesk Bold"/>
                </a:rPr>
                <a:t>Contexto del proyecto</a:t>
              </a:r>
            </a:p>
          </p:txBody>
        </p:sp>
      </p:grpSp>
      <p:sp>
        <p:nvSpPr>
          <p:cNvPr name="Freeform 7" id="7"/>
          <p:cNvSpPr/>
          <p:nvPr/>
        </p:nvSpPr>
        <p:spPr>
          <a:xfrm flipH="false" flipV="false" rot="0">
            <a:off x="1047750" y="381000"/>
            <a:ext cx="1524000" cy="1348726"/>
          </a:xfrm>
          <a:custGeom>
            <a:avLst/>
            <a:gdLst/>
            <a:ahLst/>
            <a:cxnLst/>
            <a:rect r="r" b="b" t="t" l="l"/>
            <a:pathLst>
              <a:path h="1348726" w="1524000">
                <a:moveTo>
                  <a:pt x="0" y="0"/>
                </a:moveTo>
                <a:lnTo>
                  <a:pt x="1524000" y="0"/>
                </a:lnTo>
                <a:lnTo>
                  <a:pt x="1524000" y="1348726"/>
                </a:lnTo>
                <a:lnTo>
                  <a:pt x="0" y="1348726"/>
                </a:lnTo>
                <a:lnTo>
                  <a:pt x="0" y="0"/>
                </a:lnTo>
                <a:close/>
              </a:path>
            </a:pathLst>
          </a:custGeom>
          <a:blipFill>
            <a:blip r:embed="rId5">
              <a:extLst>
                <a:ext uri="{96DAC541-7B7A-43D3-8B79-37D633B846F1}">
                  <asvg:svgBlip xmlns:asvg="http://schemas.microsoft.com/office/drawing/2016/SVG/main" r:embed="rId6"/>
                </a:ext>
              </a:extLst>
            </a:blip>
            <a:stretch>
              <a:fillRect l="0" t="0" r="0" b="-1"/>
            </a:stretch>
          </a:blipFill>
        </p:spPr>
      </p:sp>
      <p:sp>
        <p:nvSpPr>
          <p:cNvPr name="Freeform 8" id="8"/>
          <p:cNvSpPr/>
          <p:nvPr/>
        </p:nvSpPr>
        <p:spPr>
          <a:xfrm flipH="false" flipV="false" rot="0">
            <a:off x="15906750" y="381000"/>
            <a:ext cx="1428750" cy="1519918"/>
          </a:xfrm>
          <a:custGeom>
            <a:avLst/>
            <a:gdLst/>
            <a:ahLst/>
            <a:cxnLst/>
            <a:rect r="r" b="b" t="t" l="l"/>
            <a:pathLst>
              <a:path h="1519918" w="1428750">
                <a:moveTo>
                  <a:pt x="0" y="0"/>
                </a:moveTo>
                <a:lnTo>
                  <a:pt x="1428750" y="0"/>
                </a:lnTo>
                <a:lnTo>
                  <a:pt x="1428750" y="1519918"/>
                </a:lnTo>
                <a:lnTo>
                  <a:pt x="0" y="1519918"/>
                </a:lnTo>
                <a:lnTo>
                  <a:pt x="0" y="0"/>
                </a:lnTo>
                <a:close/>
              </a:path>
            </a:pathLst>
          </a:custGeom>
          <a:blipFill>
            <a:blip r:embed="rId7">
              <a:extLst>
                <a:ext uri="{96DAC541-7B7A-43D3-8B79-37D633B846F1}">
                  <asvg:svgBlip xmlns:asvg="http://schemas.microsoft.com/office/drawing/2016/SVG/main" r:embed="rId8"/>
                </a:ext>
              </a:extLst>
            </a:blip>
            <a:stretch>
              <a:fillRect l="0" t="0" r="0" b="-2"/>
            </a:stretch>
          </a:blipFill>
        </p:spPr>
      </p:sp>
      <p:grpSp>
        <p:nvGrpSpPr>
          <p:cNvPr name="Group 9" id="9"/>
          <p:cNvGrpSpPr/>
          <p:nvPr/>
        </p:nvGrpSpPr>
        <p:grpSpPr>
          <a:xfrm rot="0">
            <a:off x="1047750" y="2190750"/>
            <a:ext cx="5048250" cy="4191000"/>
            <a:chOff x="0" y="0"/>
            <a:chExt cx="6731000" cy="5588000"/>
          </a:xfrm>
        </p:grpSpPr>
        <p:sp>
          <p:nvSpPr>
            <p:cNvPr name="Freeform 10" id="10"/>
            <p:cNvSpPr/>
            <p:nvPr/>
          </p:nvSpPr>
          <p:spPr>
            <a:xfrm flipH="false" flipV="false" rot="0">
              <a:off x="0" y="0"/>
              <a:ext cx="6731000" cy="5588000"/>
            </a:xfrm>
            <a:custGeom>
              <a:avLst/>
              <a:gdLst/>
              <a:ahLst/>
              <a:cxnLst/>
              <a:rect r="r" b="b" t="t" l="l"/>
              <a:pathLst>
                <a:path h="5588000" w="6731000">
                  <a:moveTo>
                    <a:pt x="0" y="199571"/>
                  </a:moveTo>
                  <a:cubicBezTo>
                    <a:pt x="0" y="89807"/>
                    <a:pt x="114300" y="0"/>
                    <a:pt x="254000" y="0"/>
                  </a:cubicBezTo>
                  <a:lnTo>
                    <a:pt x="6477000" y="0"/>
                  </a:lnTo>
                  <a:cubicBezTo>
                    <a:pt x="6616700" y="0"/>
                    <a:pt x="6731000" y="89807"/>
                    <a:pt x="6731000" y="199571"/>
                  </a:cubicBezTo>
                  <a:lnTo>
                    <a:pt x="6731000" y="5388428"/>
                  </a:lnTo>
                  <a:cubicBezTo>
                    <a:pt x="6731000" y="5498193"/>
                    <a:pt x="6616700" y="5588000"/>
                    <a:pt x="6477000" y="5588000"/>
                  </a:cubicBezTo>
                  <a:lnTo>
                    <a:pt x="254000" y="5588000"/>
                  </a:lnTo>
                  <a:cubicBezTo>
                    <a:pt x="114300" y="5588000"/>
                    <a:pt x="0" y="5498193"/>
                    <a:pt x="0" y="5388428"/>
                  </a:cubicBezTo>
                  <a:close/>
                </a:path>
              </a:pathLst>
            </a:custGeom>
            <a:solidFill>
              <a:srgbClr val="FFFCE9"/>
            </a:solidFill>
            <a:ln w="38100" cap="sq">
              <a:solidFill>
                <a:srgbClr val="4F2F1E"/>
              </a:solidFill>
              <a:prstDash val="solid"/>
              <a:miter/>
            </a:ln>
          </p:spPr>
        </p:sp>
        <p:sp>
          <p:nvSpPr>
            <p:cNvPr name="TextBox 11" id="11"/>
            <p:cNvSpPr txBox="true"/>
            <p:nvPr/>
          </p:nvSpPr>
          <p:spPr>
            <a:xfrm>
              <a:off x="0" y="-38100"/>
              <a:ext cx="6731000" cy="56261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6619875" y="2190750"/>
            <a:ext cx="5048250" cy="4191000"/>
            <a:chOff x="0" y="0"/>
            <a:chExt cx="6731000" cy="5588000"/>
          </a:xfrm>
        </p:grpSpPr>
        <p:sp>
          <p:nvSpPr>
            <p:cNvPr name="Freeform 13" id="13"/>
            <p:cNvSpPr/>
            <p:nvPr/>
          </p:nvSpPr>
          <p:spPr>
            <a:xfrm flipH="false" flipV="false" rot="0">
              <a:off x="0" y="0"/>
              <a:ext cx="6731000" cy="5588000"/>
            </a:xfrm>
            <a:custGeom>
              <a:avLst/>
              <a:gdLst/>
              <a:ahLst/>
              <a:cxnLst/>
              <a:rect r="r" b="b" t="t" l="l"/>
              <a:pathLst>
                <a:path h="5588000" w="6731000">
                  <a:moveTo>
                    <a:pt x="0" y="199571"/>
                  </a:moveTo>
                  <a:cubicBezTo>
                    <a:pt x="0" y="89807"/>
                    <a:pt x="114300" y="0"/>
                    <a:pt x="254000" y="0"/>
                  </a:cubicBezTo>
                  <a:lnTo>
                    <a:pt x="6477000" y="0"/>
                  </a:lnTo>
                  <a:cubicBezTo>
                    <a:pt x="6616700" y="0"/>
                    <a:pt x="6731000" y="89807"/>
                    <a:pt x="6731000" y="199571"/>
                  </a:cubicBezTo>
                  <a:lnTo>
                    <a:pt x="6731000" y="5388428"/>
                  </a:lnTo>
                  <a:cubicBezTo>
                    <a:pt x="6731000" y="5498193"/>
                    <a:pt x="6616700" y="5588000"/>
                    <a:pt x="6477000" y="5588000"/>
                  </a:cubicBezTo>
                  <a:lnTo>
                    <a:pt x="254000" y="5588000"/>
                  </a:lnTo>
                  <a:cubicBezTo>
                    <a:pt x="114300" y="5588000"/>
                    <a:pt x="0" y="5498193"/>
                    <a:pt x="0" y="5388428"/>
                  </a:cubicBezTo>
                  <a:close/>
                </a:path>
              </a:pathLst>
            </a:custGeom>
            <a:solidFill>
              <a:srgbClr val="FFFCE9"/>
            </a:solidFill>
            <a:ln w="38100" cap="sq">
              <a:solidFill>
                <a:srgbClr val="4F2F1E"/>
              </a:solidFill>
              <a:prstDash val="solid"/>
              <a:miter/>
            </a:ln>
          </p:spPr>
        </p:sp>
        <p:sp>
          <p:nvSpPr>
            <p:cNvPr name="TextBox 14" id="14"/>
            <p:cNvSpPr txBox="true"/>
            <p:nvPr/>
          </p:nvSpPr>
          <p:spPr>
            <a:xfrm>
              <a:off x="0" y="-38100"/>
              <a:ext cx="6731000" cy="5626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12192000" y="2190750"/>
            <a:ext cx="5048250" cy="4191000"/>
            <a:chOff x="0" y="0"/>
            <a:chExt cx="6731000" cy="5588000"/>
          </a:xfrm>
        </p:grpSpPr>
        <p:sp>
          <p:nvSpPr>
            <p:cNvPr name="Freeform 16" id="16"/>
            <p:cNvSpPr/>
            <p:nvPr/>
          </p:nvSpPr>
          <p:spPr>
            <a:xfrm flipH="false" flipV="false" rot="0">
              <a:off x="0" y="0"/>
              <a:ext cx="6731000" cy="5588000"/>
            </a:xfrm>
            <a:custGeom>
              <a:avLst/>
              <a:gdLst/>
              <a:ahLst/>
              <a:cxnLst/>
              <a:rect r="r" b="b" t="t" l="l"/>
              <a:pathLst>
                <a:path h="5588000" w="6731000">
                  <a:moveTo>
                    <a:pt x="0" y="199571"/>
                  </a:moveTo>
                  <a:cubicBezTo>
                    <a:pt x="0" y="89807"/>
                    <a:pt x="114300" y="0"/>
                    <a:pt x="254000" y="0"/>
                  </a:cubicBezTo>
                  <a:lnTo>
                    <a:pt x="6477000" y="0"/>
                  </a:lnTo>
                  <a:cubicBezTo>
                    <a:pt x="6616700" y="0"/>
                    <a:pt x="6731000" y="89807"/>
                    <a:pt x="6731000" y="199571"/>
                  </a:cubicBezTo>
                  <a:lnTo>
                    <a:pt x="6731000" y="5388428"/>
                  </a:lnTo>
                  <a:cubicBezTo>
                    <a:pt x="6731000" y="5498193"/>
                    <a:pt x="6616700" y="5588000"/>
                    <a:pt x="6477000" y="5588000"/>
                  </a:cubicBezTo>
                  <a:lnTo>
                    <a:pt x="254000" y="5588000"/>
                  </a:lnTo>
                  <a:cubicBezTo>
                    <a:pt x="114300" y="5588000"/>
                    <a:pt x="0" y="5498193"/>
                    <a:pt x="0" y="5388428"/>
                  </a:cubicBezTo>
                  <a:close/>
                </a:path>
              </a:pathLst>
            </a:custGeom>
            <a:solidFill>
              <a:srgbClr val="FFFCE9"/>
            </a:solidFill>
            <a:ln w="38100" cap="sq">
              <a:solidFill>
                <a:srgbClr val="4F2F1E"/>
              </a:solidFill>
              <a:prstDash val="solid"/>
              <a:miter/>
            </a:ln>
          </p:spPr>
        </p:sp>
        <p:sp>
          <p:nvSpPr>
            <p:cNvPr name="TextBox 17" id="17"/>
            <p:cNvSpPr txBox="true"/>
            <p:nvPr/>
          </p:nvSpPr>
          <p:spPr>
            <a:xfrm>
              <a:off x="0" y="-38100"/>
              <a:ext cx="6731000" cy="5626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1333500" y="2381250"/>
            <a:ext cx="4476750" cy="641985"/>
          </a:xfrm>
          <a:prstGeom prst="rect">
            <a:avLst/>
          </a:prstGeom>
        </p:spPr>
        <p:txBody>
          <a:bodyPr anchor="t" rtlCol="false" tIns="0" lIns="0" bIns="0" rIns="0">
            <a:spAutoFit/>
          </a:bodyPr>
          <a:lstStyle/>
          <a:p>
            <a:pPr algn="ctr">
              <a:lnSpc>
                <a:spcPts val="5040"/>
              </a:lnSpc>
            </a:pPr>
            <a:r>
              <a:rPr lang="en-US" sz="3600" b="true">
                <a:solidFill>
                  <a:srgbClr val="4F2F1E"/>
                </a:solidFill>
                <a:latin typeface="Arimo Bold"/>
                <a:ea typeface="Arimo Bold"/>
                <a:cs typeface="Arimo Bold"/>
                <a:sym typeface="Arimo Bold"/>
              </a:rPr>
              <a:t>El lugar</a:t>
            </a:r>
          </a:p>
        </p:txBody>
      </p:sp>
      <p:sp>
        <p:nvSpPr>
          <p:cNvPr name="TextBox 19" id="19"/>
          <p:cNvSpPr txBox="true"/>
          <p:nvPr/>
        </p:nvSpPr>
        <p:spPr>
          <a:xfrm rot="0">
            <a:off x="1333500" y="3286125"/>
            <a:ext cx="4476750" cy="2204085"/>
          </a:xfrm>
          <a:prstGeom prst="rect">
            <a:avLst/>
          </a:prstGeom>
        </p:spPr>
        <p:txBody>
          <a:bodyPr anchor="t" rtlCol="false" tIns="0" lIns="0" bIns="0" rIns="0">
            <a:spAutoFit/>
          </a:bodyPr>
          <a:lstStyle/>
          <a:p>
            <a:pPr algn="ctr">
              <a:lnSpc>
                <a:spcPts val="3510"/>
              </a:lnSpc>
            </a:pPr>
            <a:r>
              <a:rPr lang="en-US" sz="2700">
                <a:solidFill>
                  <a:srgbClr val="4F2F1E"/>
                </a:solidFill>
                <a:latin typeface="Arimo"/>
                <a:ea typeface="Arimo"/>
                <a:cs typeface="Arimo"/>
                <a:sym typeface="Arimo"/>
              </a:rPr>
              <a:t>Pañol y bodegas de la sede San Bernardo de Duoc UC, con turno diurno y vespertino y encargados que coordinaban por WhatsApp.</a:t>
            </a:r>
          </a:p>
        </p:txBody>
      </p:sp>
      <p:sp>
        <p:nvSpPr>
          <p:cNvPr name="TextBox 20" id="20"/>
          <p:cNvSpPr txBox="true"/>
          <p:nvPr/>
        </p:nvSpPr>
        <p:spPr>
          <a:xfrm rot="0">
            <a:off x="6905625" y="2381250"/>
            <a:ext cx="4476750" cy="641985"/>
          </a:xfrm>
          <a:prstGeom prst="rect">
            <a:avLst/>
          </a:prstGeom>
        </p:spPr>
        <p:txBody>
          <a:bodyPr anchor="t" rtlCol="false" tIns="0" lIns="0" bIns="0" rIns="0">
            <a:spAutoFit/>
          </a:bodyPr>
          <a:lstStyle/>
          <a:p>
            <a:pPr algn="ctr">
              <a:lnSpc>
                <a:spcPts val="5040"/>
              </a:lnSpc>
            </a:pPr>
            <a:r>
              <a:rPr lang="en-US" sz="3600" b="true">
                <a:solidFill>
                  <a:srgbClr val="4F2F1E"/>
                </a:solidFill>
                <a:latin typeface="Arimo Bold"/>
                <a:ea typeface="Arimo Bold"/>
                <a:cs typeface="Arimo Bold"/>
                <a:sym typeface="Arimo Bold"/>
              </a:rPr>
              <a:t>El origen</a:t>
            </a:r>
          </a:p>
        </p:txBody>
      </p:sp>
      <p:sp>
        <p:nvSpPr>
          <p:cNvPr name="TextBox 21" id="21"/>
          <p:cNvSpPr txBox="true"/>
          <p:nvPr/>
        </p:nvSpPr>
        <p:spPr>
          <a:xfrm rot="0">
            <a:off x="6905625" y="3286125"/>
            <a:ext cx="4476750" cy="1765935"/>
          </a:xfrm>
          <a:prstGeom prst="rect">
            <a:avLst/>
          </a:prstGeom>
        </p:spPr>
        <p:txBody>
          <a:bodyPr anchor="t" rtlCol="false" tIns="0" lIns="0" bIns="0" rIns="0">
            <a:spAutoFit/>
          </a:bodyPr>
          <a:lstStyle/>
          <a:p>
            <a:pPr algn="ctr">
              <a:lnSpc>
                <a:spcPts val="3510"/>
              </a:lnSpc>
            </a:pPr>
            <a:r>
              <a:rPr lang="en-US" sz="2700">
                <a:solidFill>
                  <a:srgbClr val="4F2F1E"/>
                </a:solidFill>
                <a:latin typeface="Arimo"/>
                <a:ea typeface="Arimo"/>
                <a:cs typeface="Arimo"/>
                <a:sym typeface="Arimo"/>
              </a:rPr>
              <a:t> Antes existió una herramienta en Python, pero quedó en un solo equipo y hoy no se usa.</a:t>
            </a:r>
          </a:p>
        </p:txBody>
      </p:sp>
      <p:sp>
        <p:nvSpPr>
          <p:cNvPr name="TextBox 22" id="22"/>
          <p:cNvSpPr txBox="true"/>
          <p:nvPr/>
        </p:nvSpPr>
        <p:spPr>
          <a:xfrm rot="0">
            <a:off x="12477750" y="2381250"/>
            <a:ext cx="4476750" cy="641985"/>
          </a:xfrm>
          <a:prstGeom prst="rect">
            <a:avLst/>
          </a:prstGeom>
        </p:spPr>
        <p:txBody>
          <a:bodyPr anchor="t" rtlCol="false" tIns="0" lIns="0" bIns="0" rIns="0">
            <a:spAutoFit/>
          </a:bodyPr>
          <a:lstStyle/>
          <a:p>
            <a:pPr algn="ctr">
              <a:lnSpc>
                <a:spcPts val="5040"/>
              </a:lnSpc>
            </a:pPr>
            <a:r>
              <a:rPr lang="en-US" sz="3600" b="true">
                <a:solidFill>
                  <a:srgbClr val="4F2F1E"/>
                </a:solidFill>
                <a:latin typeface="Arimo Bold"/>
                <a:ea typeface="Arimo Bold"/>
                <a:cs typeface="Arimo Bold"/>
                <a:sym typeface="Arimo Bold"/>
              </a:rPr>
              <a:t>La necesidad</a:t>
            </a:r>
          </a:p>
        </p:txBody>
      </p:sp>
      <p:sp>
        <p:nvSpPr>
          <p:cNvPr name="TextBox 23" id="23"/>
          <p:cNvSpPr txBox="true"/>
          <p:nvPr/>
        </p:nvSpPr>
        <p:spPr>
          <a:xfrm rot="0">
            <a:off x="12477750" y="3286125"/>
            <a:ext cx="4476750" cy="2642235"/>
          </a:xfrm>
          <a:prstGeom prst="rect">
            <a:avLst/>
          </a:prstGeom>
        </p:spPr>
        <p:txBody>
          <a:bodyPr anchor="t" rtlCol="false" tIns="0" lIns="0" bIns="0" rIns="0">
            <a:spAutoFit/>
          </a:bodyPr>
          <a:lstStyle/>
          <a:p>
            <a:pPr algn="ctr">
              <a:lnSpc>
                <a:spcPts val="3510"/>
              </a:lnSpc>
            </a:pPr>
            <a:r>
              <a:rPr lang="en-US" sz="2700">
                <a:solidFill>
                  <a:srgbClr val="4F2F1E"/>
                </a:solidFill>
                <a:latin typeface="Arimo"/>
                <a:ea typeface="Arimo"/>
                <a:cs typeface="Arimo"/>
                <a:sym typeface="Arimo"/>
              </a:rPr>
              <a:t>Reemplazar el registro manual por un sistema web con trazabilidad por elemento: saber qué se presta, a quién y en qué estado vuelve.</a:t>
            </a:r>
          </a:p>
        </p:txBody>
      </p:sp>
      <p:sp>
        <p:nvSpPr>
          <p:cNvPr name="TextBox 24" id="24"/>
          <p:cNvSpPr txBox="true"/>
          <p:nvPr/>
        </p:nvSpPr>
        <p:spPr>
          <a:xfrm rot="0">
            <a:off x="1047750" y="6981825"/>
            <a:ext cx="16192500" cy="499110"/>
          </a:xfrm>
          <a:prstGeom prst="rect">
            <a:avLst/>
          </a:prstGeom>
        </p:spPr>
        <p:txBody>
          <a:bodyPr anchor="t" rtlCol="false" tIns="0" lIns="0" bIns="0" rIns="0">
            <a:spAutoFit/>
          </a:bodyPr>
          <a:lstStyle/>
          <a:p>
            <a:pPr algn="ctr">
              <a:lnSpc>
                <a:spcPts val="3990"/>
              </a:lnSpc>
            </a:pPr>
            <a:r>
              <a:rPr lang="en-US" sz="2850" b="true">
                <a:solidFill>
                  <a:srgbClr val="4F2F1E"/>
                </a:solidFill>
                <a:latin typeface="Arimo Bold"/>
                <a:ea typeface="Arimo Bold"/>
                <a:cs typeface="Arimo Bold"/>
                <a:sym typeface="Arimo Bold"/>
              </a:rPr>
              <a:t>Beneficiarios: encargados de bodega, docentes, estudiantes y personal institucional.</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2811780" y="411480"/>
            <a:ext cx="13315309" cy="1234440"/>
            <a:chOff x="0" y="0"/>
            <a:chExt cx="17753745" cy="1645920"/>
          </a:xfrm>
        </p:grpSpPr>
        <p:sp>
          <p:nvSpPr>
            <p:cNvPr name="Freeform 5" id="5"/>
            <p:cNvSpPr/>
            <p:nvPr/>
          </p:nvSpPr>
          <p:spPr>
            <a:xfrm flipH="false" flipV="false" rot="0">
              <a:off x="0" y="0"/>
              <a:ext cx="17753746" cy="1645920"/>
            </a:xfrm>
            <a:custGeom>
              <a:avLst/>
              <a:gdLst/>
              <a:ahLst/>
              <a:cxnLst/>
              <a:rect r="r" b="b" t="t" l="l"/>
              <a:pathLst>
                <a:path h="1645920" w="17753746">
                  <a:moveTo>
                    <a:pt x="0" y="0"/>
                  </a:moveTo>
                  <a:lnTo>
                    <a:pt x="17753746" y="0"/>
                  </a:lnTo>
                  <a:lnTo>
                    <a:pt x="17753746" y="1645920"/>
                  </a:lnTo>
                  <a:lnTo>
                    <a:pt x="0" y="1645920"/>
                  </a:lnTo>
                  <a:close/>
                </a:path>
              </a:pathLst>
            </a:custGeom>
            <a:blipFill>
              <a:blip r:embed="rId4">
                <a:alphaModFix amt="0"/>
              </a:blip>
              <a:stretch>
                <a:fillRect l="0" t="-211965" r="-24641" b="-211965"/>
              </a:stretch>
            </a:blipFill>
          </p:spPr>
        </p:sp>
        <p:sp>
          <p:nvSpPr>
            <p:cNvPr name="TextBox 6" id="6"/>
            <p:cNvSpPr txBox="true"/>
            <p:nvPr/>
          </p:nvSpPr>
          <p:spPr>
            <a:xfrm>
              <a:off x="0" y="0"/>
              <a:ext cx="17753745" cy="1645920"/>
            </a:xfrm>
            <a:prstGeom prst="rect">
              <a:avLst/>
            </a:prstGeom>
          </p:spPr>
          <p:txBody>
            <a:bodyPr anchor="ctr" rtlCol="false" tIns="0" lIns="0" bIns="0" rIns="0"/>
            <a:lstStyle/>
            <a:p>
              <a:pPr algn="l">
                <a:lnSpc>
                  <a:spcPts val="5759"/>
                </a:lnSpc>
              </a:pPr>
              <a:r>
                <a:rPr lang="en-US" b="true" sz="4800">
                  <a:solidFill>
                    <a:srgbClr val="4F2F1E"/>
                  </a:solidFill>
                  <a:latin typeface="HK Grotesk Bold"/>
                  <a:ea typeface="HK Grotesk Bold"/>
                  <a:cs typeface="HK Grotesk Bold"/>
                  <a:sym typeface="HK Grotesk Bold"/>
                </a:rPr>
                <a:t>El problema: control manual y sin trazabilidad</a:t>
              </a:r>
            </a:p>
          </p:txBody>
        </p:sp>
      </p:grpSp>
      <p:grpSp>
        <p:nvGrpSpPr>
          <p:cNvPr name="Group 7" id="7"/>
          <p:cNvGrpSpPr/>
          <p:nvPr/>
        </p:nvGrpSpPr>
        <p:grpSpPr>
          <a:xfrm rot="0">
            <a:off x="813435" y="2116455"/>
            <a:ext cx="10306050" cy="2076450"/>
            <a:chOff x="0" y="0"/>
            <a:chExt cx="13741400" cy="2768600"/>
          </a:xfrm>
        </p:grpSpPr>
        <p:sp>
          <p:nvSpPr>
            <p:cNvPr name="Freeform 8" id="8"/>
            <p:cNvSpPr/>
            <p:nvPr/>
          </p:nvSpPr>
          <p:spPr>
            <a:xfrm flipH="false" flipV="false" rot="0">
              <a:off x="0" y="0"/>
              <a:ext cx="13741400" cy="2768600"/>
            </a:xfrm>
            <a:custGeom>
              <a:avLst/>
              <a:gdLst/>
              <a:ahLst/>
              <a:cxnLst/>
              <a:rect r="r" b="b" t="t" l="l"/>
              <a:pathLst>
                <a:path h="2768600" w="13741400">
                  <a:moveTo>
                    <a:pt x="0" y="184531"/>
                  </a:moveTo>
                  <a:cubicBezTo>
                    <a:pt x="0" y="82677"/>
                    <a:pt x="82677" y="0"/>
                    <a:pt x="184531" y="0"/>
                  </a:cubicBezTo>
                  <a:lnTo>
                    <a:pt x="13556869" y="0"/>
                  </a:lnTo>
                  <a:cubicBezTo>
                    <a:pt x="13658850" y="0"/>
                    <a:pt x="13741400" y="82677"/>
                    <a:pt x="13741400" y="184531"/>
                  </a:cubicBezTo>
                  <a:lnTo>
                    <a:pt x="13741400" y="2584069"/>
                  </a:lnTo>
                  <a:cubicBezTo>
                    <a:pt x="13741400" y="2686050"/>
                    <a:pt x="13658723" y="2768600"/>
                    <a:pt x="13556869" y="2768600"/>
                  </a:cubicBezTo>
                  <a:lnTo>
                    <a:pt x="184531" y="2768600"/>
                  </a:lnTo>
                  <a:cubicBezTo>
                    <a:pt x="82677" y="2768600"/>
                    <a:pt x="0" y="2685923"/>
                    <a:pt x="0" y="2584069"/>
                  </a:cubicBezTo>
                  <a:close/>
                </a:path>
              </a:pathLst>
            </a:custGeom>
            <a:solidFill>
              <a:srgbClr val="FFFCE9"/>
            </a:solidFill>
            <a:ln w="47625" cap="sq">
              <a:solidFill>
                <a:srgbClr val="4F2F1E"/>
              </a:solidFill>
              <a:prstDash val="solid"/>
              <a:miter/>
            </a:ln>
          </p:spPr>
        </p:sp>
      </p:grpSp>
      <p:grpSp>
        <p:nvGrpSpPr>
          <p:cNvPr name="Group 9" id="9"/>
          <p:cNvGrpSpPr/>
          <p:nvPr/>
        </p:nvGrpSpPr>
        <p:grpSpPr>
          <a:xfrm rot="0">
            <a:off x="1224915" y="2527935"/>
            <a:ext cx="1253490" cy="1253490"/>
            <a:chOff x="0" y="0"/>
            <a:chExt cx="1671320" cy="1671320"/>
          </a:xfrm>
        </p:grpSpPr>
        <p:sp>
          <p:nvSpPr>
            <p:cNvPr name="Freeform 10" id="10"/>
            <p:cNvSpPr/>
            <p:nvPr/>
          </p:nvSpPr>
          <p:spPr>
            <a:xfrm flipH="false" flipV="false" rot="0">
              <a:off x="0" y="0"/>
              <a:ext cx="1671320" cy="1671320"/>
            </a:xfrm>
            <a:custGeom>
              <a:avLst/>
              <a:gdLst/>
              <a:ahLst/>
              <a:cxnLst/>
              <a:rect r="r" b="b" t="t" l="l"/>
              <a:pathLst>
                <a:path h="1671320" w="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4F2F1E"/>
            </a:solidFill>
            <a:ln w="19050" cap="sq">
              <a:solidFill>
                <a:srgbClr val="0B2545"/>
              </a:solidFill>
              <a:prstDash val="solid"/>
              <a:miter/>
            </a:ln>
          </p:spPr>
        </p:sp>
      </p:grpSp>
      <p:grpSp>
        <p:nvGrpSpPr>
          <p:cNvPr name="Group 11" id="11"/>
          <p:cNvGrpSpPr/>
          <p:nvPr/>
        </p:nvGrpSpPr>
        <p:grpSpPr>
          <a:xfrm rot="0">
            <a:off x="1555394" y="2858414"/>
            <a:ext cx="592531" cy="592531"/>
            <a:chOff x="0" y="0"/>
            <a:chExt cx="790042" cy="790042"/>
          </a:xfrm>
        </p:grpSpPr>
        <p:sp>
          <p:nvSpPr>
            <p:cNvPr name="Freeform 12" id="12" descr="Icono problema 1"/>
            <p:cNvSpPr/>
            <p:nvPr/>
          </p:nvSpPr>
          <p:spPr>
            <a:xfrm flipH="false" flipV="false" rot="0">
              <a:off x="0" y="0"/>
              <a:ext cx="790067" cy="790067"/>
            </a:xfrm>
            <a:custGeom>
              <a:avLst/>
              <a:gdLst/>
              <a:ahLst/>
              <a:cxnLst/>
              <a:rect r="r" b="b" t="t" l="l"/>
              <a:pathLst>
                <a:path h="790067" w="790067">
                  <a:moveTo>
                    <a:pt x="0" y="0"/>
                  </a:moveTo>
                  <a:lnTo>
                    <a:pt x="790067" y="0"/>
                  </a:lnTo>
                  <a:lnTo>
                    <a:pt x="790067" y="790067"/>
                  </a:lnTo>
                  <a:lnTo>
                    <a:pt x="0" y="790067"/>
                  </a:lnTo>
                  <a:lnTo>
                    <a:pt x="0" y="0"/>
                  </a:lnTo>
                  <a:close/>
                </a:path>
              </a:pathLst>
            </a:custGeom>
            <a:blipFill>
              <a:blip r:embed="rId5"/>
              <a:stretch>
                <a:fillRect l="0" t="0" r="3" b="3"/>
              </a:stretch>
            </a:blipFill>
          </p:spPr>
        </p:sp>
      </p:grpSp>
      <p:grpSp>
        <p:nvGrpSpPr>
          <p:cNvPr name="Group 13" id="13"/>
          <p:cNvGrpSpPr/>
          <p:nvPr/>
        </p:nvGrpSpPr>
        <p:grpSpPr>
          <a:xfrm rot="0">
            <a:off x="813435" y="4448175"/>
            <a:ext cx="10306050" cy="2076450"/>
            <a:chOff x="0" y="0"/>
            <a:chExt cx="13741400" cy="2768600"/>
          </a:xfrm>
        </p:grpSpPr>
        <p:sp>
          <p:nvSpPr>
            <p:cNvPr name="Freeform 14" id="14"/>
            <p:cNvSpPr/>
            <p:nvPr/>
          </p:nvSpPr>
          <p:spPr>
            <a:xfrm flipH="false" flipV="false" rot="0">
              <a:off x="0" y="0"/>
              <a:ext cx="13741400" cy="2768600"/>
            </a:xfrm>
            <a:custGeom>
              <a:avLst/>
              <a:gdLst/>
              <a:ahLst/>
              <a:cxnLst/>
              <a:rect r="r" b="b" t="t" l="l"/>
              <a:pathLst>
                <a:path h="2768600" w="13741400">
                  <a:moveTo>
                    <a:pt x="0" y="184531"/>
                  </a:moveTo>
                  <a:cubicBezTo>
                    <a:pt x="0" y="82677"/>
                    <a:pt x="82677" y="0"/>
                    <a:pt x="184531" y="0"/>
                  </a:cubicBezTo>
                  <a:lnTo>
                    <a:pt x="13556869" y="0"/>
                  </a:lnTo>
                  <a:cubicBezTo>
                    <a:pt x="13658850" y="0"/>
                    <a:pt x="13741400" y="82677"/>
                    <a:pt x="13741400" y="184531"/>
                  </a:cubicBezTo>
                  <a:lnTo>
                    <a:pt x="13741400" y="2584069"/>
                  </a:lnTo>
                  <a:cubicBezTo>
                    <a:pt x="13741400" y="2686050"/>
                    <a:pt x="13658723" y="2768600"/>
                    <a:pt x="13556869" y="2768600"/>
                  </a:cubicBezTo>
                  <a:lnTo>
                    <a:pt x="184531" y="2768600"/>
                  </a:lnTo>
                  <a:cubicBezTo>
                    <a:pt x="82677" y="2768600"/>
                    <a:pt x="0" y="2685923"/>
                    <a:pt x="0" y="2584069"/>
                  </a:cubicBezTo>
                  <a:close/>
                </a:path>
              </a:pathLst>
            </a:custGeom>
            <a:solidFill>
              <a:srgbClr val="FFFCE9"/>
            </a:solidFill>
            <a:ln w="47625" cap="sq">
              <a:solidFill>
                <a:srgbClr val="4F2F1E"/>
              </a:solidFill>
              <a:prstDash val="solid"/>
              <a:miter/>
            </a:ln>
          </p:spPr>
        </p:sp>
      </p:grpSp>
      <p:grpSp>
        <p:nvGrpSpPr>
          <p:cNvPr name="Group 15" id="15"/>
          <p:cNvGrpSpPr/>
          <p:nvPr/>
        </p:nvGrpSpPr>
        <p:grpSpPr>
          <a:xfrm rot="0">
            <a:off x="1224915" y="4859655"/>
            <a:ext cx="1253490" cy="1253490"/>
            <a:chOff x="0" y="0"/>
            <a:chExt cx="1671320" cy="1671320"/>
          </a:xfrm>
        </p:grpSpPr>
        <p:sp>
          <p:nvSpPr>
            <p:cNvPr name="Freeform 16" id="16"/>
            <p:cNvSpPr/>
            <p:nvPr/>
          </p:nvSpPr>
          <p:spPr>
            <a:xfrm flipH="false" flipV="false" rot="0">
              <a:off x="0" y="0"/>
              <a:ext cx="1671320" cy="1671320"/>
            </a:xfrm>
            <a:custGeom>
              <a:avLst/>
              <a:gdLst/>
              <a:ahLst/>
              <a:cxnLst/>
              <a:rect r="r" b="b" t="t" l="l"/>
              <a:pathLst>
                <a:path h="1671320" w="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4F2F1E"/>
            </a:solidFill>
            <a:ln w="19050" cap="sq">
              <a:solidFill>
                <a:srgbClr val="0B2545"/>
              </a:solidFill>
              <a:prstDash val="solid"/>
              <a:miter/>
            </a:ln>
          </p:spPr>
        </p:sp>
      </p:grpSp>
      <p:grpSp>
        <p:nvGrpSpPr>
          <p:cNvPr name="Group 17" id="17"/>
          <p:cNvGrpSpPr/>
          <p:nvPr/>
        </p:nvGrpSpPr>
        <p:grpSpPr>
          <a:xfrm rot="0">
            <a:off x="1555394" y="5190134"/>
            <a:ext cx="592531" cy="592531"/>
            <a:chOff x="0" y="0"/>
            <a:chExt cx="790042" cy="790042"/>
          </a:xfrm>
        </p:grpSpPr>
        <p:sp>
          <p:nvSpPr>
            <p:cNvPr name="Freeform 18" id="18" descr="Icono problema 2"/>
            <p:cNvSpPr/>
            <p:nvPr/>
          </p:nvSpPr>
          <p:spPr>
            <a:xfrm flipH="false" flipV="false" rot="0">
              <a:off x="0" y="0"/>
              <a:ext cx="790067" cy="790067"/>
            </a:xfrm>
            <a:custGeom>
              <a:avLst/>
              <a:gdLst/>
              <a:ahLst/>
              <a:cxnLst/>
              <a:rect r="r" b="b" t="t" l="l"/>
              <a:pathLst>
                <a:path h="790067" w="790067">
                  <a:moveTo>
                    <a:pt x="0" y="0"/>
                  </a:moveTo>
                  <a:lnTo>
                    <a:pt x="790067" y="0"/>
                  </a:lnTo>
                  <a:lnTo>
                    <a:pt x="790067" y="790067"/>
                  </a:lnTo>
                  <a:lnTo>
                    <a:pt x="0" y="790067"/>
                  </a:lnTo>
                  <a:lnTo>
                    <a:pt x="0" y="0"/>
                  </a:lnTo>
                  <a:close/>
                </a:path>
              </a:pathLst>
            </a:custGeom>
            <a:blipFill>
              <a:blip r:embed="rId6"/>
              <a:stretch>
                <a:fillRect l="0" t="0" r="3" b="3"/>
              </a:stretch>
            </a:blipFill>
          </p:spPr>
        </p:sp>
      </p:grpSp>
      <p:grpSp>
        <p:nvGrpSpPr>
          <p:cNvPr name="Group 19" id="19"/>
          <p:cNvGrpSpPr/>
          <p:nvPr/>
        </p:nvGrpSpPr>
        <p:grpSpPr>
          <a:xfrm rot="0">
            <a:off x="813435" y="6779895"/>
            <a:ext cx="10306050" cy="2076450"/>
            <a:chOff x="0" y="0"/>
            <a:chExt cx="13741400" cy="2768600"/>
          </a:xfrm>
        </p:grpSpPr>
        <p:sp>
          <p:nvSpPr>
            <p:cNvPr name="Freeform 20" id="20"/>
            <p:cNvSpPr/>
            <p:nvPr/>
          </p:nvSpPr>
          <p:spPr>
            <a:xfrm flipH="false" flipV="false" rot="0">
              <a:off x="0" y="0"/>
              <a:ext cx="13741400" cy="2768600"/>
            </a:xfrm>
            <a:custGeom>
              <a:avLst/>
              <a:gdLst/>
              <a:ahLst/>
              <a:cxnLst/>
              <a:rect r="r" b="b" t="t" l="l"/>
              <a:pathLst>
                <a:path h="2768600" w="13741400">
                  <a:moveTo>
                    <a:pt x="0" y="184531"/>
                  </a:moveTo>
                  <a:cubicBezTo>
                    <a:pt x="0" y="82677"/>
                    <a:pt x="82677" y="0"/>
                    <a:pt x="184531" y="0"/>
                  </a:cubicBezTo>
                  <a:lnTo>
                    <a:pt x="13556869" y="0"/>
                  </a:lnTo>
                  <a:cubicBezTo>
                    <a:pt x="13658850" y="0"/>
                    <a:pt x="13741400" y="82677"/>
                    <a:pt x="13741400" y="184531"/>
                  </a:cubicBezTo>
                  <a:lnTo>
                    <a:pt x="13741400" y="2584069"/>
                  </a:lnTo>
                  <a:cubicBezTo>
                    <a:pt x="13741400" y="2686050"/>
                    <a:pt x="13658723" y="2768600"/>
                    <a:pt x="13556869" y="2768600"/>
                  </a:cubicBezTo>
                  <a:lnTo>
                    <a:pt x="184531" y="2768600"/>
                  </a:lnTo>
                  <a:cubicBezTo>
                    <a:pt x="82677" y="2768600"/>
                    <a:pt x="0" y="2685923"/>
                    <a:pt x="0" y="2584069"/>
                  </a:cubicBezTo>
                  <a:close/>
                </a:path>
              </a:pathLst>
            </a:custGeom>
            <a:solidFill>
              <a:srgbClr val="FFFCE9"/>
            </a:solidFill>
            <a:ln w="47625" cap="sq">
              <a:solidFill>
                <a:srgbClr val="4F2F1E"/>
              </a:solidFill>
              <a:prstDash val="solid"/>
              <a:miter/>
            </a:ln>
          </p:spPr>
        </p:sp>
      </p:grpSp>
      <p:grpSp>
        <p:nvGrpSpPr>
          <p:cNvPr name="Group 21" id="21"/>
          <p:cNvGrpSpPr/>
          <p:nvPr/>
        </p:nvGrpSpPr>
        <p:grpSpPr>
          <a:xfrm rot="0">
            <a:off x="1224915" y="7191375"/>
            <a:ext cx="1253490" cy="1253490"/>
            <a:chOff x="0" y="0"/>
            <a:chExt cx="1671320" cy="1671320"/>
          </a:xfrm>
        </p:grpSpPr>
        <p:sp>
          <p:nvSpPr>
            <p:cNvPr name="Freeform 22" id="22"/>
            <p:cNvSpPr/>
            <p:nvPr/>
          </p:nvSpPr>
          <p:spPr>
            <a:xfrm flipH="false" flipV="false" rot="0">
              <a:off x="0" y="0"/>
              <a:ext cx="1671320" cy="1671320"/>
            </a:xfrm>
            <a:custGeom>
              <a:avLst/>
              <a:gdLst/>
              <a:ahLst/>
              <a:cxnLst/>
              <a:rect r="r" b="b" t="t" l="l"/>
              <a:pathLst>
                <a:path h="1671320" w="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4F2F1E"/>
            </a:solidFill>
            <a:ln w="19050" cap="sq">
              <a:solidFill>
                <a:srgbClr val="0B2545"/>
              </a:solidFill>
              <a:prstDash val="solid"/>
              <a:miter/>
            </a:ln>
          </p:spPr>
        </p:sp>
      </p:grpSp>
      <p:grpSp>
        <p:nvGrpSpPr>
          <p:cNvPr name="Group 23" id="23"/>
          <p:cNvGrpSpPr/>
          <p:nvPr/>
        </p:nvGrpSpPr>
        <p:grpSpPr>
          <a:xfrm rot="0">
            <a:off x="1555394" y="7521854"/>
            <a:ext cx="592531" cy="592531"/>
            <a:chOff x="0" y="0"/>
            <a:chExt cx="790042" cy="790042"/>
          </a:xfrm>
        </p:grpSpPr>
        <p:sp>
          <p:nvSpPr>
            <p:cNvPr name="Freeform 24" id="24" descr="Icono problema 3"/>
            <p:cNvSpPr/>
            <p:nvPr/>
          </p:nvSpPr>
          <p:spPr>
            <a:xfrm flipH="false" flipV="false" rot="0">
              <a:off x="0" y="0"/>
              <a:ext cx="790067" cy="790067"/>
            </a:xfrm>
            <a:custGeom>
              <a:avLst/>
              <a:gdLst/>
              <a:ahLst/>
              <a:cxnLst/>
              <a:rect r="r" b="b" t="t" l="l"/>
              <a:pathLst>
                <a:path h="790067" w="790067">
                  <a:moveTo>
                    <a:pt x="0" y="0"/>
                  </a:moveTo>
                  <a:lnTo>
                    <a:pt x="790067" y="0"/>
                  </a:lnTo>
                  <a:lnTo>
                    <a:pt x="790067" y="790067"/>
                  </a:lnTo>
                  <a:lnTo>
                    <a:pt x="0" y="790067"/>
                  </a:lnTo>
                  <a:lnTo>
                    <a:pt x="0" y="0"/>
                  </a:lnTo>
                  <a:close/>
                </a:path>
              </a:pathLst>
            </a:custGeom>
            <a:blipFill>
              <a:blip r:embed="rId7"/>
              <a:stretch>
                <a:fillRect l="0" t="0" r="3" b="3"/>
              </a:stretch>
            </a:blipFill>
          </p:spPr>
        </p:sp>
      </p:grpSp>
      <p:grpSp>
        <p:nvGrpSpPr>
          <p:cNvPr name="Group 25" id="25"/>
          <p:cNvGrpSpPr/>
          <p:nvPr/>
        </p:nvGrpSpPr>
        <p:grpSpPr>
          <a:xfrm rot="0">
            <a:off x="11649075" y="2116455"/>
            <a:ext cx="5820918" cy="6739890"/>
            <a:chOff x="0" y="0"/>
            <a:chExt cx="7761224" cy="8986520"/>
          </a:xfrm>
        </p:grpSpPr>
        <p:sp>
          <p:nvSpPr>
            <p:cNvPr name="Freeform 26" id="26"/>
            <p:cNvSpPr/>
            <p:nvPr/>
          </p:nvSpPr>
          <p:spPr>
            <a:xfrm flipH="false" flipV="false" rot="0">
              <a:off x="0" y="0"/>
              <a:ext cx="7761224" cy="8986520"/>
            </a:xfrm>
            <a:custGeom>
              <a:avLst/>
              <a:gdLst/>
              <a:ahLst/>
              <a:cxnLst/>
              <a:rect r="r" b="b" t="t" l="l"/>
              <a:pathLst>
                <a:path h="8986520" w="7761224">
                  <a:moveTo>
                    <a:pt x="0" y="183515"/>
                  </a:moveTo>
                  <a:cubicBezTo>
                    <a:pt x="0" y="82169"/>
                    <a:pt x="82169" y="0"/>
                    <a:pt x="183515" y="0"/>
                  </a:cubicBezTo>
                  <a:lnTo>
                    <a:pt x="7577709" y="0"/>
                  </a:lnTo>
                  <a:cubicBezTo>
                    <a:pt x="7679055" y="0"/>
                    <a:pt x="7761224" y="82169"/>
                    <a:pt x="7761224" y="183515"/>
                  </a:cubicBezTo>
                  <a:lnTo>
                    <a:pt x="7761224" y="8803005"/>
                  </a:lnTo>
                  <a:cubicBezTo>
                    <a:pt x="7761224" y="8904351"/>
                    <a:pt x="7679055" y="8986520"/>
                    <a:pt x="7577709" y="8986520"/>
                  </a:cubicBezTo>
                  <a:lnTo>
                    <a:pt x="183515" y="8986520"/>
                  </a:lnTo>
                  <a:cubicBezTo>
                    <a:pt x="82169" y="8986520"/>
                    <a:pt x="0" y="8904351"/>
                    <a:pt x="0" y="8803005"/>
                  </a:cubicBezTo>
                  <a:close/>
                </a:path>
              </a:pathLst>
            </a:custGeom>
            <a:solidFill>
              <a:srgbClr val="FFFCE9"/>
            </a:solidFill>
            <a:ln w="47625" cap="sq">
              <a:solidFill>
                <a:srgbClr val="4F2F1E"/>
              </a:solidFill>
              <a:prstDash val="solid"/>
              <a:miter/>
            </a:ln>
          </p:spPr>
        </p:sp>
      </p:grpSp>
      <p:sp>
        <p:nvSpPr>
          <p:cNvPr name="Freeform 27" id="27"/>
          <p:cNvSpPr/>
          <p:nvPr/>
        </p:nvSpPr>
        <p:spPr>
          <a:xfrm flipH="false" flipV="false" rot="0">
            <a:off x="871328" y="385938"/>
            <a:ext cx="1368134" cy="1197117"/>
          </a:xfrm>
          <a:custGeom>
            <a:avLst/>
            <a:gdLst/>
            <a:ahLst/>
            <a:cxnLst/>
            <a:rect r="r" b="b" t="t" l="l"/>
            <a:pathLst>
              <a:path h="1197117" w="1368134">
                <a:moveTo>
                  <a:pt x="0" y="0"/>
                </a:moveTo>
                <a:lnTo>
                  <a:pt x="1368133" y="0"/>
                </a:lnTo>
                <a:lnTo>
                  <a:pt x="1368133" y="1197117"/>
                </a:lnTo>
                <a:lnTo>
                  <a:pt x="0" y="1197117"/>
                </a:lnTo>
                <a:lnTo>
                  <a:pt x="0" y="0"/>
                </a:lnTo>
                <a:close/>
              </a:path>
            </a:pathLst>
          </a:custGeom>
          <a:blipFill>
            <a:blip r:embed="rId8"/>
            <a:stretch>
              <a:fillRect l="0" t="0" r="0" b="0"/>
            </a:stretch>
          </a:blipFill>
        </p:spPr>
      </p:sp>
      <p:sp>
        <p:nvSpPr>
          <p:cNvPr name="TextBox 28" id="28"/>
          <p:cNvSpPr txBox="true"/>
          <p:nvPr/>
        </p:nvSpPr>
        <p:spPr>
          <a:xfrm rot="0">
            <a:off x="2880360" y="2468880"/>
            <a:ext cx="4826573" cy="409575"/>
          </a:xfrm>
          <a:prstGeom prst="rect">
            <a:avLst/>
          </a:prstGeom>
        </p:spPr>
        <p:txBody>
          <a:bodyPr anchor="t" rtlCol="false" tIns="0" lIns="0" bIns="0" rIns="0">
            <a:spAutoFit/>
          </a:bodyPr>
          <a:lstStyle/>
          <a:p>
            <a:pPr algn="l">
              <a:lnSpc>
                <a:spcPts val="3240"/>
              </a:lnSpc>
            </a:pPr>
            <a:r>
              <a:rPr lang="en-US" b="true" sz="2700">
                <a:solidFill>
                  <a:srgbClr val="4F2F1E"/>
                </a:solidFill>
                <a:latin typeface="HK Grotesk Bold"/>
                <a:ea typeface="HK Grotesk Bold"/>
                <a:cs typeface="HK Grotesk Bold"/>
                <a:sym typeface="HK Grotesk Bold"/>
              </a:rPr>
              <a:t>Coordinación por WhatsApp</a:t>
            </a:r>
          </a:p>
        </p:txBody>
      </p:sp>
      <p:sp>
        <p:nvSpPr>
          <p:cNvPr name="TextBox 29" id="29"/>
          <p:cNvSpPr txBox="true"/>
          <p:nvPr/>
        </p:nvSpPr>
        <p:spPr>
          <a:xfrm rot="0">
            <a:off x="2880360" y="3076575"/>
            <a:ext cx="656360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El turno diurno y el vespertino se avisaban por mensajes, sin un registro compartido.</a:t>
            </a:r>
          </a:p>
        </p:txBody>
      </p:sp>
      <p:sp>
        <p:nvSpPr>
          <p:cNvPr name="TextBox 30" id="30"/>
          <p:cNvSpPr txBox="true"/>
          <p:nvPr/>
        </p:nvSpPr>
        <p:spPr>
          <a:xfrm rot="0">
            <a:off x="2880360" y="4800600"/>
            <a:ext cx="7818120" cy="409575"/>
          </a:xfrm>
          <a:prstGeom prst="rect">
            <a:avLst/>
          </a:prstGeom>
        </p:spPr>
        <p:txBody>
          <a:bodyPr anchor="t" rtlCol="false" tIns="0" lIns="0" bIns="0" rIns="0">
            <a:spAutoFit/>
          </a:bodyPr>
          <a:lstStyle/>
          <a:p>
            <a:pPr algn="l">
              <a:lnSpc>
                <a:spcPts val="3240"/>
              </a:lnSpc>
            </a:pPr>
            <a:r>
              <a:rPr lang="en-US" b="true" sz="2700">
                <a:solidFill>
                  <a:srgbClr val="4F2F1E"/>
                </a:solidFill>
                <a:latin typeface="HK Grotesk Bold"/>
                <a:ea typeface="HK Grotesk Bold"/>
                <a:cs typeface="HK Grotesk Bold"/>
                <a:sym typeface="HK Grotesk Bold"/>
              </a:rPr>
              <a:t>Préstamos sin trazabilidad</a:t>
            </a:r>
          </a:p>
        </p:txBody>
      </p:sp>
      <p:sp>
        <p:nvSpPr>
          <p:cNvPr name="TextBox 31" id="31"/>
          <p:cNvSpPr txBox="true"/>
          <p:nvPr/>
        </p:nvSpPr>
        <p:spPr>
          <a:xfrm rot="0">
            <a:off x="2880360" y="5408295"/>
            <a:ext cx="656360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No había forma de saber qué se prestó, a quién y en qué estado volvió.</a:t>
            </a:r>
          </a:p>
        </p:txBody>
      </p:sp>
      <p:sp>
        <p:nvSpPr>
          <p:cNvPr name="TextBox 32" id="32"/>
          <p:cNvSpPr txBox="true"/>
          <p:nvPr/>
        </p:nvSpPr>
        <p:spPr>
          <a:xfrm rot="0">
            <a:off x="2880360" y="7132320"/>
            <a:ext cx="7818120" cy="409575"/>
          </a:xfrm>
          <a:prstGeom prst="rect">
            <a:avLst/>
          </a:prstGeom>
        </p:spPr>
        <p:txBody>
          <a:bodyPr anchor="t" rtlCol="false" tIns="0" lIns="0" bIns="0" rIns="0">
            <a:spAutoFit/>
          </a:bodyPr>
          <a:lstStyle/>
          <a:p>
            <a:pPr algn="l">
              <a:lnSpc>
                <a:spcPts val="3240"/>
              </a:lnSpc>
            </a:pPr>
            <a:r>
              <a:rPr lang="en-US" b="true" sz="2700">
                <a:solidFill>
                  <a:srgbClr val="4F2F1E"/>
                </a:solidFill>
                <a:latin typeface="HK Grotesk Bold"/>
                <a:ea typeface="HK Grotesk Bold"/>
                <a:cs typeface="HK Grotesk Bold"/>
                <a:sym typeface="HK Grotesk Bold"/>
              </a:rPr>
              <a:t>Fungibles sin control de stock</a:t>
            </a:r>
          </a:p>
        </p:txBody>
      </p:sp>
      <p:sp>
        <p:nvSpPr>
          <p:cNvPr name="TextBox 33" id="33"/>
          <p:cNvSpPr txBox="true"/>
          <p:nvPr/>
        </p:nvSpPr>
        <p:spPr>
          <a:xfrm rot="0">
            <a:off x="2880360" y="7740015"/>
            <a:ext cx="656360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Sin visibilidad del inventario real: compras redundantes y extravío de activos.</a:t>
            </a:r>
          </a:p>
        </p:txBody>
      </p:sp>
      <p:sp>
        <p:nvSpPr>
          <p:cNvPr name="TextBox 34" id="34"/>
          <p:cNvSpPr txBox="true"/>
          <p:nvPr/>
        </p:nvSpPr>
        <p:spPr>
          <a:xfrm rot="0">
            <a:off x="12070080" y="2468880"/>
            <a:ext cx="5074920" cy="361950"/>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4F2F1E"/>
                </a:solidFill>
                <a:latin typeface="HK Grotesk Bold"/>
                <a:ea typeface="HK Grotesk Bold"/>
                <a:cs typeface="HK Grotesk Bold"/>
                <a:sym typeface="HK Grotesk Bold"/>
              </a:rPr>
              <a:t>Evidencia</a:t>
            </a:r>
          </a:p>
        </p:txBody>
      </p:sp>
      <p:sp>
        <p:nvSpPr>
          <p:cNvPr name="TextBox 35" id="35"/>
          <p:cNvSpPr txBox="true"/>
          <p:nvPr/>
        </p:nvSpPr>
        <p:spPr>
          <a:xfrm rot="0">
            <a:off x="12070080" y="3007995"/>
            <a:ext cx="5074920" cy="952500"/>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Ficha del proyecto 2025-2 de Duoc UC San Bernardo y reunión con los encargados en la semana 3.</a:t>
            </a:r>
          </a:p>
        </p:txBody>
      </p:sp>
      <p:sp>
        <p:nvSpPr>
          <p:cNvPr name="TextBox 36" id="36"/>
          <p:cNvSpPr txBox="true"/>
          <p:nvPr/>
        </p:nvSpPr>
        <p:spPr>
          <a:xfrm rot="0">
            <a:off x="12070080" y="4526280"/>
            <a:ext cx="5074920" cy="361950"/>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4F2F1E"/>
                </a:solidFill>
                <a:latin typeface="HK Grotesk Bold"/>
                <a:ea typeface="HK Grotesk Bold"/>
                <a:cs typeface="HK Grotesk Bold"/>
                <a:sym typeface="HK Grotesk Bold"/>
              </a:rPr>
              <a:t>Impacto</a:t>
            </a:r>
          </a:p>
        </p:txBody>
      </p:sp>
      <p:sp>
        <p:nvSpPr>
          <p:cNvPr name="TextBox 37" id="37"/>
          <p:cNvSpPr txBox="true"/>
          <p:nvPr/>
        </p:nvSpPr>
        <p:spPr>
          <a:xfrm rot="0">
            <a:off x="12070080" y="5065395"/>
            <a:ext cx="5074920" cy="6381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4F2F1E"/>
                </a:solidFill>
                <a:latin typeface="HK Grotesk"/>
                <a:ea typeface="HK Grotesk"/>
                <a:cs typeface="HK Grotesk"/>
                <a:sym typeface="HK Grotesk"/>
              </a:rPr>
              <a:t>Los encargados dependían de la memoria y de mensajes para ubicar cada herramienta.</a:t>
            </a:r>
          </a:p>
        </p:txBody>
      </p:sp>
      <p:sp>
        <p:nvSpPr>
          <p:cNvPr name="TextBox 38" id="38"/>
          <p:cNvSpPr txBox="true"/>
          <p:nvPr/>
        </p:nvSpPr>
        <p:spPr>
          <a:xfrm rot="0">
            <a:off x="12070080" y="6583680"/>
            <a:ext cx="5074920" cy="361950"/>
          </a:xfrm>
          <a:prstGeom prst="rect">
            <a:avLst/>
          </a:prstGeom>
        </p:spPr>
        <p:txBody>
          <a:bodyPr anchor="t" rtlCol="false" tIns="0" lIns="0" bIns="0" rIns="0">
            <a:spAutoFit/>
          </a:bodyPr>
          <a:lstStyle/>
          <a:p>
            <a:pPr algn="l">
              <a:lnSpc>
                <a:spcPts val="2879"/>
              </a:lnSpc>
            </a:pPr>
            <a:r>
              <a:rPr lang="en-US" b="true" sz="2400">
                <a:solidFill>
                  <a:srgbClr val="4F2F1E"/>
                </a:solidFill>
                <a:latin typeface="HK Grotesk Bold"/>
                <a:ea typeface="HK Grotesk Bold"/>
                <a:cs typeface="HK Grotesk Bold"/>
                <a:sym typeface="HK Grotesk Bold"/>
              </a:rPr>
              <a:t>Antecedente</a:t>
            </a:r>
          </a:p>
        </p:txBody>
      </p:sp>
      <p:sp>
        <p:nvSpPr>
          <p:cNvPr name="TextBox 39" id="39"/>
          <p:cNvSpPr txBox="true"/>
          <p:nvPr/>
        </p:nvSpPr>
        <p:spPr>
          <a:xfrm rot="0">
            <a:off x="12070080" y="7122795"/>
            <a:ext cx="507492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Una herramienta en Python quedó en un solo equipo y hoy no se usa.</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3003894" y="356264"/>
            <a:ext cx="6444402" cy="1234440"/>
            <a:chOff x="0" y="0"/>
            <a:chExt cx="8592536" cy="1645920"/>
          </a:xfrm>
        </p:grpSpPr>
        <p:sp>
          <p:nvSpPr>
            <p:cNvPr name="Freeform 5" id="5"/>
            <p:cNvSpPr/>
            <p:nvPr/>
          </p:nvSpPr>
          <p:spPr>
            <a:xfrm flipH="false" flipV="false" rot="0">
              <a:off x="0" y="0"/>
              <a:ext cx="8592536" cy="1645920"/>
            </a:xfrm>
            <a:custGeom>
              <a:avLst/>
              <a:gdLst/>
              <a:ahLst/>
              <a:cxnLst/>
              <a:rect r="r" b="b" t="t" l="l"/>
              <a:pathLst>
                <a:path h="1645920" w="8592536">
                  <a:moveTo>
                    <a:pt x="0" y="0"/>
                  </a:moveTo>
                  <a:lnTo>
                    <a:pt x="8592536" y="0"/>
                  </a:lnTo>
                  <a:lnTo>
                    <a:pt x="8592536" y="1645920"/>
                  </a:lnTo>
                  <a:lnTo>
                    <a:pt x="0" y="1645920"/>
                  </a:lnTo>
                  <a:close/>
                </a:path>
              </a:pathLst>
            </a:custGeom>
            <a:blipFill>
              <a:blip r:embed="rId4">
                <a:alphaModFix amt="0"/>
              </a:blip>
              <a:stretch>
                <a:fillRect l="0" t="-211965" r="-157531" b="-211965"/>
              </a:stretch>
            </a:blipFill>
          </p:spPr>
        </p:sp>
        <p:sp>
          <p:nvSpPr>
            <p:cNvPr name="TextBox 6" id="6"/>
            <p:cNvSpPr txBox="true"/>
            <p:nvPr/>
          </p:nvSpPr>
          <p:spPr>
            <a:xfrm>
              <a:off x="0" y="0"/>
              <a:ext cx="8592536" cy="1645920"/>
            </a:xfrm>
            <a:prstGeom prst="rect">
              <a:avLst/>
            </a:prstGeom>
          </p:spPr>
          <p:txBody>
            <a:bodyPr anchor="ctr" rtlCol="false" tIns="0" lIns="0" bIns="0" rIns="0"/>
            <a:lstStyle/>
            <a:p>
              <a:pPr algn="l">
                <a:lnSpc>
                  <a:spcPts val="6599"/>
                </a:lnSpc>
              </a:pPr>
              <a:r>
                <a:rPr lang="en-US" b="true" sz="5499">
                  <a:solidFill>
                    <a:srgbClr val="4F2F1E"/>
                  </a:solidFill>
                  <a:latin typeface="HK Grotesk Bold"/>
                  <a:ea typeface="HK Grotesk Bold"/>
                  <a:cs typeface="HK Grotesk Bold"/>
                  <a:sym typeface="HK Grotesk Bold"/>
                </a:rPr>
                <a:t>La solución</a:t>
              </a:r>
            </a:p>
          </p:txBody>
        </p:sp>
      </p:grpSp>
      <p:grpSp>
        <p:nvGrpSpPr>
          <p:cNvPr name="Group 7" id="7"/>
          <p:cNvGrpSpPr/>
          <p:nvPr/>
        </p:nvGrpSpPr>
        <p:grpSpPr>
          <a:xfrm rot="0">
            <a:off x="952500" y="4095750"/>
            <a:ext cx="7810500" cy="3429000"/>
            <a:chOff x="0" y="0"/>
            <a:chExt cx="10414000" cy="4572000"/>
          </a:xfrm>
        </p:grpSpPr>
        <p:sp>
          <p:nvSpPr>
            <p:cNvPr name="Freeform 8" id="8"/>
            <p:cNvSpPr/>
            <p:nvPr/>
          </p:nvSpPr>
          <p:spPr>
            <a:xfrm flipH="false" flipV="false" rot="0">
              <a:off x="0" y="0"/>
              <a:ext cx="10414000" cy="4572000"/>
            </a:xfrm>
            <a:custGeom>
              <a:avLst/>
              <a:gdLst/>
              <a:ahLst/>
              <a:cxnLst/>
              <a:rect r="r" b="b" t="t" l="l"/>
              <a:pathLst>
                <a:path h="4572000" w="10414000">
                  <a:moveTo>
                    <a:pt x="0" y="169403"/>
                  </a:moveTo>
                  <a:cubicBezTo>
                    <a:pt x="0" y="75810"/>
                    <a:pt x="163634" y="0"/>
                    <a:pt x="365652" y="0"/>
                  </a:cubicBezTo>
                  <a:lnTo>
                    <a:pt x="10048349" y="0"/>
                  </a:lnTo>
                  <a:cubicBezTo>
                    <a:pt x="10250113" y="0"/>
                    <a:pt x="10414000" y="75810"/>
                    <a:pt x="10414000" y="169403"/>
                  </a:cubicBezTo>
                  <a:lnTo>
                    <a:pt x="10414000" y="4402598"/>
                  </a:lnTo>
                  <a:cubicBezTo>
                    <a:pt x="10414000" y="4496073"/>
                    <a:pt x="10250367" y="4572000"/>
                    <a:pt x="10048349" y="4572000"/>
                  </a:cubicBezTo>
                  <a:lnTo>
                    <a:pt x="365652" y="4572000"/>
                  </a:lnTo>
                  <a:cubicBezTo>
                    <a:pt x="163634" y="4572000"/>
                    <a:pt x="0" y="4496190"/>
                    <a:pt x="0" y="4402598"/>
                  </a:cubicBezTo>
                  <a:close/>
                </a:path>
              </a:pathLst>
            </a:custGeom>
            <a:solidFill>
              <a:srgbClr val="FFFCE9"/>
            </a:solidFill>
            <a:ln w="38100" cap="sq">
              <a:solidFill>
                <a:srgbClr val="4F2F1E"/>
              </a:solidFill>
              <a:prstDash val="solid"/>
              <a:miter/>
            </a:ln>
          </p:spPr>
        </p:sp>
      </p:grpSp>
      <p:grpSp>
        <p:nvGrpSpPr>
          <p:cNvPr name="Group 9" id="9"/>
          <p:cNvGrpSpPr/>
          <p:nvPr/>
        </p:nvGrpSpPr>
        <p:grpSpPr>
          <a:xfrm rot="0">
            <a:off x="1333500" y="4381500"/>
            <a:ext cx="7048500" cy="787654"/>
            <a:chOff x="0" y="0"/>
            <a:chExt cx="9398000" cy="1050206"/>
          </a:xfrm>
        </p:grpSpPr>
        <p:sp>
          <p:nvSpPr>
            <p:cNvPr name="Freeform 10" id="10"/>
            <p:cNvSpPr/>
            <p:nvPr/>
          </p:nvSpPr>
          <p:spPr>
            <a:xfrm flipH="false" flipV="false" rot="0">
              <a:off x="0" y="0"/>
              <a:ext cx="9398000" cy="1050206"/>
            </a:xfrm>
            <a:custGeom>
              <a:avLst/>
              <a:gdLst/>
              <a:ahLst/>
              <a:cxnLst/>
              <a:rect r="r" b="b" t="t" l="l"/>
              <a:pathLst>
                <a:path h="1050206" w="9398000">
                  <a:moveTo>
                    <a:pt x="0" y="0"/>
                  </a:moveTo>
                  <a:lnTo>
                    <a:pt x="9398000" y="0"/>
                  </a:lnTo>
                  <a:lnTo>
                    <a:pt x="9398000" y="1050206"/>
                  </a:lnTo>
                  <a:lnTo>
                    <a:pt x="0" y="1050206"/>
                  </a:lnTo>
                  <a:close/>
                </a:path>
              </a:pathLst>
            </a:custGeom>
            <a:blipFill>
              <a:blip r:embed="rId4">
                <a:alphaModFix amt="0"/>
              </a:blip>
              <a:stretch>
                <a:fillRect l="-2102" t="0" r="52167" b="-74137"/>
              </a:stretch>
            </a:blipFill>
          </p:spPr>
        </p:sp>
        <p:sp>
          <p:nvSpPr>
            <p:cNvPr name="TextBox 11" id="11"/>
            <p:cNvSpPr txBox="true"/>
            <p:nvPr/>
          </p:nvSpPr>
          <p:spPr>
            <a:xfrm>
              <a:off x="0" y="0"/>
              <a:ext cx="9398000" cy="1050206"/>
            </a:xfrm>
            <a:prstGeom prst="rect">
              <a:avLst/>
            </a:prstGeom>
          </p:spPr>
          <p:txBody>
            <a:bodyPr anchor="ctr" rtlCol="false" tIns="0" lIns="0" bIns="0" rIns="0"/>
            <a:lstStyle/>
            <a:p>
              <a:pPr algn="ctr" marL="0" indent="0" lvl="0">
                <a:lnSpc>
                  <a:spcPts val="4680"/>
                </a:lnSpc>
                <a:spcBef>
                  <a:spcPct val="0"/>
                </a:spcBef>
              </a:pPr>
              <a:r>
                <a:rPr lang="en-US" b="true" sz="3900" strike="noStrike" u="none">
                  <a:solidFill>
                    <a:srgbClr val="4F2F1E"/>
                  </a:solidFill>
                  <a:latin typeface="HK Grotesk Bold"/>
                  <a:ea typeface="HK Grotesk Bold"/>
                  <a:cs typeface="HK Grotesk Bold"/>
                  <a:sym typeface="HK Grotesk Bold"/>
                </a:rPr>
                <a:t>Antes: registro manual</a:t>
              </a:r>
            </a:p>
          </p:txBody>
        </p:sp>
      </p:grpSp>
      <p:grpSp>
        <p:nvGrpSpPr>
          <p:cNvPr name="Group 12" id="12"/>
          <p:cNvGrpSpPr/>
          <p:nvPr/>
        </p:nvGrpSpPr>
        <p:grpSpPr>
          <a:xfrm rot="0">
            <a:off x="9525000" y="4095750"/>
            <a:ext cx="7810500" cy="3429000"/>
            <a:chOff x="0" y="0"/>
            <a:chExt cx="10414000" cy="4572000"/>
          </a:xfrm>
        </p:grpSpPr>
        <p:sp>
          <p:nvSpPr>
            <p:cNvPr name="Freeform 13" id="13"/>
            <p:cNvSpPr/>
            <p:nvPr/>
          </p:nvSpPr>
          <p:spPr>
            <a:xfrm flipH="false" flipV="false" rot="0">
              <a:off x="0" y="0"/>
              <a:ext cx="10414000" cy="4572000"/>
            </a:xfrm>
            <a:custGeom>
              <a:avLst/>
              <a:gdLst/>
              <a:ahLst/>
              <a:cxnLst/>
              <a:rect r="r" b="b" t="t" l="l"/>
              <a:pathLst>
                <a:path h="4572000" w="10414000">
                  <a:moveTo>
                    <a:pt x="0" y="169403"/>
                  </a:moveTo>
                  <a:cubicBezTo>
                    <a:pt x="0" y="75810"/>
                    <a:pt x="163634" y="0"/>
                    <a:pt x="365652" y="0"/>
                  </a:cubicBezTo>
                  <a:lnTo>
                    <a:pt x="10048349" y="0"/>
                  </a:lnTo>
                  <a:cubicBezTo>
                    <a:pt x="10250113" y="0"/>
                    <a:pt x="10414000" y="75810"/>
                    <a:pt x="10414000" y="169403"/>
                  </a:cubicBezTo>
                  <a:lnTo>
                    <a:pt x="10414000" y="4402598"/>
                  </a:lnTo>
                  <a:cubicBezTo>
                    <a:pt x="10414000" y="4496073"/>
                    <a:pt x="10250367" y="4572000"/>
                    <a:pt x="10048349" y="4572000"/>
                  </a:cubicBezTo>
                  <a:lnTo>
                    <a:pt x="365652" y="4572000"/>
                  </a:lnTo>
                  <a:cubicBezTo>
                    <a:pt x="163634" y="4572000"/>
                    <a:pt x="0" y="4496190"/>
                    <a:pt x="0" y="4402598"/>
                  </a:cubicBezTo>
                  <a:close/>
                </a:path>
              </a:pathLst>
            </a:custGeom>
            <a:solidFill>
              <a:srgbClr val="FFFCE9"/>
            </a:solidFill>
            <a:ln w="38100" cap="sq">
              <a:solidFill>
                <a:srgbClr val="4F2F1E"/>
              </a:solidFill>
              <a:prstDash val="solid"/>
              <a:miter/>
            </a:ln>
          </p:spPr>
        </p:sp>
      </p:grpSp>
      <p:grpSp>
        <p:nvGrpSpPr>
          <p:cNvPr name="Group 14" id="14"/>
          <p:cNvGrpSpPr/>
          <p:nvPr/>
        </p:nvGrpSpPr>
        <p:grpSpPr>
          <a:xfrm rot="0">
            <a:off x="9906000" y="4381500"/>
            <a:ext cx="7048500" cy="787654"/>
            <a:chOff x="0" y="0"/>
            <a:chExt cx="9398000" cy="1050206"/>
          </a:xfrm>
        </p:grpSpPr>
        <p:sp>
          <p:nvSpPr>
            <p:cNvPr name="Freeform 15" id="15"/>
            <p:cNvSpPr/>
            <p:nvPr/>
          </p:nvSpPr>
          <p:spPr>
            <a:xfrm flipH="false" flipV="false" rot="0">
              <a:off x="0" y="0"/>
              <a:ext cx="9398000" cy="1050206"/>
            </a:xfrm>
            <a:custGeom>
              <a:avLst/>
              <a:gdLst/>
              <a:ahLst/>
              <a:cxnLst/>
              <a:rect r="r" b="b" t="t" l="l"/>
              <a:pathLst>
                <a:path h="1050206" w="9398000">
                  <a:moveTo>
                    <a:pt x="0" y="0"/>
                  </a:moveTo>
                  <a:lnTo>
                    <a:pt x="9398000" y="0"/>
                  </a:lnTo>
                  <a:lnTo>
                    <a:pt x="9398000" y="1050206"/>
                  </a:lnTo>
                  <a:lnTo>
                    <a:pt x="0" y="1050206"/>
                  </a:lnTo>
                  <a:close/>
                </a:path>
              </a:pathLst>
            </a:custGeom>
            <a:blipFill>
              <a:blip r:embed="rId4">
                <a:alphaModFix amt="0"/>
              </a:blip>
              <a:stretch>
                <a:fillRect l="-2102" t="0" r="52167" b="-74137"/>
              </a:stretch>
            </a:blipFill>
          </p:spPr>
        </p:sp>
        <p:sp>
          <p:nvSpPr>
            <p:cNvPr name="TextBox 16" id="16"/>
            <p:cNvSpPr txBox="true"/>
            <p:nvPr/>
          </p:nvSpPr>
          <p:spPr>
            <a:xfrm>
              <a:off x="0" y="0"/>
              <a:ext cx="9398000" cy="1050206"/>
            </a:xfrm>
            <a:prstGeom prst="rect">
              <a:avLst/>
            </a:prstGeom>
          </p:spPr>
          <p:txBody>
            <a:bodyPr anchor="ctr" rtlCol="false" tIns="0" lIns="0" bIns="0" rIns="0"/>
            <a:lstStyle/>
            <a:p>
              <a:pPr algn="ctr" marL="0" indent="0" lvl="0">
                <a:lnSpc>
                  <a:spcPts val="4680"/>
                </a:lnSpc>
                <a:spcBef>
                  <a:spcPct val="0"/>
                </a:spcBef>
              </a:pPr>
              <a:r>
                <a:rPr lang="en-US" b="true" sz="3900" strike="noStrike" u="none">
                  <a:solidFill>
                    <a:srgbClr val="4F2F1E"/>
                  </a:solidFill>
                  <a:latin typeface="HK Grotesk Bold"/>
                  <a:ea typeface="HK Grotesk Bold"/>
                  <a:cs typeface="HK Grotesk Bold"/>
                  <a:sym typeface="HK Grotesk Bold"/>
                </a:rPr>
                <a:t>Ahora: con la plataforma</a:t>
              </a:r>
            </a:p>
          </p:txBody>
        </p:sp>
      </p:grpSp>
      <p:sp>
        <p:nvSpPr>
          <p:cNvPr name="Freeform 17" id="17"/>
          <p:cNvSpPr/>
          <p:nvPr/>
        </p:nvSpPr>
        <p:spPr>
          <a:xfrm flipH="false" flipV="false" rot="0">
            <a:off x="571500" y="381000"/>
            <a:ext cx="2266501" cy="2312756"/>
          </a:xfrm>
          <a:custGeom>
            <a:avLst/>
            <a:gdLst/>
            <a:ahLst/>
            <a:cxnLst/>
            <a:rect r="r" b="b" t="t" l="l"/>
            <a:pathLst>
              <a:path h="2312756" w="2266501">
                <a:moveTo>
                  <a:pt x="0" y="0"/>
                </a:moveTo>
                <a:lnTo>
                  <a:pt x="2266501" y="0"/>
                </a:lnTo>
                <a:lnTo>
                  <a:pt x="2266501" y="2312756"/>
                </a:lnTo>
                <a:lnTo>
                  <a:pt x="0" y="23127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3003894" y="1624862"/>
            <a:ext cx="14415426" cy="1495425"/>
          </a:xfrm>
          <a:prstGeom prst="rect">
            <a:avLst/>
          </a:prstGeom>
        </p:spPr>
        <p:txBody>
          <a:bodyPr anchor="t" rtlCol="false" tIns="0" lIns="0" bIns="0" rIns="0">
            <a:spAutoFit/>
          </a:bodyPr>
          <a:lstStyle/>
          <a:p>
            <a:pPr algn="l">
              <a:lnSpc>
                <a:spcPts val="3959"/>
              </a:lnSpc>
            </a:pPr>
            <a:r>
              <a:rPr lang="en-US" sz="3299">
                <a:solidFill>
                  <a:srgbClr val="4F2F1E"/>
                </a:solidFill>
                <a:latin typeface="HK Grotesk"/>
                <a:ea typeface="HK Grotesk"/>
                <a:cs typeface="HK Grotesk"/>
                <a:sym typeface="HK Grotesk"/>
              </a:rPr>
              <a:t>Una plataforma web multiusuario que reemplaza el registro manual del pañol de Duoc UC San Bernardo, desarrollada con DSDM y validada con los encargados en incrementos de 15 días.</a:t>
            </a:r>
          </a:p>
        </p:txBody>
      </p:sp>
      <p:sp>
        <p:nvSpPr>
          <p:cNvPr name="TextBox 19" id="19"/>
          <p:cNvSpPr txBox="true"/>
          <p:nvPr/>
        </p:nvSpPr>
        <p:spPr>
          <a:xfrm rot="0">
            <a:off x="1428750" y="5334000"/>
            <a:ext cx="7048500" cy="1775460"/>
          </a:xfrm>
          <a:prstGeom prst="rect">
            <a:avLst/>
          </a:prstGeom>
        </p:spPr>
        <p:txBody>
          <a:bodyPr anchor="t" rtlCol="false" tIns="0" lIns="0" bIns="0" rIns="0">
            <a:spAutoFit/>
          </a:bodyPr>
          <a:lstStyle/>
          <a:p>
            <a:pPr algn="l" marL="0" indent="0" lvl="0">
              <a:lnSpc>
                <a:spcPts val="4725"/>
              </a:lnSpc>
              <a:spcBef>
                <a:spcPct val="0"/>
              </a:spcBef>
            </a:pPr>
            <a:r>
              <a:rPr lang="en-US" sz="3150" strike="noStrike" u="none">
                <a:solidFill>
                  <a:srgbClr val="4F2F1E"/>
                </a:solidFill>
                <a:latin typeface="HK Grotesk"/>
                <a:ea typeface="HK Grotesk"/>
                <a:cs typeface="HK Grotesk"/>
                <a:sym typeface="HK Grotesk"/>
              </a:rPr>
              <a:t>• Registro en papel o planilla</a:t>
            </a:r>
          </a:p>
          <a:p>
            <a:pPr algn="l" marL="0" indent="0" lvl="0">
              <a:lnSpc>
                <a:spcPts val="4725"/>
              </a:lnSpc>
              <a:spcBef>
                <a:spcPct val="0"/>
              </a:spcBef>
            </a:pPr>
            <a:r>
              <a:rPr lang="en-US" sz="3150" strike="noStrike" u="none">
                <a:solidFill>
                  <a:srgbClr val="4F2F1E"/>
                </a:solidFill>
                <a:latin typeface="HK Grotesk"/>
                <a:ea typeface="HK Grotesk"/>
                <a:cs typeface="HK Grotesk"/>
                <a:sym typeface="HK Grotesk"/>
              </a:rPr>
              <a:t>• Herramientas perdidas</a:t>
            </a:r>
          </a:p>
          <a:p>
            <a:pPr algn="l" marL="0" indent="0" lvl="0">
              <a:lnSpc>
                <a:spcPts val="4725"/>
              </a:lnSpc>
              <a:spcBef>
                <a:spcPct val="0"/>
              </a:spcBef>
            </a:pPr>
            <a:r>
              <a:rPr lang="en-US" sz="3150" strike="noStrike" u="none">
                <a:solidFill>
                  <a:srgbClr val="4F2F1E"/>
                </a:solidFill>
                <a:latin typeface="HK Grotesk"/>
                <a:ea typeface="HK Grotesk"/>
                <a:cs typeface="HK Grotesk"/>
                <a:sym typeface="HK Grotesk"/>
              </a:rPr>
              <a:t>• Sin visibilidad del inventario</a:t>
            </a:r>
          </a:p>
        </p:txBody>
      </p:sp>
      <p:sp>
        <p:nvSpPr>
          <p:cNvPr name="TextBox 20" id="20"/>
          <p:cNvSpPr txBox="true"/>
          <p:nvPr/>
        </p:nvSpPr>
        <p:spPr>
          <a:xfrm rot="0">
            <a:off x="10001250" y="5334000"/>
            <a:ext cx="7048500" cy="1775460"/>
          </a:xfrm>
          <a:prstGeom prst="rect">
            <a:avLst/>
          </a:prstGeom>
        </p:spPr>
        <p:txBody>
          <a:bodyPr anchor="t" rtlCol="false" tIns="0" lIns="0" bIns="0" rIns="0">
            <a:spAutoFit/>
          </a:bodyPr>
          <a:lstStyle/>
          <a:p>
            <a:pPr algn="l" marL="0" indent="0" lvl="0">
              <a:lnSpc>
                <a:spcPts val="4725"/>
              </a:lnSpc>
              <a:spcBef>
                <a:spcPct val="0"/>
              </a:spcBef>
            </a:pPr>
            <a:r>
              <a:rPr lang="en-US" sz="3150" strike="noStrike" u="none">
                <a:solidFill>
                  <a:srgbClr val="4F2F1E"/>
                </a:solidFill>
                <a:latin typeface="HK Grotesk"/>
                <a:ea typeface="HK Grotesk"/>
                <a:cs typeface="HK Grotesk"/>
                <a:sym typeface="HK Grotesk"/>
              </a:rPr>
              <a:t>• Registro digital de cada préstamo</a:t>
            </a:r>
          </a:p>
          <a:p>
            <a:pPr algn="l" marL="0" indent="0" lvl="0">
              <a:lnSpc>
                <a:spcPts val="4725"/>
              </a:lnSpc>
              <a:spcBef>
                <a:spcPct val="0"/>
              </a:spcBef>
            </a:pPr>
            <a:r>
              <a:rPr lang="en-US" sz="3150" strike="noStrike" u="none">
                <a:solidFill>
                  <a:srgbClr val="4F2F1E"/>
                </a:solidFill>
                <a:latin typeface="HK Grotesk"/>
                <a:ea typeface="HK Grotesk"/>
                <a:cs typeface="HK Grotesk"/>
                <a:sym typeface="HK Grotesk"/>
              </a:rPr>
              <a:t>• Historial de quién tuvo cada activo</a:t>
            </a:r>
          </a:p>
          <a:p>
            <a:pPr algn="l" marL="0" indent="0" lvl="0">
              <a:lnSpc>
                <a:spcPts val="4725"/>
              </a:lnSpc>
              <a:spcBef>
                <a:spcPct val="0"/>
              </a:spcBef>
            </a:pPr>
            <a:r>
              <a:rPr lang="en-US" sz="3150" strike="noStrike" u="none">
                <a:solidFill>
                  <a:srgbClr val="4F2F1E"/>
                </a:solidFill>
                <a:latin typeface="HK Grotesk"/>
                <a:ea typeface="HK Grotesk"/>
                <a:cs typeface="HK Grotesk"/>
                <a:sym typeface="HK Grotesk"/>
              </a:rPr>
              <a:t>• Inventario visible, desde el celular</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2811780" y="411480"/>
            <a:ext cx="13315309" cy="1234440"/>
            <a:chOff x="0" y="0"/>
            <a:chExt cx="17753745" cy="1645920"/>
          </a:xfrm>
        </p:grpSpPr>
        <p:sp>
          <p:nvSpPr>
            <p:cNvPr name="Freeform 5" id="5"/>
            <p:cNvSpPr/>
            <p:nvPr/>
          </p:nvSpPr>
          <p:spPr>
            <a:xfrm flipH="false" flipV="false" rot="0">
              <a:off x="0" y="0"/>
              <a:ext cx="17753746" cy="1645920"/>
            </a:xfrm>
            <a:custGeom>
              <a:avLst/>
              <a:gdLst/>
              <a:ahLst/>
              <a:cxnLst/>
              <a:rect r="r" b="b" t="t" l="l"/>
              <a:pathLst>
                <a:path h="1645920" w="17753746">
                  <a:moveTo>
                    <a:pt x="0" y="0"/>
                  </a:moveTo>
                  <a:lnTo>
                    <a:pt x="17753746" y="0"/>
                  </a:lnTo>
                  <a:lnTo>
                    <a:pt x="17753746" y="1645920"/>
                  </a:lnTo>
                  <a:lnTo>
                    <a:pt x="0" y="1645920"/>
                  </a:lnTo>
                  <a:close/>
                </a:path>
              </a:pathLst>
            </a:custGeom>
            <a:blipFill>
              <a:blip r:embed="rId4">
                <a:alphaModFix amt="0"/>
              </a:blip>
              <a:stretch>
                <a:fillRect l="0" t="-211965" r="-24641" b="-211965"/>
              </a:stretch>
            </a:blipFill>
          </p:spPr>
        </p:sp>
        <p:sp>
          <p:nvSpPr>
            <p:cNvPr name="TextBox 6" id="6"/>
            <p:cNvSpPr txBox="true"/>
            <p:nvPr/>
          </p:nvSpPr>
          <p:spPr>
            <a:xfrm>
              <a:off x="0" y="0"/>
              <a:ext cx="17753745" cy="1645920"/>
            </a:xfrm>
            <a:prstGeom prst="rect">
              <a:avLst/>
            </a:prstGeom>
          </p:spPr>
          <p:txBody>
            <a:bodyPr anchor="ctr" rtlCol="false" tIns="0" lIns="0" bIns="0" rIns="0"/>
            <a:lstStyle/>
            <a:p>
              <a:pPr algn="l">
                <a:lnSpc>
                  <a:spcPts val="5759"/>
                </a:lnSpc>
              </a:pPr>
              <a:r>
                <a:rPr lang="en-US" b="true" sz="4800">
                  <a:solidFill>
                    <a:srgbClr val="4F2F1E"/>
                  </a:solidFill>
                  <a:latin typeface="HK Grotesk Bold"/>
                  <a:ea typeface="HK Grotesk Bold"/>
                  <a:cs typeface="HK Grotesk Bold"/>
                  <a:sym typeface="HK Grotesk Bold"/>
                </a:rPr>
                <a:t>Alcance del proyecto</a:t>
              </a:r>
            </a:p>
          </p:txBody>
        </p:sp>
      </p:grpSp>
      <p:grpSp>
        <p:nvGrpSpPr>
          <p:cNvPr name="Group 7" id="7"/>
          <p:cNvGrpSpPr/>
          <p:nvPr/>
        </p:nvGrpSpPr>
        <p:grpSpPr>
          <a:xfrm rot="0">
            <a:off x="813435" y="2116455"/>
            <a:ext cx="10306050" cy="2076450"/>
            <a:chOff x="0" y="0"/>
            <a:chExt cx="13741400" cy="2768600"/>
          </a:xfrm>
        </p:grpSpPr>
        <p:sp>
          <p:nvSpPr>
            <p:cNvPr name="Freeform 8" id="8"/>
            <p:cNvSpPr/>
            <p:nvPr/>
          </p:nvSpPr>
          <p:spPr>
            <a:xfrm flipH="false" flipV="false" rot="0">
              <a:off x="0" y="0"/>
              <a:ext cx="13741400" cy="2768600"/>
            </a:xfrm>
            <a:custGeom>
              <a:avLst/>
              <a:gdLst/>
              <a:ahLst/>
              <a:cxnLst/>
              <a:rect r="r" b="b" t="t" l="l"/>
              <a:pathLst>
                <a:path h="2768600" w="13741400">
                  <a:moveTo>
                    <a:pt x="0" y="184531"/>
                  </a:moveTo>
                  <a:cubicBezTo>
                    <a:pt x="0" y="82677"/>
                    <a:pt x="82677" y="0"/>
                    <a:pt x="184531" y="0"/>
                  </a:cubicBezTo>
                  <a:lnTo>
                    <a:pt x="13556869" y="0"/>
                  </a:lnTo>
                  <a:cubicBezTo>
                    <a:pt x="13658850" y="0"/>
                    <a:pt x="13741400" y="82677"/>
                    <a:pt x="13741400" y="184531"/>
                  </a:cubicBezTo>
                  <a:lnTo>
                    <a:pt x="13741400" y="2584069"/>
                  </a:lnTo>
                  <a:cubicBezTo>
                    <a:pt x="13741400" y="2686050"/>
                    <a:pt x="13658723" y="2768600"/>
                    <a:pt x="13556869" y="2768600"/>
                  </a:cubicBezTo>
                  <a:lnTo>
                    <a:pt x="184531" y="2768600"/>
                  </a:lnTo>
                  <a:cubicBezTo>
                    <a:pt x="82677" y="2768600"/>
                    <a:pt x="0" y="2685923"/>
                    <a:pt x="0" y="2584069"/>
                  </a:cubicBezTo>
                  <a:close/>
                </a:path>
              </a:pathLst>
            </a:custGeom>
            <a:solidFill>
              <a:srgbClr val="FFFCE9"/>
            </a:solidFill>
            <a:ln w="47625" cap="sq">
              <a:solidFill>
                <a:srgbClr val="4F2F1E"/>
              </a:solidFill>
              <a:prstDash val="solid"/>
              <a:miter/>
            </a:ln>
          </p:spPr>
        </p:sp>
      </p:grpSp>
      <p:grpSp>
        <p:nvGrpSpPr>
          <p:cNvPr name="Group 9" id="9"/>
          <p:cNvGrpSpPr/>
          <p:nvPr/>
        </p:nvGrpSpPr>
        <p:grpSpPr>
          <a:xfrm rot="0">
            <a:off x="1224915" y="2527935"/>
            <a:ext cx="1253490" cy="1253490"/>
            <a:chOff x="0" y="0"/>
            <a:chExt cx="1671320" cy="1671320"/>
          </a:xfrm>
        </p:grpSpPr>
        <p:sp>
          <p:nvSpPr>
            <p:cNvPr name="Freeform 10" id="10"/>
            <p:cNvSpPr/>
            <p:nvPr/>
          </p:nvSpPr>
          <p:spPr>
            <a:xfrm flipH="false" flipV="false" rot="0">
              <a:off x="0" y="0"/>
              <a:ext cx="1671320" cy="1671320"/>
            </a:xfrm>
            <a:custGeom>
              <a:avLst/>
              <a:gdLst/>
              <a:ahLst/>
              <a:cxnLst/>
              <a:rect r="r" b="b" t="t" l="l"/>
              <a:pathLst>
                <a:path h="1671320" w="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4F2F1E"/>
            </a:solidFill>
            <a:ln w="19050" cap="sq">
              <a:solidFill>
                <a:srgbClr val="0B2545"/>
              </a:solidFill>
              <a:prstDash val="solid"/>
              <a:miter/>
            </a:ln>
          </p:spPr>
        </p:sp>
      </p:grpSp>
      <p:grpSp>
        <p:nvGrpSpPr>
          <p:cNvPr name="Group 11" id="11"/>
          <p:cNvGrpSpPr/>
          <p:nvPr/>
        </p:nvGrpSpPr>
        <p:grpSpPr>
          <a:xfrm rot="0">
            <a:off x="1555394" y="2858414"/>
            <a:ext cx="592531" cy="592531"/>
            <a:chOff x="0" y="0"/>
            <a:chExt cx="790042" cy="790042"/>
          </a:xfrm>
        </p:grpSpPr>
        <p:sp>
          <p:nvSpPr>
            <p:cNvPr name="Freeform 12" id="12" descr="Icono problema 1"/>
            <p:cNvSpPr/>
            <p:nvPr/>
          </p:nvSpPr>
          <p:spPr>
            <a:xfrm flipH="false" flipV="false" rot="0">
              <a:off x="0" y="0"/>
              <a:ext cx="790067" cy="790067"/>
            </a:xfrm>
            <a:custGeom>
              <a:avLst/>
              <a:gdLst/>
              <a:ahLst/>
              <a:cxnLst/>
              <a:rect r="r" b="b" t="t" l="l"/>
              <a:pathLst>
                <a:path h="790067" w="790067">
                  <a:moveTo>
                    <a:pt x="0" y="0"/>
                  </a:moveTo>
                  <a:lnTo>
                    <a:pt x="790067" y="0"/>
                  </a:lnTo>
                  <a:lnTo>
                    <a:pt x="790067" y="790067"/>
                  </a:lnTo>
                  <a:lnTo>
                    <a:pt x="0" y="790067"/>
                  </a:lnTo>
                  <a:lnTo>
                    <a:pt x="0" y="0"/>
                  </a:lnTo>
                  <a:close/>
                </a:path>
              </a:pathLst>
            </a:custGeom>
            <a:blipFill>
              <a:blip r:embed="rId5"/>
              <a:stretch>
                <a:fillRect l="0" t="0" r="3" b="3"/>
              </a:stretch>
            </a:blipFill>
          </p:spPr>
        </p:sp>
      </p:grpSp>
      <p:grpSp>
        <p:nvGrpSpPr>
          <p:cNvPr name="Group 13" id="13"/>
          <p:cNvGrpSpPr/>
          <p:nvPr/>
        </p:nvGrpSpPr>
        <p:grpSpPr>
          <a:xfrm rot="0">
            <a:off x="813435" y="4448175"/>
            <a:ext cx="10306050" cy="2076450"/>
            <a:chOff x="0" y="0"/>
            <a:chExt cx="13741400" cy="2768600"/>
          </a:xfrm>
        </p:grpSpPr>
        <p:sp>
          <p:nvSpPr>
            <p:cNvPr name="Freeform 14" id="14"/>
            <p:cNvSpPr/>
            <p:nvPr/>
          </p:nvSpPr>
          <p:spPr>
            <a:xfrm flipH="false" flipV="false" rot="0">
              <a:off x="0" y="0"/>
              <a:ext cx="13741400" cy="2768600"/>
            </a:xfrm>
            <a:custGeom>
              <a:avLst/>
              <a:gdLst/>
              <a:ahLst/>
              <a:cxnLst/>
              <a:rect r="r" b="b" t="t" l="l"/>
              <a:pathLst>
                <a:path h="2768600" w="13741400">
                  <a:moveTo>
                    <a:pt x="0" y="184531"/>
                  </a:moveTo>
                  <a:cubicBezTo>
                    <a:pt x="0" y="82677"/>
                    <a:pt x="82677" y="0"/>
                    <a:pt x="184531" y="0"/>
                  </a:cubicBezTo>
                  <a:lnTo>
                    <a:pt x="13556869" y="0"/>
                  </a:lnTo>
                  <a:cubicBezTo>
                    <a:pt x="13658850" y="0"/>
                    <a:pt x="13741400" y="82677"/>
                    <a:pt x="13741400" y="184531"/>
                  </a:cubicBezTo>
                  <a:lnTo>
                    <a:pt x="13741400" y="2584069"/>
                  </a:lnTo>
                  <a:cubicBezTo>
                    <a:pt x="13741400" y="2686050"/>
                    <a:pt x="13658723" y="2768600"/>
                    <a:pt x="13556869" y="2768600"/>
                  </a:cubicBezTo>
                  <a:lnTo>
                    <a:pt x="184531" y="2768600"/>
                  </a:lnTo>
                  <a:cubicBezTo>
                    <a:pt x="82677" y="2768600"/>
                    <a:pt x="0" y="2685923"/>
                    <a:pt x="0" y="2584069"/>
                  </a:cubicBezTo>
                  <a:close/>
                </a:path>
              </a:pathLst>
            </a:custGeom>
            <a:solidFill>
              <a:srgbClr val="FFFCE9"/>
            </a:solidFill>
            <a:ln w="47625" cap="sq">
              <a:solidFill>
                <a:srgbClr val="4F2F1E"/>
              </a:solidFill>
              <a:prstDash val="solid"/>
              <a:miter/>
            </a:ln>
          </p:spPr>
        </p:sp>
      </p:grpSp>
      <p:grpSp>
        <p:nvGrpSpPr>
          <p:cNvPr name="Group 15" id="15"/>
          <p:cNvGrpSpPr/>
          <p:nvPr/>
        </p:nvGrpSpPr>
        <p:grpSpPr>
          <a:xfrm rot="0">
            <a:off x="1224915" y="4859655"/>
            <a:ext cx="1253490" cy="1253490"/>
            <a:chOff x="0" y="0"/>
            <a:chExt cx="1671320" cy="1671320"/>
          </a:xfrm>
        </p:grpSpPr>
        <p:sp>
          <p:nvSpPr>
            <p:cNvPr name="Freeform 16" id="16"/>
            <p:cNvSpPr/>
            <p:nvPr/>
          </p:nvSpPr>
          <p:spPr>
            <a:xfrm flipH="false" flipV="false" rot="0">
              <a:off x="0" y="0"/>
              <a:ext cx="1671320" cy="1671320"/>
            </a:xfrm>
            <a:custGeom>
              <a:avLst/>
              <a:gdLst/>
              <a:ahLst/>
              <a:cxnLst/>
              <a:rect r="r" b="b" t="t" l="l"/>
              <a:pathLst>
                <a:path h="1671320" w="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4F2F1E"/>
            </a:solidFill>
            <a:ln w="19050" cap="sq">
              <a:solidFill>
                <a:srgbClr val="0B2545"/>
              </a:solidFill>
              <a:prstDash val="solid"/>
              <a:miter/>
            </a:ln>
          </p:spPr>
        </p:sp>
      </p:grpSp>
      <p:grpSp>
        <p:nvGrpSpPr>
          <p:cNvPr name="Group 17" id="17"/>
          <p:cNvGrpSpPr/>
          <p:nvPr/>
        </p:nvGrpSpPr>
        <p:grpSpPr>
          <a:xfrm rot="0">
            <a:off x="1555394" y="5190134"/>
            <a:ext cx="592531" cy="592531"/>
            <a:chOff x="0" y="0"/>
            <a:chExt cx="790042" cy="790042"/>
          </a:xfrm>
        </p:grpSpPr>
        <p:sp>
          <p:nvSpPr>
            <p:cNvPr name="Freeform 18" id="18" descr="Icono problema 2"/>
            <p:cNvSpPr/>
            <p:nvPr/>
          </p:nvSpPr>
          <p:spPr>
            <a:xfrm flipH="false" flipV="false" rot="0">
              <a:off x="0" y="0"/>
              <a:ext cx="790067" cy="790067"/>
            </a:xfrm>
            <a:custGeom>
              <a:avLst/>
              <a:gdLst/>
              <a:ahLst/>
              <a:cxnLst/>
              <a:rect r="r" b="b" t="t" l="l"/>
              <a:pathLst>
                <a:path h="790067" w="790067">
                  <a:moveTo>
                    <a:pt x="0" y="0"/>
                  </a:moveTo>
                  <a:lnTo>
                    <a:pt x="790067" y="0"/>
                  </a:lnTo>
                  <a:lnTo>
                    <a:pt x="790067" y="790067"/>
                  </a:lnTo>
                  <a:lnTo>
                    <a:pt x="0" y="790067"/>
                  </a:lnTo>
                  <a:lnTo>
                    <a:pt x="0" y="0"/>
                  </a:lnTo>
                  <a:close/>
                </a:path>
              </a:pathLst>
            </a:custGeom>
            <a:blipFill>
              <a:blip r:embed="rId6"/>
              <a:stretch>
                <a:fillRect l="0" t="0" r="3" b="3"/>
              </a:stretch>
            </a:blipFill>
          </p:spPr>
        </p:sp>
      </p:grpSp>
      <p:grpSp>
        <p:nvGrpSpPr>
          <p:cNvPr name="Group 19" id="19"/>
          <p:cNvGrpSpPr/>
          <p:nvPr/>
        </p:nvGrpSpPr>
        <p:grpSpPr>
          <a:xfrm rot="0">
            <a:off x="813435" y="6779895"/>
            <a:ext cx="10306050" cy="2076450"/>
            <a:chOff x="0" y="0"/>
            <a:chExt cx="13741400" cy="2768600"/>
          </a:xfrm>
        </p:grpSpPr>
        <p:sp>
          <p:nvSpPr>
            <p:cNvPr name="Freeform 20" id="20"/>
            <p:cNvSpPr/>
            <p:nvPr/>
          </p:nvSpPr>
          <p:spPr>
            <a:xfrm flipH="false" flipV="false" rot="0">
              <a:off x="0" y="0"/>
              <a:ext cx="13741400" cy="2768600"/>
            </a:xfrm>
            <a:custGeom>
              <a:avLst/>
              <a:gdLst/>
              <a:ahLst/>
              <a:cxnLst/>
              <a:rect r="r" b="b" t="t" l="l"/>
              <a:pathLst>
                <a:path h="2768600" w="13741400">
                  <a:moveTo>
                    <a:pt x="0" y="184531"/>
                  </a:moveTo>
                  <a:cubicBezTo>
                    <a:pt x="0" y="82677"/>
                    <a:pt x="82677" y="0"/>
                    <a:pt x="184531" y="0"/>
                  </a:cubicBezTo>
                  <a:lnTo>
                    <a:pt x="13556869" y="0"/>
                  </a:lnTo>
                  <a:cubicBezTo>
                    <a:pt x="13658850" y="0"/>
                    <a:pt x="13741400" y="82677"/>
                    <a:pt x="13741400" y="184531"/>
                  </a:cubicBezTo>
                  <a:lnTo>
                    <a:pt x="13741400" y="2584069"/>
                  </a:lnTo>
                  <a:cubicBezTo>
                    <a:pt x="13741400" y="2686050"/>
                    <a:pt x="13658723" y="2768600"/>
                    <a:pt x="13556869" y="2768600"/>
                  </a:cubicBezTo>
                  <a:lnTo>
                    <a:pt x="184531" y="2768600"/>
                  </a:lnTo>
                  <a:cubicBezTo>
                    <a:pt x="82677" y="2768600"/>
                    <a:pt x="0" y="2685923"/>
                    <a:pt x="0" y="2584069"/>
                  </a:cubicBezTo>
                  <a:close/>
                </a:path>
              </a:pathLst>
            </a:custGeom>
            <a:solidFill>
              <a:srgbClr val="FFFCE9"/>
            </a:solidFill>
            <a:ln w="47625" cap="sq">
              <a:solidFill>
                <a:srgbClr val="4F2F1E"/>
              </a:solidFill>
              <a:prstDash val="solid"/>
              <a:miter/>
            </a:ln>
          </p:spPr>
        </p:sp>
      </p:grpSp>
      <p:grpSp>
        <p:nvGrpSpPr>
          <p:cNvPr name="Group 21" id="21"/>
          <p:cNvGrpSpPr/>
          <p:nvPr/>
        </p:nvGrpSpPr>
        <p:grpSpPr>
          <a:xfrm rot="0">
            <a:off x="1224915" y="7191375"/>
            <a:ext cx="1253490" cy="1253490"/>
            <a:chOff x="0" y="0"/>
            <a:chExt cx="1671320" cy="1671320"/>
          </a:xfrm>
        </p:grpSpPr>
        <p:sp>
          <p:nvSpPr>
            <p:cNvPr name="Freeform 22" id="22"/>
            <p:cNvSpPr/>
            <p:nvPr/>
          </p:nvSpPr>
          <p:spPr>
            <a:xfrm flipH="false" flipV="false" rot="0">
              <a:off x="0" y="0"/>
              <a:ext cx="1671320" cy="1671320"/>
            </a:xfrm>
            <a:custGeom>
              <a:avLst/>
              <a:gdLst/>
              <a:ahLst/>
              <a:cxnLst/>
              <a:rect r="r" b="b" t="t" l="l"/>
              <a:pathLst>
                <a:path h="1671320" w="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4F2F1E"/>
            </a:solidFill>
            <a:ln w="19050" cap="sq">
              <a:solidFill>
                <a:srgbClr val="0B2545"/>
              </a:solidFill>
              <a:prstDash val="solid"/>
              <a:miter/>
            </a:ln>
          </p:spPr>
        </p:sp>
      </p:grpSp>
      <p:grpSp>
        <p:nvGrpSpPr>
          <p:cNvPr name="Group 23" id="23"/>
          <p:cNvGrpSpPr/>
          <p:nvPr/>
        </p:nvGrpSpPr>
        <p:grpSpPr>
          <a:xfrm rot="0">
            <a:off x="1555394" y="7521854"/>
            <a:ext cx="592531" cy="592531"/>
            <a:chOff x="0" y="0"/>
            <a:chExt cx="790042" cy="790042"/>
          </a:xfrm>
        </p:grpSpPr>
        <p:sp>
          <p:nvSpPr>
            <p:cNvPr name="Freeform 24" id="24" descr="Icono problema 3"/>
            <p:cNvSpPr/>
            <p:nvPr/>
          </p:nvSpPr>
          <p:spPr>
            <a:xfrm flipH="false" flipV="false" rot="0">
              <a:off x="0" y="0"/>
              <a:ext cx="790067" cy="790067"/>
            </a:xfrm>
            <a:custGeom>
              <a:avLst/>
              <a:gdLst/>
              <a:ahLst/>
              <a:cxnLst/>
              <a:rect r="r" b="b" t="t" l="l"/>
              <a:pathLst>
                <a:path h="790067" w="790067">
                  <a:moveTo>
                    <a:pt x="0" y="0"/>
                  </a:moveTo>
                  <a:lnTo>
                    <a:pt x="790067" y="0"/>
                  </a:lnTo>
                  <a:lnTo>
                    <a:pt x="790067" y="790067"/>
                  </a:lnTo>
                  <a:lnTo>
                    <a:pt x="0" y="790067"/>
                  </a:lnTo>
                  <a:lnTo>
                    <a:pt x="0" y="0"/>
                  </a:lnTo>
                  <a:close/>
                </a:path>
              </a:pathLst>
            </a:custGeom>
            <a:blipFill>
              <a:blip r:embed="rId7"/>
              <a:stretch>
                <a:fillRect l="0" t="0" r="3" b="3"/>
              </a:stretch>
            </a:blipFill>
          </p:spPr>
        </p:sp>
      </p:grpSp>
      <p:grpSp>
        <p:nvGrpSpPr>
          <p:cNvPr name="Group 25" id="25"/>
          <p:cNvGrpSpPr/>
          <p:nvPr/>
        </p:nvGrpSpPr>
        <p:grpSpPr>
          <a:xfrm rot="0">
            <a:off x="11649075" y="2116455"/>
            <a:ext cx="5820918" cy="6739890"/>
            <a:chOff x="0" y="0"/>
            <a:chExt cx="7761224" cy="8986520"/>
          </a:xfrm>
        </p:grpSpPr>
        <p:sp>
          <p:nvSpPr>
            <p:cNvPr name="Freeform 26" id="26"/>
            <p:cNvSpPr/>
            <p:nvPr/>
          </p:nvSpPr>
          <p:spPr>
            <a:xfrm flipH="false" flipV="false" rot="0">
              <a:off x="0" y="0"/>
              <a:ext cx="7761224" cy="8986520"/>
            </a:xfrm>
            <a:custGeom>
              <a:avLst/>
              <a:gdLst/>
              <a:ahLst/>
              <a:cxnLst/>
              <a:rect r="r" b="b" t="t" l="l"/>
              <a:pathLst>
                <a:path h="8986520" w="7761224">
                  <a:moveTo>
                    <a:pt x="0" y="183515"/>
                  </a:moveTo>
                  <a:cubicBezTo>
                    <a:pt x="0" y="82169"/>
                    <a:pt x="82169" y="0"/>
                    <a:pt x="183515" y="0"/>
                  </a:cubicBezTo>
                  <a:lnTo>
                    <a:pt x="7577709" y="0"/>
                  </a:lnTo>
                  <a:cubicBezTo>
                    <a:pt x="7679055" y="0"/>
                    <a:pt x="7761224" y="82169"/>
                    <a:pt x="7761224" y="183515"/>
                  </a:cubicBezTo>
                  <a:lnTo>
                    <a:pt x="7761224" y="8803005"/>
                  </a:lnTo>
                  <a:cubicBezTo>
                    <a:pt x="7761224" y="8904351"/>
                    <a:pt x="7679055" y="8986520"/>
                    <a:pt x="7577709" y="8986520"/>
                  </a:cubicBezTo>
                  <a:lnTo>
                    <a:pt x="183515" y="8986520"/>
                  </a:lnTo>
                  <a:cubicBezTo>
                    <a:pt x="82169" y="8986520"/>
                    <a:pt x="0" y="8904351"/>
                    <a:pt x="0" y="8803005"/>
                  </a:cubicBezTo>
                  <a:close/>
                </a:path>
              </a:pathLst>
            </a:custGeom>
            <a:solidFill>
              <a:srgbClr val="FFFCE9"/>
            </a:solidFill>
            <a:ln w="47625" cap="sq">
              <a:solidFill>
                <a:srgbClr val="4F2F1E"/>
              </a:solidFill>
              <a:prstDash val="solid"/>
              <a:miter/>
            </a:ln>
          </p:spPr>
        </p:sp>
      </p:grpSp>
      <p:sp>
        <p:nvSpPr>
          <p:cNvPr name="Freeform 27" id="27"/>
          <p:cNvSpPr/>
          <p:nvPr/>
        </p:nvSpPr>
        <p:spPr>
          <a:xfrm flipH="false" flipV="false" rot="0">
            <a:off x="871328" y="385938"/>
            <a:ext cx="1368134" cy="1197117"/>
          </a:xfrm>
          <a:custGeom>
            <a:avLst/>
            <a:gdLst/>
            <a:ahLst/>
            <a:cxnLst/>
            <a:rect r="r" b="b" t="t" l="l"/>
            <a:pathLst>
              <a:path h="1197117" w="1368134">
                <a:moveTo>
                  <a:pt x="0" y="0"/>
                </a:moveTo>
                <a:lnTo>
                  <a:pt x="1368133" y="0"/>
                </a:lnTo>
                <a:lnTo>
                  <a:pt x="1368133" y="1197117"/>
                </a:lnTo>
                <a:lnTo>
                  <a:pt x="0" y="1197117"/>
                </a:lnTo>
                <a:lnTo>
                  <a:pt x="0" y="0"/>
                </a:lnTo>
                <a:close/>
              </a:path>
            </a:pathLst>
          </a:custGeom>
          <a:blipFill>
            <a:blip r:embed="rId8"/>
            <a:stretch>
              <a:fillRect l="0" t="0" r="0" b="0"/>
            </a:stretch>
          </a:blipFill>
        </p:spPr>
      </p:sp>
      <p:sp>
        <p:nvSpPr>
          <p:cNvPr name="TextBox 28" id="28"/>
          <p:cNvSpPr txBox="true"/>
          <p:nvPr/>
        </p:nvSpPr>
        <p:spPr>
          <a:xfrm rot="0">
            <a:off x="2880360" y="2468880"/>
            <a:ext cx="4826573" cy="409575"/>
          </a:xfrm>
          <a:prstGeom prst="rect">
            <a:avLst/>
          </a:prstGeom>
        </p:spPr>
        <p:txBody>
          <a:bodyPr anchor="t" rtlCol="false" tIns="0" lIns="0" bIns="0" rIns="0">
            <a:spAutoFit/>
          </a:bodyPr>
          <a:lstStyle/>
          <a:p>
            <a:pPr algn="l">
              <a:lnSpc>
                <a:spcPts val="3240"/>
              </a:lnSpc>
            </a:pPr>
            <a:r>
              <a:rPr lang="en-US" b="true" sz="2700">
                <a:solidFill>
                  <a:srgbClr val="4F2F1E"/>
                </a:solidFill>
                <a:latin typeface="HK Grotesk Bold"/>
                <a:ea typeface="HK Grotesk Bold"/>
                <a:cs typeface="HK Grotesk Bold"/>
                <a:sym typeface="HK Grotesk Bold"/>
              </a:rPr>
              <a:t>Plataforma web multiusuario</a:t>
            </a:r>
          </a:p>
        </p:txBody>
      </p:sp>
      <p:sp>
        <p:nvSpPr>
          <p:cNvPr name="TextBox 29" id="29"/>
          <p:cNvSpPr txBox="true"/>
          <p:nvPr/>
        </p:nvSpPr>
        <p:spPr>
          <a:xfrm rot="0">
            <a:off x="2880360" y="3076575"/>
            <a:ext cx="6563600" cy="323850"/>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Responsiva y con control de acceso por rol.</a:t>
            </a:r>
          </a:p>
        </p:txBody>
      </p:sp>
      <p:sp>
        <p:nvSpPr>
          <p:cNvPr name="TextBox 30" id="30"/>
          <p:cNvSpPr txBox="true"/>
          <p:nvPr/>
        </p:nvSpPr>
        <p:spPr>
          <a:xfrm rot="0">
            <a:off x="2880360" y="4800600"/>
            <a:ext cx="7818120" cy="409575"/>
          </a:xfrm>
          <a:prstGeom prst="rect">
            <a:avLst/>
          </a:prstGeom>
        </p:spPr>
        <p:txBody>
          <a:bodyPr anchor="t" rtlCol="false" tIns="0" lIns="0" bIns="0" rIns="0">
            <a:spAutoFit/>
          </a:bodyPr>
          <a:lstStyle/>
          <a:p>
            <a:pPr algn="l">
              <a:lnSpc>
                <a:spcPts val="3240"/>
              </a:lnSpc>
            </a:pPr>
            <a:r>
              <a:rPr lang="en-US" b="true" sz="2700">
                <a:solidFill>
                  <a:srgbClr val="4F2F1E"/>
                </a:solidFill>
                <a:latin typeface="HK Grotesk Bold"/>
                <a:ea typeface="HK Grotesk Bold"/>
                <a:cs typeface="HK Grotesk Bold"/>
                <a:sym typeface="HK Grotesk Bold"/>
              </a:rPr>
              <a:t>Inventario y préstamos</a:t>
            </a:r>
          </a:p>
        </p:txBody>
      </p:sp>
      <p:sp>
        <p:nvSpPr>
          <p:cNvPr name="TextBox 31" id="31"/>
          <p:cNvSpPr txBox="true"/>
          <p:nvPr/>
        </p:nvSpPr>
        <p:spPr>
          <a:xfrm rot="0">
            <a:off x="2880360" y="5408295"/>
            <a:ext cx="656360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Activos, fungibles y contenedores; préstamos, devoluciones y portal docente.</a:t>
            </a:r>
          </a:p>
        </p:txBody>
      </p:sp>
      <p:sp>
        <p:nvSpPr>
          <p:cNvPr name="TextBox 32" id="32"/>
          <p:cNvSpPr txBox="true"/>
          <p:nvPr/>
        </p:nvSpPr>
        <p:spPr>
          <a:xfrm rot="0">
            <a:off x="2880360" y="7132320"/>
            <a:ext cx="7818120" cy="409575"/>
          </a:xfrm>
          <a:prstGeom prst="rect">
            <a:avLst/>
          </a:prstGeom>
        </p:spPr>
        <p:txBody>
          <a:bodyPr anchor="t" rtlCol="false" tIns="0" lIns="0" bIns="0" rIns="0">
            <a:spAutoFit/>
          </a:bodyPr>
          <a:lstStyle/>
          <a:p>
            <a:pPr algn="l">
              <a:lnSpc>
                <a:spcPts val="3240"/>
              </a:lnSpc>
            </a:pPr>
            <a:r>
              <a:rPr lang="en-US" b="true" sz="2700">
                <a:solidFill>
                  <a:srgbClr val="4F2F1E"/>
                </a:solidFill>
                <a:latin typeface="HK Grotesk Bold"/>
                <a:ea typeface="HK Grotesk Bold"/>
                <a:cs typeface="HK Grotesk Bold"/>
                <a:sym typeface="HK Grotesk Bold"/>
              </a:rPr>
              <a:t>Trazabilidad e indicadores</a:t>
            </a:r>
          </a:p>
        </p:txBody>
      </p:sp>
      <p:sp>
        <p:nvSpPr>
          <p:cNvPr name="TextBox 33" id="33"/>
          <p:cNvSpPr txBox="true"/>
          <p:nvPr/>
        </p:nvSpPr>
        <p:spPr>
          <a:xfrm rot="0">
            <a:off x="2880360" y="7740015"/>
            <a:ext cx="656360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Historial por elemento, dashboard y avisos en la app y por correo.</a:t>
            </a:r>
          </a:p>
        </p:txBody>
      </p:sp>
      <p:sp>
        <p:nvSpPr>
          <p:cNvPr name="TextBox 34" id="34"/>
          <p:cNvSpPr txBox="true"/>
          <p:nvPr/>
        </p:nvSpPr>
        <p:spPr>
          <a:xfrm rot="0">
            <a:off x="12070080" y="2468880"/>
            <a:ext cx="5074920" cy="361950"/>
          </a:xfrm>
          <a:prstGeom prst="rect">
            <a:avLst/>
          </a:prstGeom>
        </p:spPr>
        <p:txBody>
          <a:bodyPr anchor="t" rtlCol="false" tIns="0" lIns="0" bIns="0" rIns="0">
            <a:spAutoFit/>
          </a:bodyPr>
          <a:lstStyle/>
          <a:p>
            <a:pPr algn="l">
              <a:lnSpc>
                <a:spcPts val="2879"/>
              </a:lnSpc>
            </a:pPr>
            <a:r>
              <a:rPr lang="en-US" b="true" sz="2400">
                <a:solidFill>
                  <a:srgbClr val="4F2F1E"/>
                </a:solidFill>
                <a:latin typeface="HK Grotesk Bold"/>
                <a:ea typeface="HK Grotesk Bold"/>
                <a:cs typeface="HK Grotesk Bold"/>
                <a:sym typeface="HK Grotesk Bold"/>
              </a:rPr>
              <a:t>Fuera del alcance</a:t>
            </a:r>
          </a:p>
        </p:txBody>
      </p:sp>
      <p:sp>
        <p:nvSpPr>
          <p:cNvPr name="TextBox 35" id="35"/>
          <p:cNvSpPr txBox="true"/>
          <p:nvPr/>
        </p:nvSpPr>
        <p:spPr>
          <a:xfrm rot="0">
            <a:off x="12070080" y="3007995"/>
            <a:ext cx="507492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Hardware de geolocalización (RFID, GPS o beacons), por restricciones de tiempo.</a:t>
            </a:r>
          </a:p>
        </p:txBody>
      </p:sp>
      <p:sp>
        <p:nvSpPr>
          <p:cNvPr name="TextBox 36" id="36"/>
          <p:cNvSpPr txBox="true"/>
          <p:nvPr/>
        </p:nvSpPr>
        <p:spPr>
          <a:xfrm rot="0">
            <a:off x="12070080" y="4526280"/>
            <a:ext cx="5074920" cy="361950"/>
          </a:xfrm>
          <a:prstGeom prst="rect">
            <a:avLst/>
          </a:prstGeom>
        </p:spPr>
        <p:txBody>
          <a:bodyPr anchor="t" rtlCol="false" tIns="0" lIns="0" bIns="0" rIns="0">
            <a:spAutoFit/>
          </a:bodyPr>
          <a:lstStyle/>
          <a:p>
            <a:pPr algn="l">
              <a:lnSpc>
                <a:spcPts val="2879"/>
              </a:lnSpc>
            </a:pPr>
            <a:r>
              <a:rPr lang="en-US" b="true" sz="2400">
                <a:solidFill>
                  <a:srgbClr val="4F2F1E"/>
                </a:solidFill>
                <a:latin typeface="HK Grotesk Bold"/>
                <a:ea typeface="HK Grotesk Bold"/>
                <a:cs typeface="HK Grotesk Bold"/>
                <a:sym typeface="HK Grotesk Bold"/>
              </a:rPr>
              <a:t>Tampoco incluido</a:t>
            </a:r>
          </a:p>
        </p:txBody>
      </p:sp>
      <p:sp>
        <p:nvSpPr>
          <p:cNvPr name="TextBox 37" id="37"/>
          <p:cNvSpPr txBox="true"/>
          <p:nvPr/>
        </p:nvSpPr>
        <p:spPr>
          <a:xfrm rot="0">
            <a:off x="12070080" y="5065395"/>
            <a:ext cx="507492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Integración con el horario académico y varios pañoles independientes.</a:t>
            </a:r>
          </a:p>
        </p:txBody>
      </p:sp>
      <p:sp>
        <p:nvSpPr>
          <p:cNvPr name="TextBox 38" id="38"/>
          <p:cNvSpPr txBox="true"/>
          <p:nvPr/>
        </p:nvSpPr>
        <p:spPr>
          <a:xfrm rot="0">
            <a:off x="12070080" y="6583680"/>
            <a:ext cx="5074920" cy="361950"/>
          </a:xfrm>
          <a:prstGeom prst="rect">
            <a:avLst/>
          </a:prstGeom>
        </p:spPr>
        <p:txBody>
          <a:bodyPr anchor="t" rtlCol="false" tIns="0" lIns="0" bIns="0" rIns="0">
            <a:spAutoFit/>
          </a:bodyPr>
          <a:lstStyle/>
          <a:p>
            <a:pPr algn="l">
              <a:lnSpc>
                <a:spcPts val="2879"/>
              </a:lnSpc>
            </a:pPr>
            <a:r>
              <a:rPr lang="en-US" b="true" sz="2400">
                <a:solidFill>
                  <a:srgbClr val="4F2F1E"/>
                </a:solidFill>
                <a:latin typeface="HK Grotesk Bold"/>
                <a:ea typeface="HK Grotesk Bold"/>
                <a:cs typeface="HK Grotesk Bold"/>
                <a:sym typeface="HK Grotesk Bold"/>
              </a:rPr>
              <a:t>Beneficiarios</a:t>
            </a:r>
          </a:p>
        </p:txBody>
      </p:sp>
      <p:sp>
        <p:nvSpPr>
          <p:cNvPr name="TextBox 39" id="39"/>
          <p:cNvSpPr txBox="true"/>
          <p:nvPr/>
        </p:nvSpPr>
        <p:spPr>
          <a:xfrm rot="0">
            <a:off x="12070080" y="7122795"/>
            <a:ext cx="507492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Encargados de bodega, docentes, estudiantes y personal institucional.</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3111102" y="248956"/>
            <a:ext cx="12446795" cy="1234440"/>
            <a:chOff x="0" y="0"/>
            <a:chExt cx="16595727" cy="1645920"/>
          </a:xfrm>
        </p:grpSpPr>
        <p:sp>
          <p:nvSpPr>
            <p:cNvPr name="Freeform 5" id="5"/>
            <p:cNvSpPr/>
            <p:nvPr/>
          </p:nvSpPr>
          <p:spPr>
            <a:xfrm flipH="false" flipV="false" rot="0">
              <a:off x="0" y="0"/>
              <a:ext cx="16595728" cy="1645920"/>
            </a:xfrm>
            <a:custGeom>
              <a:avLst/>
              <a:gdLst/>
              <a:ahLst/>
              <a:cxnLst/>
              <a:rect r="r" b="b" t="t" l="l"/>
              <a:pathLst>
                <a:path h="1645920" w="16595728">
                  <a:moveTo>
                    <a:pt x="0" y="0"/>
                  </a:moveTo>
                  <a:lnTo>
                    <a:pt x="16595728" y="0"/>
                  </a:lnTo>
                  <a:lnTo>
                    <a:pt x="16595728" y="1645920"/>
                  </a:lnTo>
                  <a:lnTo>
                    <a:pt x="0" y="1645920"/>
                  </a:lnTo>
                  <a:close/>
                </a:path>
              </a:pathLst>
            </a:custGeom>
            <a:blipFill>
              <a:blip r:embed="rId4">
                <a:alphaModFix amt="0"/>
              </a:blip>
              <a:stretch>
                <a:fillRect l="0" t="-211965" r="-33338" b="-211965"/>
              </a:stretch>
            </a:blipFill>
          </p:spPr>
        </p:sp>
        <p:sp>
          <p:nvSpPr>
            <p:cNvPr name="TextBox 6" id="6"/>
            <p:cNvSpPr txBox="true"/>
            <p:nvPr/>
          </p:nvSpPr>
          <p:spPr>
            <a:xfrm>
              <a:off x="0" y="0"/>
              <a:ext cx="16595727" cy="1645920"/>
            </a:xfrm>
            <a:prstGeom prst="rect">
              <a:avLst/>
            </a:prstGeom>
          </p:spPr>
          <p:txBody>
            <a:bodyPr anchor="ctr" rtlCol="false" tIns="0" lIns="0" bIns="0" rIns="0"/>
            <a:lstStyle/>
            <a:p>
              <a:pPr algn="ctr">
                <a:lnSpc>
                  <a:spcPts val="5759"/>
                </a:lnSpc>
              </a:pPr>
              <a:r>
                <a:rPr lang="en-US" b="true" sz="4800">
                  <a:solidFill>
                    <a:srgbClr val="4F2F1E"/>
                  </a:solidFill>
                  <a:latin typeface="HK Grotesk Bold"/>
                  <a:ea typeface="HK Grotesk Bold"/>
                  <a:cs typeface="HK Grotesk Bold"/>
                  <a:sym typeface="HK Grotesk Bold"/>
                </a:rPr>
                <a:t>Objetivos y estado de cumplimiento</a:t>
              </a:r>
            </a:p>
          </p:txBody>
        </p:sp>
      </p:grpSp>
      <p:graphicFrame>
        <p:nvGraphicFramePr>
          <p:cNvPr name="Table 7" id="7"/>
          <p:cNvGraphicFramePr>
            <a:graphicFrameLocks noGrp="true"/>
          </p:cNvGraphicFramePr>
          <p:nvPr/>
        </p:nvGraphicFramePr>
        <p:xfrm>
          <a:off x="807720" y="3324225"/>
          <a:ext cx="16611600" cy="5876925"/>
        </p:xfrm>
        <a:graphic>
          <a:graphicData uri="http://schemas.openxmlformats.org/drawingml/2006/table">
            <a:tbl>
              <a:tblPr/>
              <a:tblGrid>
                <a:gridCol w="4524450"/>
                <a:gridCol w="7930560"/>
                <a:gridCol w="4156590"/>
              </a:tblGrid>
              <a:tr h="745366">
                <a:tc>
                  <a:txBody>
                    <a:bodyPr anchor="t" rtlCol="false"/>
                    <a:lstStyle/>
                    <a:p>
                      <a:pPr algn="l">
                        <a:lnSpc>
                          <a:spcPts val="2999"/>
                        </a:lnSpc>
                        <a:defRPr/>
                      </a:pPr>
                      <a:r>
                        <a:rPr lang="en-US" sz="2499" b="true">
                          <a:solidFill>
                            <a:srgbClr val="FFFFFF"/>
                          </a:solidFill>
                          <a:latin typeface="HK Grotesk Bold"/>
                          <a:ea typeface="HK Grotesk Bold"/>
                          <a:cs typeface="HK Grotesk Bold"/>
                          <a:sym typeface="HK Grotesk Bold"/>
                        </a:rPr>
                        <a:t>Objetivo específico</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4F2F1E"/>
                    </a:solidFill>
                  </a:tcPr>
                </a:tc>
                <a:tc>
                  <a:txBody>
                    <a:bodyPr anchor="t" rtlCol="false"/>
                    <a:lstStyle/>
                    <a:p>
                      <a:pPr algn="l">
                        <a:lnSpc>
                          <a:spcPts val="2999"/>
                        </a:lnSpc>
                        <a:defRPr/>
                      </a:pPr>
                      <a:r>
                        <a:rPr lang="en-US" sz="2499" b="true">
                          <a:solidFill>
                            <a:srgbClr val="FFFFFF"/>
                          </a:solidFill>
                          <a:latin typeface="HK Grotesk Bold"/>
                          <a:ea typeface="HK Grotesk Bold"/>
                          <a:cs typeface="HK Grotesk Bold"/>
                          <a:sym typeface="HK Grotesk Bold"/>
                        </a:rPr>
                        <a:t>Evidencia</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4F2F1E"/>
                    </a:solidFill>
                  </a:tcPr>
                </a:tc>
                <a:tc>
                  <a:txBody>
                    <a:bodyPr anchor="t" rtlCol="false"/>
                    <a:lstStyle/>
                    <a:p>
                      <a:pPr algn="l">
                        <a:lnSpc>
                          <a:spcPts val="2999"/>
                        </a:lnSpc>
                        <a:defRPr/>
                      </a:pPr>
                      <a:r>
                        <a:rPr lang="en-US" sz="2499" b="true">
                          <a:solidFill>
                            <a:srgbClr val="FFFFFF"/>
                          </a:solidFill>
                          <a:latin typeface="HK Grotesk Bold"/>
                          <a:ea typeface="HK Grotesk Bold"/>
                          <a:cs typeface="HK Grotesk Bold"/>
                          <a:sym typeface="HK Grotesk Bold"/>
                        </a:rPr>
                        <a:t>Estado</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4F2F1E"/>
                    </a:solidFill>
                  </a:tcPr>
                </a:tc>
              </a:tr>
              <a:tr h="984265">
                <a:tc>
                  <a:txBody>
                    <a:bodyPr anchor="t" rtlCol="false"/>
                    <a:lstStyle/>
                    <a:p>
                      <a:pPr algn="l">
                        <a:lnSpc>
                          <a:spcPts val="2520"/>
                        </a:lnSpc>
                        <a:defRPr/>
                      </a:pPr>
                      <a:r>
                        <a:rPr lang="en-US" b="true" sz="2100">
                          <a:solidFill>
                            <a:srgbClr val="4F2F1E"/>
                          </a:solidFill>
                          <a:latin typeface="HK Grotesk Bold"/>
                          <a:ea typeface="HK Grotesk Bold"/>
                          <a:cs typeface="HK Grotesk Bold"/>
                          <a:sym typeface="HK Grotesk Bold"/>
                        </a:rPr>
                        <a:t>1. Registro de ingreso y egreso</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l">
                        <a:lnSpc>
                          <a:spcPts val="2520"/>
                        </a:lnSpc>
                        <a:defRPr/>
                      </a:pPr>
                      <a:r>
                        <a:rPr lang="en-US" sz="2100">
                          <a:solidFill>
                            <a:srgbClr val="4F2F1E"/>
                          </a:solidFill>
                          <a:latin typeface="HK Grotesk"/>
                          <a:ea typeface="HK Grotesk"/>
                          <a:cs typeface="HK Grotesk"/>
                          <a:sym typeface="HK Grotesk"/>
                        </a:rPr>
                        <a:t>Alta desde un formulario único, inventario con filtros, movimientos de stock e historial</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879"/>
                        </a:lnSpc>
                        <a:defRPr/>
                      </a:pPr>
                      <a:r>
                        <a:rPr lang="en-US" sz="2399" b="true">
                          <a:solidFill>
                            <a:srgbClr val="2E7D6B"/>
                          </a:solidFill>
                          <a:latin typeface="HK Grotesk Bold"/>
                          <a:ea typeface="HK Grotesk Bold"/>
                          <a:cs typeface="HK Grotesk Bold"/>
                          <a:sym typeface="HK Grotesk Bold"/>
                        </a:rPr>
                        <a:t>Logrado</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r>
              <a:tr h="984265">
                <a:tc>
                  <a:txBody>
                    <a:bodyPr anchor="t" rtlCol="false"/>
                    <a:lstStyle/>
                    <a:p>
                      <a:pPr algn="l">
                        <a:lnSpc>
                          <a:spcPts val="2520"/>
                        </a:lnSpc>
                        <a:defRPr/>
                      </a:pPr>
                      <a:r>
                        <a:rPr lang="en-US" b="true" sz="2100">
                          <a:solidFill>
                            <a:srgbClr val="4F2F1E"/>
                          </a:solidFill>
                          <a:latin typeface="HK Grotesk Bold"/>
                          <a:ea typeface="HK Grotesk Bold"/>
                          <a:cs typeface="HK Grotesk Bold"/>
                          <a:sym typeface="HK Grotesk Bold"/>
                        </a:rPr>
                        <a:t>2. Préstamos y devoluciones</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l">
                        <a:lnSpc>
                          <a:spcPts val="2520"/>
                        </a:lnSpc>
                        <a:defRPr/>
                      </a:pPr>
                      <a:r>
                        <a:rPr lang="en-US" sz="2100">
                          <a:solidFill>
                            <a:srgbClr val="4F2F1E"/>
                          </a:solidFill>
                          <a:latin typeface="HK Grotesk"/>
                          <a:ea typeface="HK Grotesk"/>
                          <a:cs typeface="HK Grotesk"/>
                          <a:sym typeface="HK Grotesk"/>
                        </a:rPr>
                        <a:t>Préstamos de activos y fungibles, portal docente, entrega parcial y devolución en dos pasos</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879"/>
                        </a:lnSpc>
                        <a:defRPr/>
                      </a:pPr>
                      <a:r>
                        <a:rPr lang="en-US" sz="2399" b="true">
                          <a:solidFill>
                            <a:srgbClr val="2E7D6B"/>
                          </a:solidFill>
                          <a:latin typeface="HK Grotesk Bold"/>
                          <a:ea typeface="HK Grotesk Bold"/>
                          <a:cs typeface="HK Grotesk Bold"/>
                          <a:sym typeface="HK Grotesk Bold"/>
                        </a:rPr>
                        <a:t>Logrado</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r>
              <a:tr h="1089381">
                <a:tc>
                  <a:txBody>
                    <a:bodyPr anchor="t" rtlCol="false"/>
                    <a:lstStyle/>
                    <a:p>
                      <a:pPr algn="l">
                        <a:lnSpc>
                          <a:spcPts val="2520"/>
                        </a:lnSpc>
                        <a:defRPr/>
                      </a:pPr>
                      <a:r>
                        <a:rPr lang="en-US" b="true" sz="2100">
                          <a:solidFill>
                            <a:srgbClr val="4F2F1E"/>
                          </a:solidFill>
                          <a:latin typeface="HK Grotesk Bold"/>
                          <a:ea typeface="HK Grotesk Bold"/>
                          <a:cs typeface="HK Grotesk Bold"/>
                          <a:sym typeface="HK Grotesk Bold"/>
                        </a:rPr>
                        <a:t>3. Control de acceso por roles</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l">
                        <a:lnSpc>
                          <a:spcPts val="2520"/>
                        </a:lnSpc>
                        <a:defRPr/>
                      </a:pPr>
                      <a:r>
                        <a:rPr lang="en-US" sz="2100">
                          <a:solidFill>
                            <a:srgbClr val="4F2F1E"/>
                          </a:solidFill>
                          <a:latin typeface="HK Grotesk"/>
                          <a:ea typeface="HK Grotesk"/>
                          <a:cs typeface="HK Grotesk"/>
                          <a:sym typeface="HK Grotesk"/>
                        </a:rPr>
                        <a:t>Roles como grupos de Django con módulos asignados a cada grupo</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879"/>
                        </a:lnSpc>
                        <a:defRPr/>
                      </a:pPr>
                      <a:r>
                        <a:rPr lang="en-US" sz="2399" b="true">
                          <a:solidFill>
                            <a:srgbClr val="2E7D6B"/>
                          </a:solidFill>
                          <a:latin typeface="HK Grotesk Bold"/>
                          <a:ea typeface="HK Grotesk Bold"/>
                          <a:cs typeface="HK Grotesk Bold"/>
                          <a:sym typeface="HK Grotesk Bold"/>
                        </a:rPr>
                        <a:t>Logrado, aunque falta cerrar la matriz de permisos</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r>
              <a:tr h="984265">
                <a:tc>
                  <a:txBody>
                    <a:bodyPr anchor="t" rtlCol="false"/>
                    <a:lstStyle/>
                    <a:p>
                      <a:pPr algn="l">
                        <a:lnSpc>
                          <a:spcPts val="2520"/>
                        </a:lnSpc>
                        <a:defRPr/>
                      </a:pPr>
                      <a:r>
                        <a:rPr lang="en-US" b="true" sz="2100">
                          <a:solidFill>
                            <a:srgbClr val="4F2F1E"/>
                          </a:solidFill>
                          <a:latin typeface="HK Grotesk Bold"/>
                          <a:ea typeface="HK Grotesk Bold"/>
                          <a:cs typeface="HK Grotesk Bold"/>
                          <a:sym typeface="HK Grotesk Bold"/>
                        </a:rPr>
                        <a:t>4. Alertas automáticas</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l">
                        <a:lnSpc>
                          <a:spcPts val="2520"/>
                        </a:lnSpc>
                        <a:defRPr/>
                      </a:pPr>
                      <a:r>
                        <a:rPr lang="en-US" sz="2100">
                          <a:solidFill>
                            <a:srgbClr val="4F2F1E"/>
                          </a:solidFill>
                          <a:latin typeface="HK Grotesk"/>
                          <a:ea typeface="HK Grotesk"/>
                          <a:cs typeface="HK Grotesk"/>
                          <a:sym typeface="HK Grotesk"/>
                        </a:rPr>
                        <a:t>Avisos en la aplicación y por correo ante daño, pérdida y préstamos atrasados</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879"/>
                        </a:lnSpc>
                        <a:defRPr/>
                      </a:pPr>
                      <a:r>
                        <a:rPr lang="en-US" sz="2399" b="true">
                          <a:solidFill>
                            <a:srgbClr val="2E7D6B"/>
                          </a:solidFill>
                          <a:latin typeface="HK Grotesk Bold"/>
                          <a:ea typeface="HK Grotesk Bold"/>
                          <a:cs typeface="HK Grotesk Bold"/>
                          <a:sym typeface="HK Grotesk Bold"/>
                        </a:rPr>
                        <a:t>Logrado</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r>
              <a:tr h="1089381">
                <a:tc>
                  <a:txBody>
                    <a:bodyPr anchor="t" rtlCol="false"/>
                    <a:lstStyle/>
                    <a:p>
                      <a:pPr algn="l">
                        <a:lnSpc>
                          <a:spcPts val="2520"/>
                        </a:lnSpc>
                        <a:defRPr/>
                      </a:pPr>
                      <a:r>
                        <a:rPr lang="en-US" b="true" sz="2100">
                          <a:solidFill>
                            <a:srgbClr val="4F2F1E"/>
                          </a:solidFill>
                          <a:latin typeface="HK Grotesk Bold"/>
                          <a:ea typeface="HK Grotesk Bold"/>
                          <a:cs typeface="HK Grotesk Bold"/>
                          <a:sym typeface="HK Grotesk Bold"/>
                        </a:rPr>
                        <a:t>5. Dashboard de indicadores</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l">
                        <a:lnSpc>
                          <a:spcPts val="2520"/>
                        </a:lnSpc>
                        <a:defRPr/>
                      </a:pPr>
                      <a:r>
                        <a:rPr lang="en-US" sz="2100">
                          <a:solidFill>
                            <a:srgbClr val="4F2F1E"/>
                          </a:solidFill>
                          <a:latin typeface="HK Grotesk"/>
                          <a:ea typeface="HK Grotesk"/>
                          <a:cs typeface="HK Grotesk"/>
                          <a:sym typeface="HK Grotesk"/>
                        </a:rPr>
                        <a:t>Indicadores, materiales más usados e historial exportable a Excel</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879"/>
                        </a:lnSpc>
                        <a:defRPr/>
                      </a:pPr>
                      <a:r>
                        <a:rPr lang="en-US" sz="2399" b="true">
                          <a:solidFill>
                            <a:srgbClr val="2E7D6B"/>
                          </a:solidFill>
                          <a:latin typeface="HK Grotesk Bold"/>
                          <a:ea typeface="HK Grotesk Bold"/>
                          <a:cs typeface="HK Grotesk Bold"/>
                          <a:sym typeface="HK Grotesk Bold"/>
                        </a:rPr>
                        <a:t>Logrado, el selector de fechas fue Won't have</a:t>
                      </a:r>
                      <a:endParaRPr lang="en-US" sz="1100"/>
                    </a:p>
                  </a:txBody>
                  <a:tcPr marL="109728" marR="109728" marT="109728" marB="109728"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r>
            </a:tbl>
          </a:graphicData>
        </a:graphic>
      </p:graphicFrame>
      <p:grpSp>
        <p:nvGrpSpPr>
          <p:cNvPr name="Group 8" id="8"/>
          <p:cNvGrpSpPr/>
          <p:nvPr/>
        </p:nvGrpSpPr>
        <p:grpSpPr>
          <a:xfrm rot="0">
            <a:off x="636298" y="1888858"/>
            <a:ext cx="17015403" cy="1192122"/>
            <a:chOff x="0" y="0"/>
            <a:chExt cx="22623375" cy="1585024"/>
          </a:xfrm>
        </p:grpSpPr>
        <p:sp>
          <p:nvSpPr>
            <p:cNvPr name="Freeform 9" id="9"/>
            <p:cNvSpPr/>
            <p:nvPr/>
          </p:nvSpPr>
          <p:spPr>
            <a:xfrm flipH="false" flipV="false" rot="0">
              <a:off x="0" y="0"/>
              <a:ext cx="22623376" cy="1585024"/>
            </a:xfrm>
            <a:custGeom>
              <a:avLst/>
              <a:gdLst/>
              <a:ahLst/>
              <a:cxnLst/>
              <a:rect r="r" b="b" t="t" l="l"/>
              <a:pathLst>
                <a:path h="1585024" w="22623376">
                  <a:moveTo>
                    <a:pt x="0" y="105644"/>
                  </a:moveTo>
                  <a:cubicBezTo>
                    <a:pt x="0" y="47333"/>
                    <a:pt x="136117" y="0"/>
                    <a:pt x="303806" y="0"/>
                  </a:cubicBezTo>
                  <a:lnTo>
                    <a:pt x="22319569" y="0"/>
                  </a:lnTo>
                  <a:cubicBezTo>
                    <a:pt x="22487468" y="0"/>
                    <a:pt x="22623376" y="47333"/>
                    <a:pt x="22623376" y="105644"/>
                  </a:cubicBezTo>
                  <a:lnTo>
                    <a:pt x="22623376" y="1479380"/>
                  </a:lnTo>
                  <a:cubicBezTo>
                    <a:pt x="22623376" y="1537764"/>
                    <a:pt x="22487258" y="1585024"/>
                    <a:pt x="22319569" y="1585024"/>
                  </a:cubicBezTo>
                  <a:lnTo>
                    <a:pt x="303806" y="1585024"/>
                  </a:lnTo>
                  <a:cubicBezTo>
                    <a:pt x="136117" y="1585024"/>
                    <a:pt x="0" y="1537692"/>
                    <a:pt x="0" y="1479380"/>
                  </a:cubicBezTo>
                  <a:close/>
                </a:path>
              </a:pathLst>
            </a:custGeom>
            <a:solidFill>
              <a:srgbClr val="FFFCE9"/>
            </a:solidFill>
            <a:ln w="47625" cap="sq">
              <a:solidFill>
                <a:srgbClr val="4F2F1E"/>
              </a:solidFill>
              <a:prstDash val="solid"/>
              <a:miter/>
            </a:ln>
          </p:spPr>
        </p:sp>
      </p:grpSp>
      <p:grpSp>
        <p:nvGrpSpPr>
          <p:cNvPr name="Group 10" id="10"/>
          <p:cNvGrpSpPr/>
          <p:nvPr/>
        </p:nvGrpSpPr>
        <p:grpSpPr>
          <a:xfrm rot="0">
            <a:off x="838200" y="1973487"/>
            <a:ext cx="16881164" cy="1022864"/>
            <a:chOff x="0" y="0"/>
            <a:chExt cx="22508218" cy="1363819"/>
          </a:xfrm>
        </p:grpSpPr>
        <p:sp>
          <p:nvSpPr>
            <p:cNvPr name="Freeform 11" id="11"/>
            <p:cNvSpPr/>
            <p:nvPr/>
          </p:nvSpPr>
          <p:spPr>
            <a:xfrm flipH="false" flipV="false" rot="0">
              <a:off x="0" y="0"/>
              <a:ext cx="22508218" cy="1363819"/>
            </a:xfrm>
            <a:custGeom>
              <a:avLst/>
              <a:gdLst/>
              <a:ahLst/>
              <a:cxnLst/>
              <a:rect r="r" b="b" t="t" l="l"/>
              <a:pathLst>
                <a:path h="1363819" w="22508218">
                  <a:moveTo>
                    <a:pt x="0" y="0"/>
                  </a:moveTo>
                  <a:lnTo>
                    <a:pt x="22508218" y="0"/>
                  </a:lnTo>
                  <a:lnTo>
                    <a:pt x="22508218" y="1363819"/>
                  </a:lnTo>
                  <a:lnTo>
                    <a:pt x="0" y="1363819"/>
                  </a:lnTo>
                  <a:close/>
                </a:path>
              </a:pathLst>
            </a:custGeom>
            <a:blipFill>
              <a:blip r:embed="rId4">
                <a:alphaModFix amt="0"/>
              </a:blip>
              <a:stretch>
                <a:fillRect l="0" t="-243485" r="6562" b="-257465"/>
              </a:stretch>
            </a:blipFill>
          </p:spPr>
        </p:sp>
        <p:sp>
          <p:nvSpPr>
            <p:cNvPr name="TextBox 12" id="12"/>
            <p:cNvSpPr txBox="true"/>
            <p:nvPr/>
          </p:nvSpPr>
          <p:spPr>
            <a:xfrm>
              <a:off x="0" y="0"/>
              <a:ext cx="22508218" cy="1363819"/>
            </a:xfrm>
            <a:prstGeom prst="rect">
              <a:avLst/>
            </a:prstGeom>
          </p:spPr>
          <p:txBody>
            <a:bodyPr anchor="ctr" rtlCol="false" tIns="0" lIns="0" bIns="0" rIns="0"/>
            <a:lstStyle/>
            <a:p>
              <a:pPr algn="l" marL="0" indent="0" lvl="0">
                <a:lnSpc>
                  <a:spcPts val="3239"/>
                </a:lnSpc>
                <a:spcBef>
                  <a:spcPct val="0"/>
                </a:spcBef>
              </a:pPr>
              <a:r>
                <a:rPr lang="en-US" b="true" sz="2699" strike="noStrike" u="none">
                  <a:solidFill>
                    <a:srgbClr val="4F2F1E"/>
                  </a:solidFill>
                  <a:latin typeface="HK Grotesk Bold"/>
                  <a:ea typeface="HK Grotesk Bold"/>
                  <a:cs typeface="HK Grotesk Bold"/>
                  <a:sym typeface="HK Grotesk Bold"/>
                </a:rPr>
                <a:t>Objetivo general: desarrollar un sistema web multiusuario de control de inventario y préstamos para el pañol de Duoc UC San Bernardo, que reemplace el registro manual vigente y entregue trazabilidad por elemento.</a:t>
              </a:r>
            </a:p>
          </p:txBody>
        </p:sp>
      </p:grpSp>
      <p:sp>
        <p:nvSpPr>
          <p:cNvPr name="Freeform 13" id="13"/>
          <p:cNvSpPr/>
          <p:nvPr/>
        </p:nvSpPr>
        <p:spPr>
          <a:xfrm flipH="false" flipV="false" rot="0">
            <a:off x="1028700" y="248956"/>
            <a:ext cx="1218649" cy="1310376"/>
          </a:xfrm>
          <a:custGeom>
            <a:avLst/>
            <a:gdLst/>
            <a:ahLst/>
            <a:cxnLst/>
            <a:rect r="r" b="b" t="t" l="l"/>
            <a:pathLst>
              <a:path h="1310376" w="1218649">
                <a:moveTo>
                  <a:pt x="0" y="0"/>
                </a:moveTo>
                <a:lnTo>
                  <a:pt x="1218649" y="0"/>
                </a:lnTo>
                <a:lnTo>
                  <a:pt x="1218649" y="1310376"/>
                </a:lnTo>
                <a:lnTo>
                  <a:pt x="0" y="1310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6392110" y="124988"/>
            <a:ext cx="867190" cy="1482375"/>
          </a:xfrm>
          <a:custGeom>
            <a:avLst/>
            <a:gdLst/>
            <a:ahLst/>
            <a:cxnLst/>
            <a:rect r="r" b="b" t="t" l="l"/>
            <a:pathLst>
              <a:path h="1482375" w="867190">
                <a:moveTo>
                  <a:pt x="0" y="0"/>
                </a:moveTo>
                <a:lnTo>
                  <a:pt x="867190" y="0"/>
                </a:lnTo>
                <a:lnTo>
                  <a:pt x="867190" y="1482375"/>
                </a:lnTo>
                <a:lnTo>
                  <a:pt x="0" y="14823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4226654" y="411480"/>
            <a:ext cx="9860555" cy="1234440"/>
            <a:chOff x="0" y="0"/>
            <a:chExt cx="13147407" cy="1645920"/>
          </a:xfrm>
        </p:grpSpPr>
        <p:sp>
          <p:nvSpPr>
            <p:cNvPr name="Freeform 5" id="5"/>
            <p:cNvSpPr/>
            <p:nvPr/>
          </p:nvSpPr>
          <p:spPr>
            <a:xfrm flipH="false" flipV="false" rot="0">
              <a:off x="0" y="0"/>
              <a:ext cx="13147407" cy="1645920"/>
            </a:xfrm>
            <a:custGeom>
              <a:avLst/>
              <a:gdLst/>
              <a:ahLst/>
              <a:cxnLst/>
              <a:rect r="r" b="b" t="t" l="l"/>
              <a:pathLst>
                <a:path h="1645920" w="13147407">
                  <a:moveTo>
                    <a:pt x="0" y="0"/>
                  </a:moveTo>
                  <a:lnTo>
                    <a:pt x="13147407" y="0"/>
                  </a:lnTo>
                  <a:lnTo>
                    <a:pt x="13147407" y="1645920"/>
                  </a:lnTo>
                  <a:lnTo>
                    <a:pt x="0" y="1645920"/>
                  </a:lnTo>
                  <a:close/>
                </a:path>
              </a:pathLst>
            </a:custGeom>
            <a:blipFill>
              <a:blip r:embed="rId4">
                <a:alphaModFix amt="0"/>
              </a:blip>
              <a:stretch>
                <a:fillRect l="0" t="-211965" r="-68310" b="-211965"/>
              </a:stretch>
            </a:blipFill>
          </p:spPr>
        </p:sp>
        <p:sp>
          <p:nvSpPr>
            <p:cNvPr name="TextBox 6" id="6"/>
            <p:cNvSpPr txBox="true"/>
            <p:nvPr/>
          </p:nvSpPr>
          <p:spPr>
            <a:xfrm>
              <a:off x="0" y="0"/>
              <a:ext cx="13147407" cy="1645920"/>
            </a:xfrm>
            <a:prstGeom prst="rect">
              <a:avLst/>
            </a:prstGeom>
          </p:spPr>
          <p:txBody>
            <a:bodyPr anchor="ctr" rtlCol="false" tIns="0" lIns="0" bIns="0" rIns="0"/>
            <a:lstStyle/>
            <a:p>
              <a:pPr algn="l" marL="0" indent="0" lvl="0">
                <a:lnSpc>
                  <a:spcPts val="5759"/>
                </a:lnSpc>
                <a:spcBef>
                  <a:spcPct val="0"/>
                </a:spcBef>
              </a:pPr>
              <a:r>
                <a:rPr lang="en-US" b="true" sz="4800" strike="noStrike" u="none">
                  <a:solidFill>
                    <a:srgbClr val="4F2F1E"/>
                  </a:solidFill>
                  <a:latin typeface="HK Grotesk Bold"/>
                  <a:ea typeface="HK Grotesk Bold"/>
                  <a:cs typeface="HK Grotesk Bold"/>
                  <a:sym typeface="HK Grotesk Bold"/>
                </a:rPr>
                <a:t>Comparación entre 5 metodologías</a:t>
              </a:r>
            </a:p>
          </p:txBody>
        </p:sp>
      </p:grpSp>
      <p:grpSp>
        <p:nvGrpSpPr>
          <p:cNvPr name="Group 7" id="7"/>
          <p:cNvGrpSpPr/>
          <p:nvPr/>
        </p:nvGrpSpPr>
        <p:grpSpPr>
          <a:xfrm rot="0">
            <a:off x="4907418" y="8064179"/>
            <a:ext cx="10730657" cy="1729045"/>
            <a:chOff x="0" y="0"/>
            <a:chExt cx="14307542" cy="2305393"/>
          </a:xfrm>
        </p:grpSpPr>
        <p:sp>
          <p:nvSpPr>
            <p:cNvPr name="Freeform 8" id="8"/>
            <p:cNvSpPr/>
            <p:nvPr/>
          </p:nvSpPr>
          <p:spPr>
            <a:xfrm flipH="false" flipV="false" rot="0">
              <a:off x="0" y="0"/>
              <a:ext cx="14307542" cy="2305393"/>
            </a:xfrm>
            <a:custGeom>
              <a:avLst/>
              <a:gdLst/>
              <a:ahLst/>
              <a:cxnLst/>
              <a:rect r="r" b="b" t="t" l="l"/>
              <a:pathLst>
                <a:path h="2305393" w="14307542">
                  <a:moveTo>
                    <a:pt x="0" y="153658"/>
                  </a:moveTo>
                  <a:cubicBezTo>
                    <a:pt x="0" y="68845"/>
                    <a:pt x="86083" y="0"/>
                    <a:pt x="192134" y="0"/>
                  </a:cubicBezTo>
                  <a:lnTo>
                    <a:pt x="14115408" y="0"/>
                  </a:lnTo>
                  <a:cubicBezTo>
                    <a:pt x="14221591" y="0"/>
                    <a:pt x="14307542" y="68845"/>
                    <a:pt x="14307542" y="153658"/>
                  </a:cubicBezTo>
                  <a:lnTo>
                    <a:pt x="14307542" y="2151735"/>
                  </a:lnTo>
                  <a:cubicBezTo>
                    <a:pt x="14307542" y="2236654"/>
                    <a:pt x="14221459" y="2305393"/>
                    <a:pt x="14115408" y="2305393"/>
                  </a:cubicBezTo>
                  <a:lnTo>
                    <a:pt x="192134" y="2305393"/>
                  </a:lnTo>
                  <a:cubicBezTo>
                    <a:pt x="86083" y="2305393"/>
                    <a:pt x="0" y="2236548"/>
                    <a:pt x="0" y="2151735"/>
                  </a:cubicBezTo>
                  <a:close/>
                </a:path>
              </a:pathLst>
            </a:custGeom>
            <a:solidFill>
              <a:srgbClr val="FFFCE9"/>
            </a:solidFill>
            <a:ln w="47625" cap="sq">
              <a:solidFill>
                <a:srgbClr val="4F2F1E"/>
              </a:solidFill>
              <a:prstDash val="solid"/>
              <a:miter/>
            </a:ln>
          </p:spPr>
        </p:sp>
      </p:grpSp>
      <p:graphicFrame>
        <p:nvGraphicFramePr>
          <p:cNvPr name="Table 9" id="9"/>
          <p:cNvGraphicFramePr>
            <a:graphicFrameLocks noGrp="true"/>
          </p:cNvGraphicFramePr>
          <p:nvPr/>
        </p:nvGraphicFramePr>
        <p:xfrm>
          <a:off x="822960" y="2029478"/>
          <a:ext cx="16667944" cy="5553876"/>
        </p:xfrm>
        <a:graphic>
          <a:graphicData uri="http://schemas.openxmlformats.org/drawingml/2006/table">
            <a:tbl>
              <a:tblPr/>
              <a:tblGrid>
                <a:gridCol w="4506319"/>
                <a:gridCol w="2452485"/>
                <a:gridCol w="2452485"/>
                <a:gridCol w="2452485"/>
                <a:gridCol w="2428539"/>
                <a:gridCol w="2375630"/>
              </a:tblGrid>
              <a:tr h="929219">
                <a:tc>
                  <a:txBody>
                    <a:bodyPr anchor="t" rtlCol="false"/>
                    <a:lstStyle/>
                    <a:p>
                      <a:pPr algn="l">
                        <a:lnSpc>
                          <a:spcPts val="2520"/>
                        </a:lnSpc>
                        <a:defRPr/>
                      </a:pPr>
                      <a:r>
                        <a:rPr lang="en-US" sz="2100" b="true">
                          <a:solidFill>
                            <a:srgbClr val="FFFFFF"/>
                          </a:solidFill>
                          <a:latin typeface="HK Grotesk Bold"/>
                          <a:ea typeface="HK Grotesk Bold"/>
                          <a:cs typeface="HK Grotesk Bold"/>
                          <a:sym typeface="HK Grotesk Bold"/>
                        </a:rPr>
                        <a:t>Criterio</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4F2F1E"/>
                    </a:solidFill>
                  </a:tcPr>
                </a:tc>
                <a:tc>
                  <a:txBody>
                    <a:bodyPr anchor="t" rtlCol="false"/>
                    <a:lstStyle/>
                    <a:p>
                      <a:pPr algn="ctr">
                        <a:lnSpc>
                          <a:spcPts val="2520"/>
                        </a:lnSpc>
                        <a:defRPr/>
                      </a:pPr>
                      <a:r>
                        <a:rPr lang="en-US" sz="2100" b="true">
                          <a:solidFill>
                            <a:srgbClr val="FFFFFF"/>
                          </a:solidFill>
                          <a:latin typeface="HK Grotesk Bold"/>
                          <a:ea typeface="HK Grotesk Bold"/>
                          <a:cs typeface="HK Grotesk Bold"/>
                          <a:sym typeface="HK Grotesk Bold"/>
                        </a:rPr>
                        <a:t>Cascada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4F2F1E"/>
                    </a:solidFill>
                  </a:tcPr>
                </a:tc>
                <a:tc>
                  <a:txBody>
                    <a:bodyPr anchor="t" rtlCol="false"/>
                    <a:lstStyle/>
                    <a:p>
                      <a:pPr algn="ctr">
                        <a:lnSpc>
                          <a:spcPts val="2520"/>
                        </a:lnSpc>
                        <a:defRPr/>
                      </a:pPr>
                      <a:r>
                        <a:rPr lang="en-US" sz="2100" b="true">
                          <a:solidFill>
                            <a:srgbClr val="FFFFFF"/>
                          </a:solidFill>
                          <a:latin typeface="HK Grotesk Bold"/>
                          <a:ea typeface="HK Grotesk Bold"/>
                          <a:cs typeface="HK Grotesk Bold"/>
                          <a:sym typeface="HK Grotesk Bold"/>
                        </a:rPr>
                        <a:t>RUP</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4F2F1E"/>
                    </a:solidFill>
                  </a:tcPr>
                </a:tc>
                <a:tc>
                  <a:txBody>
                    <a:bodyPr anchor="t" rtlCol="false"/>
                    <a:lstStyle/>
                    <a:p>
                      <a:pPr algn="ctr">
                        <a:lnSpc>
                          <a:spcPts val="2520"/>
                        </a:lnSpc>
                        <a:defRPr/>
                      </a:pPr>
                      <a:r>
                        <a:rPr lang="en-US" sz="2100" b="true">
                          <a:solidFill>
                            <a:srgbClr val="FFFFFF"/>
                          </a:solidFill>
                          <a:latin typeface="HK Grotesk Bold"/>
                          <a:ea typeface="HK Grotesk Bold"/>
                          <a:cs typeface="HK Grotesk Bold"/>
                          <a:sym typeface="HK Grotesk Bold"/>
                        </a:rPr>
                        <a:t>AUP</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4F2F1E"/>
                    </a:solidFill>
                  </a:tcPr>
                </a:tc>
                <a:tc>
                  <a:txBody>
                    <a:bodyPr anchor="t" rtlCol="false"/>
                    <a:lstStyle/>
                    <a:p>
                      <a:pPr algn="ctr">
                        <a:lnSpc>
                          <a:spcPts val="2520"/>
                        </a:lnSpc>
                        <a:defRPr/>
                      </a:pPr>
                      <a:r>
                        <a:rPr lang="en-US" b="true" sz="2100">
                          <a:solidFill>
                            <a:srgbClr val="4F2F1E"/>
                          </a:solidFill>
                          <a:latin typeface="HK Grotesk Bold"/>
                          <a:ea typeface="HK Grotesk Bold"/>
                          <a:cs typeface="HK Grotesk Bold"/>
                          <a:sym typeface="HK Grotesk Bold"/>
                        </a:rPr>
                        <a:t>DSDM</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DB913"/>
                    </a:solidFill>
                  </a:tcPr>
                </a:tc>
                <a:tc>
                  <a:txBody>
                    <a:bodyPr anchor="t" rtlCol="false"/>
                    <a:lstStyle/>
                    <a:p>
                      <a:pPr algn="ctr">
                        <a:lnSpc>
                          <a:spcPts val="2520"/>
                        </a:lnSpc>
                        <a:defRPr/>
                      </a:pPr>
                      <a:r>
                        <a:rPr lang="en-US" sz="2100" b="true">
                          <a:solidFill>
                            <a:srgbClr val="FFFFFF"/>
                          </a:solidFill>
                          <a:latin typeface="HK Grotesk Bold"/>
                          <a:ea typeface="HK Grotesk Bold"/>
                          <a:cs typeface="HK Grotesk Bold"/>
                          <a:sym typeface="HK Grotesk Bold"/>
                        </a:rPr>
                        <a:t>FDD</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4F2F1E"/>
                    </a:solidFill>
                  </a:tcPr>
                </a:tc>
              </a:tr>
              <a:tr h="929219">
                <a:tc>
                  <a:txBody>
                    <a:bodyPr anchor="t" rtlCol="false"/>
                    <a:lstStyle/>
                    <a:p>
                      <a:pPr algn="l">
                        <a:lnSpc>
                          <a:spcPts val="2520"/>
                        </a:lnSpc>
                        <a:defRPr/>
                      </a:pPr>
                      <a:r>
                        <a:rPr lang="en-US" b="true" sz="2100">
                          <a:solidFill>
                            <a:srgbClr val="4F2F1E"/>
                          </a:solidFill>
                          <a:latin typeface="HK Grotesk Bold"/>
                          <a:ea typeface="HK Grotesk Bold"/>
                          <a:cs typeface="HK Grotesk Bold"/>
                          <a:sym typeface="HK Grotesk Bold"/>
                        </a:rPr>
                        <a:t>Flexibilidad ante cambios</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Muy baja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Media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Media-alta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Muy alta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1C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Media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r>
              <a:tr h="929219">
                <a:tc>
                  <a:txBody>
                    <a:bodyPr anchor="t" rtlCol="false"/>
                    <a:lstStyle/>
                    <a:p>
                      <a:pPr algn="l">
                        <a:lnSpc>
                          <a:spcPts val="2520"/>
                        </a:lnSpc>
                        <a:defRPr/>
                      </a:pPr>
                      <a:r>
                        <a:rPr lang="en-US" b="true" sz="2100">
                          <a:solidFill>
                            <a:srgbClr val="4F2F1E"/>
                          </a:solidFill>
                          <a:latin typeface="HK Grotesk Bold"/>
                          <a:ea typeface="HK Grotesk Bold"/>
                          <a:cs typeface="HK Grotesk Bold"/>
                          <a:sym typeface="HK Grotesk Bold"/>
                        </a:rPr>
                        <a:t>Recortar alcance sin romper el plan</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No</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No</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Sí</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Sí, con MoSCoW</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1C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Parcial</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r>
              <a:tr h="929219">
                <a:tc>
                  <a:txBody>
                    <a:bodyPr anchor="t" rtlCol="false"/>
                    <a:lstStyle/>
                    <a:p>
                      <a:pPr algn="l">
                        <a:lnSpc>
                          <a:spcPts val="2520"/>
                        </a:lnSpc>
                        <a:defRPr/>
                      </a:pPr>
                      <a:r>
                        <a:rPr lang="en-US" b="true" sz="2100">
                          <a:solidFill>
                            <a:srgbClr val="4F2F1E"/>
                          </a:solidFill>
                          <a:latin typeface="HK Grotesk Bold"/>
                          <a:ea typeface="HK Grotesk Bold"/>
                          <a:cs typeface="HK Grotesk Bold"/>
                          <a:sym typeface="HK Grotesk Bold"/>
                        </a:rPr>
                        <a:t>Carga de gestión para 4 personas</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Baja, pero rígida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Muy alta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Baja-media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Baja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1C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Media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r>
              <a:tr h="929219">
                <a:tc>
                  <a:txBody>
                    <a:bodyPr anchor="t" rtlCol="false"/>
                    <a:lstStyle/>
                    <a:p>
                      <a:pPr algn="l">
                        <a:lnSpc>
                          <a:spcPts val="2520"/>
                        </a:lnSpc>
                        <a:defRPr/>
                      </a:pPr>
                      <a:r>
                        <a:rPr lang="en-US" b="true" sz="2100">
                          <a:solidFill>
                            <a:srgbClr val="4F2F1E"/>
                          </a:solidFill>
                          <a:latin typeface="HK Grotesk Bold"/>
                          <a:ea typeface="HK Grotesk Bold"/>
                          <a:cs typeface="HK Grotesk Bold"/>
                          <a:sym typeface="HK Grotesk Bold"/>
                        </a:rPr>
                        <a:t>Muestra avances parciales</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No</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Con dificultad</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Sí</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Sí, es su esencia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1C7"/>
                    </a:solidFill>
                  </a:tcPr>
                </a:tc>
                <a:tc>
                  <a:txBody>
                    <a:bodyPr anchor="t" rtlCol="false"/>
                    <a:lstStyle/>
                    <a:p>
                      <a:pPr algn="ctr">
                        <a:lnSpc>
                          <a:spcPts val="2520"/>
                        </a:lnSpc>
                        <a:defRPr/>
                      </a:pPr>
                      <a:r>
                        <a:rPr lang="en-US" sz="2100">
                          <a:solidFill>
                            <a:srgbClr val="4F2F1E"/>
                          </a:solidFill>
                          <a:latin typeface="HK Grotesk"/>
                          <a:ea typeface="HK Grotesk"/>
                          <a:cs typeface="HK Grotesk"/>
                          <a:sym typeface="HK Grotesk"/>
                        </a:rPr>
                        <a:t>Sí, por feature</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r>
              <a:tr h="907782">
                <a:tc>
                  <a:txBody>
                    <a:bodyPr anchor="t" rtlCol="false"/>
                    <a:lstStyle/>
                    <a:p>
                      <a:pPr algn="l">
                        <a:lnSpc>
                          <a:spcPts val="2520"/>
                        </a:lnSpc>
                        <a:defRPr/>
                      </a:pPr>
                      <a:r>
                        <a:rPr lang="en-US" b="true" sz="2100">
                          <a:solidFill>
                            <a:srgbClr val="4F2F1E"/>
                          </a:solidFill>
                          <a:latin typeface="HK Grotesk Bold"/>
                          <a:ea typeface="HK Grotesk Bold"/>
                          <a:cs typeface="HK Grotesk Bold"/>
                          <a:sym typeface="HK Grotesk Bold"/>
                        </a:rPr>
                        <a:t>Encaje con el proyecto</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tcPr>
                </a:tc>
                <a:tc>
                  <a:txBody>
                    <a:bodyPr anchor="t" rtlCol="false"/>
                    <a:lstStyle/>
                    <a:p>
                      <a:pPr algn="ctr">
                        <a:lnSpc>
                          <a:spcPts val="2520"/>
                        </a:lnSpc>
                        <a:defRPr/>
                      </a:pPr>
                      <a:r>
                        <a:rPr lang="en-US" b="true" sz="2100">
                          <a:solidFill>
                            <a:srgbClr val="4F2F1E"/>
                          </a:solidFill>
                          <a:latin typeface="HK Grotesk Bold"/>
                          <a:ea typeface="HK Grotesk Bold"/>
                          <a:cs typeface="HK Grotesk Bold"/>
                          <a:sym typeface="HK Grotesk Bold"/>
                        </a:rPr>
                        <a:t>Descartada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b="true" sz="2100">
                          <a:solidFill>
                            <a:srgbClr val="4F2F1E"/>
                          </a:solidFill>
                          <a:latin typeface="HK Grotesk Bold"/>
                          <a:ea typeface="HK Grotesk Bold"/>
                          <a:cs typeface="HK Grotesk Bold"/>
                          <a:sym typeface="HK Grotesk Bold"/>
                        </a:rPr>
                        <a:t>Descartada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b="true" sz="2100">
                          <a:solidFill>
                            <a:srgbClr val="4F2F1E"/>
                          </a:solidFill>
                          <a:latin typeface="HK Grotesk Bold"/>
                          <a:ea typeface="HK Grotesk Bold"/>
                          <a:cs typeface="HK Grotesk Bold"/>
                          <a:sym typeface="HK Grotesk Bold"/>
                        </a:rPr>
                        <a:t>Viable</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c>
                  <a:txBody>
                    <a:bodyPr anchor="t" rtlCol="false"/>
                    <a:lstStyle/>
                    <a:p>
                      <a:pPr algn="ctr">
                        <a:lnSpc>
                          <a:spcPts val="2520"/>
                        </a:lnSpc>
                        <a:defRPr/>
                      </a:pPr>
                      <a:r>
                        <a:rPr lang="en-US" b="true" sz="2100">
                          <a:solidFill>
                            <a:srgbClr val="4F2F1E"/>
                          </a:solidFill>
                          <a:latin typeface="HK Grotesk Bold"/>
                          <a:ea typeface="HK Grotesk Bold"/>
                          <a:cs typeface="HK Grotesk Bold"/>
                          <a:sym typeface="HK Grotesk Bold"/>
                        </a:rPr>
                        <a:t>Elegida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1C7"/>
                    </a:solidFill>
                  </a:tcPr>
                </a:tc>
                <a:tc>
                  <a:txBody>
                    <a:bodyPr anchor="t" rtlCol="false"/>
                    <a:lstStyle/>
                    <a:p>
                      <a:pPr algn="ctr">
                        <a:lnSpc>
                          <a:spcPts val="2520"/>
                        </a:lnSpc>
                        <a:defRPr/>
                      </a:pPr>
                      <a:r>
                        <a:rPr lang="en-US" b="true" sz="2100">
                          <a:solidFill>
                            <a:srgbClr val="4F2F1E"/>
                          </a:solidFill>
                          <a:latin typeface="HK Grotesk Bold"/>
                          <a:ea typeface="HK Grotesk Bold"/>
                          <a:cs typeface="HK Grotesk Bold"/>
                          <a:sym typeface="HK Grotesk Bold"/>
                        </a:rPr>
                        <a:t>Dudosa</a:t>
                      </a:r>
                      <a:endParaRPr lang="en-US" sz="1100"/>
                    </a:p>
                  </a:txBody>
                  <a:tcPr marL="91440" marR="91440" marT="91440" marB="91440" anchor="ctr">
                    <a:lnL cmpd="sng" algn="ctr" cap="flat" w="19050">
                      <a:solidFill>
                        <a:srgbClr val="4F2F1E"/>
                      </a:solidFill>
                      <a:prstDash val="solid"/>
                      <a:round/>
                      <a:headEnd type="none" w="med" len="med"/>
                      <a:tailEnd type="none" w="med" len="med"/>
                    </a:lnL>
                    <a:lnR cmpd="sng" algn="ctr" cap="flat" w="19050">
                      <a:solidFill>
                        <a:srgbClr val="4F2F1E"/>
                      </a:solidFill>
                      <a:prstDash val="solid"/>
                      <a:round/>
                      <a:headEnd type="none" w="med" len="med"/>
                      <a:tailEnd type="none" w="med" len="med"/>
                    </a:lnR>
                    <a:lnT cmpd="sng" algn="ctr" cap="flat" w="19050">
                      <a:solidFill>
                        <a:srgbClr val="4F2F1E"/>
                      </a:solidFill>
                      <a:prstDash val="solid"/>
                      <a:round/>
                      <a:headEnd type="none" w="med" len="med"/>
                      <a:tailEnd type="none" w="med" len="med"/>
                    </a:lnT>
                    <a:lnB cmpd="sng" algn="ctr" cap="flat" w="19050">
                      <a:solidFill>
                        <a:srgbClr val="4F2F1E"/>
                      </a:solidFill>
                      <a:prstDash val="solid"/>
                      <a:round/>
                      <a:headEnd type="none" w="med" len="med"/>
                      <a:tailEnd type="none" w="med" len="med"/>
                    </a:lnB>
                    <a:solidFill>
                      <a:srgbClr val="FFFBF7"/>
                    </a:solidFill>
                  </a:tcPr>
                </a:tc>
              </a:tr>
            </a:tbl>
          </a:graphicData>
        </a:graphic>
      </p:graphicFrame>
      <p:grpSp>
        <p:nvGrpSpPr>
          <p:cNvPr name="Group 10" id="10"/>
          <p:cNvGrpSpPr/>
          <p:nvPr/>
        </p:nvGrpSpPr>
        <p:grpSpPr>
          <a:xfrm rot="0">
            <a:off x="5138718" y="8242902"/>
            <a:ext cx="10717277" cy="1371600"/>
            <a:chOff x="0" y="0"/>
            <a:chExt cx="14289703" cy="1828800"/>
          </a:xfrm>
        </p:grpSpPr>
        <p:sp>
          <p:nvSpPr>
            <p:cNvPr name="Freeform 11" id="11"/>
            <p:cNvSpPr/>
            <p:nvPr/>
          </p:nvSpPr>
          <p:spPr>
            <a:xfrm flipH="false" flipV="false" rot="0">
              <a:off x="0" y="0"/>
              <a:ext cx="14289703" cy="1828800"/>
            </a:xfrm>
            <a:custGeom>
              <a:avLst/>
              <a:gdLst/>
              <a:ahLst/>
              <a:cxnLst/>
              <a:rect r="r" b="b" t="t" l="l"/>
              <a:pathLst>
                <a:path h="1828800" w="14289703">
                  <a:moveTo>
                    <a:pt x="0" y="0"/>
                  </a:moveTo>
                  <a:lnTo>
                    <a:pt x="14289703" y="0"/>
                  </a:lnTo>
                  <a:lnTo>
                    <a:pt x="14289703" y="1828800"/>
                  </a:lnTo>
                  <a:lnTo>
                    <a:pt x="0" y="1828800"/>
                  </a:lnTo>
                  <a:close/>
                </a:path>
              </a:pathLst>
            </a:custGeom>
            <a:blipFill>
              <a:blip r:embed="rId4">
                <a:alphaModFix amt="0"/>
              </a:blip>
              <a:stretch>
                <a:fillRect l="0" t="-174077" r="-47177" b="-174077"/>
              </a:stretch>
            </a:blipFill>
          </p:spPr>
        </p:sp>
        <p:sp>
          <p:nvSpPr>
            <p:cNvPr name="TextBox 12" id="12"/>
            <p:cNvSpPr txBox="true"/>
            <p:nvPr/>
          </p:nvSpPr>
          <p:spPr>
            <a:xfrm>
              <a:off x="0" y="0"/>
              <a:ext cx="14289703" cy="1828800"/>
            </a:xfrm>
            <a:prstGeom prst="rect">
              <a:avLst/>
            </a:prstGeom>
          </p:spPr>
          <p:txBody>
            <a:bodyPr anchor="ctr" rtlCol="false" tIns="0" lIns="0" bIns="0" rIns="0"/>
            <a:lstStyle/>
            <a:p>
              <a:pPr algn="l">
                <a:lnSpc>
                  <a:spcPts val="2999"/>
                </a:lnSpc>
              </a:pPr>
              <a:r>
                <a:rPr lang="en-US" sz="2499">
                  <a:solidFill>
                    <a:srgbClr val="4F2F1E"/>
                  </a:solidFill>
                  <a:latin typeface="HK Grotesk"/>
                  <a:ea typeface="HK Grotesk"/>
                  <a:cs typeface="HK Grotesk"/>
                  <a:sym typeface="HK Grotesk"/>
                </a:rPr>
                <a:t>Elegimos DSDM</a:t>
              </a:r>
              <a:r>
                <a:rPr lang="en-US" sz="2499" b="true">
                  <a:solidFill>
                    <a:srgbClr val="4F2F1E"/>
                  </a:solidFill>
                  <a:latin typeface="HK Grotesk Bold"/>
                  <a:ea typeface="HK Grotesk Bold"/>
                  <a:cs typeface="HK Grotesk Bold"/>
                  <a:sym typeface="HK Grotesk Bold"/>
                </a:rPr>
                <a:t> </a:t>
              </a:r>
              <a:r>
                <a:rPr lang="en-US" sz="2499">
                  <a:solidFill>
                    <a:srgbClr val="4F2F1E"/>
                  </a:solidFill>
                  <a:latin typeface="HK Grotesk"/>
                  <a:ea typeface="HK Grotesk"/>
                  <a:cs typeface="HK Grotesk"/>
                  <a:sym typeface="HK Grotesk"/>
                </a:rPr>
                <a:t>porque </a:t>
              </a:r>
              <a:r>
                <a:rPr lang="en-US" sz="2499" b="true">
                  <a:solidFill>
                    <a:srgbClr val="4F2F1E"/>
                  </a:solidFill>
                  <a:latin typeface="HK Grotesk Bold"/>
                  <a:ea typeface="HK Grotesk Bold"/>
                  <a:cs typeface="HK Grotesk Bold"/>
                  <a:sym typeface="HK Grotesk Bold"/>
                </a:rPr>
                <a:t>fija tiempo, costo y calidad y deja el alcance como variable de ajuste</a:t>
              </a:r>
              <a:r>
                <a:rPr lang="en-US" sz="2499">
                  <a:solidFill>
                    <a:srgbClr val="4F2F1E"/>
                  </a:solidFill>
                  <a:latin typeface="HK Grotesk"/>
                  <a:ea typeface="HK Grotesk"/>
                  <a:cs typeface="HK Grotesk"/>
                  <a:sym typeface="HK Grotesk"/>
                </a:rPr>
                <a:t>; nuestro calendario de 16 semanas no se puede mover, contamos con un Product Owner externo y el alcance aún podía cambiar.</a:t>
              </a:r>
            </a:p>
          </p:txBody>
        </p:sp>
      </p:grpSp>
      <p:sp>
        <p:nvSpPr>
          <p:cNvPr name="Freeform 13" id="13"/>
          <p:cNvSpPr/>
          <p:nvPr/>
        </p:nvSpPr>
        <p:spPr>
          <a:xfrm flipH="true" flipV="false" rot="0">
            <a:off x="16229238" y="7906327"/>
            <a:ext cx="1261666" cy="2051489"/>
          </a:xfrm>
          <a:custGeom>
            <a:avLst/>
            <a:gdLst/>
            <a:ahLst/>
            <a:cxnLst/>
            <a:rect r="r" b="b" t="t" l="l"/>
            <a:pathLst>
              <a:path h="2051489" w="1261666">
                <a:moveTo>
                  <a:pt x="1261666" y="0"/>
                </a:moveTo>
                <a:lnTo>
                  <a:pt x="0" y="0"/>
                </a:lnTo>
                <a:lnTo>
                  <a:pt x="0" y="2051489"/>
                </a:lnTo>
                <a:lnTo>
                  <a:pt x="1261666" y="2051489"/>
                </a:lnTo>
                <a:lnTo>
                  <a:pt x="126166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822960" y="8113172"/>
            <a:ext cx="2862820" cy="1145128"/>
          </a:xfrm>
          <a:custGeom>
            <a:avLst/>
            <a:gdLst/>
            <a:ahLst/>
            <a:cxnLst/>
            <a:rect r="r" b="b" t="t" l="l"/>
            <a:pathLst>
              <a:path h="1145128" w="2862820">
                <a:moveTo>
                  <a:pt x="0" y="0"/>
                </a:moveTo>
                <a:lnTo>
                  <a:pt x="2862820" y="0"/>
                </a:lnTo>
                <a:lnTo>
                  <a:pt x="2862820" y="1145128"/>
                </a:lnTo>
                <a:lnTo>
                  <a:pt x="0" y="11451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822960" y="548640"/>
            <a:ext cx="16596360" cy="1234440"/>
            <a:chOff x="0" y="0"/>
            <a:chExt cx="22128480" cy="1645920"/>
          </a:xfrm>
        </p:grpSpPr>
        <p:sp>
          <p:nvSpPr>
            <p:cNvPr name="Freeform 5" id="5"/>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4">
                <a:alphaModFix amt="0"/>
              </a:blip>
              <a:stretch>
                <a:fillRect l="0" t="-211965" r="0" b="-211965"/>
              </a:stretch>
            </a:blipFill>
          </p:spPr>
        </p:sp>
        <p:sp>
          <p:nvSpPr>
            <p:cNvPr name="TextBox 6" id="6"/>
            <p:cNvSpPr txBox="true"/>
            <p:nvPr/>
          </p:nvSpPr>
          <p:spPr>
            <a:xfrm>
              <a:off x="0" y="0"/>
              <a:ext cx="22128480" cy="1645920"/>
            </a:xfrm>
            <a:prstGeom prst="rect">
              <a:avLst/>
            </a:prstGeom>
          </p:spPr>
          <p:txBody>
            <a:bodyPr anchor="ctr" rtlCol="false" tIns="0" lIns="0" bIns="0" rIns="0"/>
            <a:lstStyle/>
            <a:p>
              <a:pPr algn="ctr">
                <a:lnSpc>
                  <a:spcPts val="5759"/>
                </a:lnSpc>
              </a:pPr>
              <a:r>
                <a:rPr lang="en-US" b="true" sz="4800">
                  <a:solidFill>
                    <a:srgbClr val="4F2F1E"/>
                  </a:solidFill>
                  <a:latin typeface="HK Grotesk Bold"/>
                  <a:ea typeface="HK Grotesk Bold"/>
                  <a:cs typeface="HK Grotesk Bold"/>
                  <a:sym typeface="HK Grotesk Bold"/>
                </a:rPr>
                <a:t>DSDM aplicado al calendario de 16 semanas</a:t>
              </a:r>
            </a:p>
          </p:txBody>
        </p:sp>
      </p:grpSp>
      <p:grpSp>
        <p:nvGrpSpPr>
          <p:cNvPr name="Group 7" id="7"/>
          <p:cNvGrpSpPr/>
          <p:nvPr/>
        </p:nvGrpSpPr>
        <p:grpSpPr>
          <a:xfrm rot="0">
            <a:off x="813435" y="2185035"/>
            <a:ext cx="2899410" cy="1459230"/>
            <a:chOff x="0" y="0"/>
            <a:chExt cx="3865880" cy="1945640"/>
          </a:xfrm>
        </p:grpSpPr>
        <p:sp>
          <p:nvSpPr>
            <p:cNvPr name="Freeform 8" id="8"/>
            <p:cNvSpPr/>
            <p:nvPr/>
          </p:nvSpPr>
          <p:spPr>
            <a:xfrm flipH="false" flipV="false" rot="0">
              <a:off x="0" y="0"/>
              <a:ext cx="3865880" cy="1945640"/>
            </a:xfrm>
            <a:custGeom>
              <a:avLst/>
              <a:gdLst/>
              <a:ahLst/>
              <a:cxnLst/>
              <a:rect r="r" b="b" t="t" l="l"/>
              <a:pathLst>
                <a:path h="1945640" w="3865880">
                  <a:moveTo>
                    <a:pt x="0" y="0"/>
                  </a:moveTo>
                  <a:lnTo>
                    <a:pt x="2893060" y="0"/>
                  </a:lnTo>
                  <a:lnTo>
                    <a:pt x="3865880" y="972820"/>
                  </a:lnTo>
                  <a:lnTo>
                    <a:pt x="2893060" y="1945640"/>
                  </a:lnTo>
                  <a:lnTo>
                    <a:pt x="0" y="1945640"/>
                  </a:lnTo>
                  <a:lnTo>
                    <a:pt x="972820" y="972820"/>
                  </a:lnTo>
                  <a:close/>
                </a:path>
              </a:pathLst>
            </a:custGeom>
            <a:solidFill>
              <a:srgbClr val="4F2F1E"/>
            </a:solidFill>
            <a:ln w="19050" cap="sq">
              <a:solidFill>
                <a:srgbClr val="0B2545"/>
              </a:solidFill>
              <a:prstDash val="solid"/>
              <a:miter/>
            </a:ln>
          </p:spPr>
        </p:sp>
      </p:grpSp>
      <p:grpSp>
        <p:nvGrpSpPr>
          <p:cNvPr name="Group 9" id="9"/>
          <p:cNvGrpSpPr/>
          <p:nvPr/>
        </p:nvGrpSpPr>
        <p:grpSpPr>
          <a:xfrm rot="0">
            <a:off x="1303020" y="2263140"/>
            <a:ext cx="1988820" cy="1303020"/>
            <a:chOff x="0" y="0"/>
            <a:chExt cx="2651760" cy="1737360"/>
          </a:xfrm>
        </p:grpSpPr>
        <p:sp>
          <p:nvSpPr>
            <p:cNvPr name="Freeform 10" id="10"/>
            <p:cNvSpPr/>
            <p:nvPr/>
          </p:nvSpPr>
          <p:spPr>
            <a:xfrm flipH="false" flipV="false" rot="0">
              <a:off x="0" y="0"/>
              <a:ext cx="2651760" cy="1737360"/>
            </a:xfrm>
            <a:custGeom>
              <a:avLst/>
              <a:gdLst/>
              <a:ahLst/>
              <a:cxnLst/>
              <a:rect r="r" b="b" t="t" l="l"/>
              <a:pathLst>
                <a:path h="1737360" w="2651760">
                  <a:moveTo>
                    <a:pt x="0" y="0"/>
                  </a:moveTo>
                  <a:lnTo>
                    <a:pt x="2651760" y="0"/>
                  </a:lnTo>
                  <a:lnTo>
                    <a:pt x="2651760" y="1737360"/>
                  </a:lnTo>
                  <a:lnTo>
                    <a:pt x="0" y="1737360"/>
                  </a:lnTo>
                  <a:close/>
                </a:path>
              </a:pathLst>
            </a:custGeom>
            <a:blipFill>
              <a:blip r:embed="rId4">
                <a:alphaModFix amt="0"/>
              </a:blip>
              <a:stretch>
                <a:fillRect l="-34060" t="0" r="-34060" b="0"/>
              </a:stretch>
            </a:blipFill>
          </p:spPr>
        </p:sp>
        <p:sp>
          <p:nvSpPr>
            <p:cNvPr name="TextBox 11" id="11"/>
            <p:cNvSpPr txBox="true"/>
            <p:nvPr/>
          </p:nvSpPr>
          <p:spPr>
            <a:xfrm>
              <a:off x="0" y="-9525"/>
              <a:ext cx="2651760" cy="1746885"/>
            </a:xfrm>
            <a:prstGeom prst="rect">
              <a:avLst/>
            </a:prstGeom>
          </p:spPr>
          <p:txBody>
            <a:bodyPr anchor="ctr" rtlCol="false" tIns="0" lIns="0" bIns="0" rIns="0"/>
            <a:lstStyle/>
            <a:p>
              <a:pPr algn="ctr">
                <a:lnSpc>
                  <a:spcPts val="2340"/>
                </a:lnSpc>
              </a:pPr>
              <a:r>
                <a:rPr lang="en-US" sz="1950" b="true">
                  <a:solidFill>
                    <a:srgbClr val="FFFFFF"/>
                  </a:solidFill>
                  <a:latin typeface="HK Grotesk Bold"/>
                  <a:ea typeface="HK Grotesk Bold"/>
                  <a:cs typeface="HK Grotesk Bold"/>
                  <a:sym typeface="HK Grotesk Bold"/>
                </a:rPr>
                <a:t>Pre-Proyecto</a:t>
              </a:r>
            </a:p>
            <a:p>
              <a:pPr algn="ctr">
                <a:lnSpc>
                  <a:spcPts val="2160"/>
                </a:lnSpc>
              </a:pPr>
              <a:r>
                <a:rPr lang="en-US" sz="1800">
                  <a:solidFill>
                    <a:srgbClr val="FFFFFF"/>
                  </a:solidFill>
                  <a:latin typeface="HK Grotesk"/>
                  <a:ea typeface="HK Grotesk"/>
                  <a:cs typeface="HK Grotesk"/>
                  <a:sym typeface="HK Grotesk"/>
                </a:rPr>
                <a:t>Semanas 1-2</a:t>
              </a:r>
            </a:p>
          </p:txBody>
        </p:sp>
      </p:grpSp>
      <p:grpSp>
        <p:nvGrpSpPr>
          <p:cNvPr name="Group 12" id="12"/>
          <p:cNvGrpSpPr/>
          <p:nvPr/>
        </p:nvGrpSpPr>
        <p:grpSpPr>
          <a:xfrm rot="0">
            <a:off x="3597783" y="2185035"/>
            <a:ext cx="2899410" cy="1459230"/>
            <a:chOff x="0" y="0"/>
            <a:chExt cx="3865880" cy="1945640"/>
          </a:xfrm>
        </p:grpSpPr>
        <p:sp>
          <p:nvSpPr>
            <p:cNvPr name="Freeform 13" id="13"/>
            <p:cNvSpPr/>
            <p:nvPr/>
          </p:nvSpPr>
          <p:spPr>
            <a:xfrm flipH="false" flipV="false" rot="0">
              <a:off x="0" y="0"/>
              <a:ext cx="3865880" cy="1945640"/>
            </a:xfrm>
            <a:custGeom>
              <a:avLst/>
              <a:gdLst/>
              <a:ahLst/>
              <a:cxnLst/>
              <a:rect r="r" b="b" t="t" l="l"/>
              <a:pathLst>
                <a:path h="1945640" w="3865880">
                  <a:moveTo>
                    <a:pt x="0" y="0"/>
                  </a:moveTo>
                  <a:lnTo>
                    <a:pt x="2893060" y="0"/>
                  </a:lnTo>
                  <a:lnTo>
                    <a:pt x="3865880" y="972820"/>
                  </a:lnTo>
                  <a:lnTo>
                    <a:pt x="2893060" y="1945640"/>
                  </a:lnTo>
                  <a:lnTo>
                    <a:pt x="0" y="1945640"/>
                  </a:lnTo>
                  <a:lnTo>
                    <a:pt x="972820" y="972820"/>
                  </a:lnTo>
                  <a:close/>
                </a:path>
              </a:pathLst>
            </a:custGeom>
            <a:solidFill>
              <a:srgbClr val="4F2F1E"/>
            </a:solidFill>
            <a:ln w="19050" cap="sq">
              <a:solidFill>
                <a:srgbClr val="0B2545"/>
              </a:solidFill>
              <a:prstDash val="solid"/>
              <a:miter/>
            </a:ln>
          </p:spPr>
        </p:sp>
      </p:grpSp>
      <p:grpSp>
        <p:nvGrpSpPr>
          <p:cNvPr name="Group 14" id="14"/>
          <p:cNvGrpSpPr/>
          <p:nvPr/>
        </p:nvGrpSpPr>
        <p:grpSpPr>
          <a:xfrm rot="0">
            <a:off x="4087368" y="2263140"/>
            <a:ext cx="1988820" cy="1303020"/>
            <a:chOff x="0" y="0"/>
            <a:chExt cx="2651760" cy="1737360"/>
          </a:xfrm>
        </p:grpSpPr>
        <p:sp>
          <p:nvSpPr>
            <p:cNvPr name="Freeform 15" id="15"/>
            <p:cNvSpPr/>
            <p:nvPr/>
          </p:nvSpPr>
          <p:spPr>
            <a:xfrm flipH="false" flipV="false" rot="0">
              <a:off x="0" y="0"/>
              <a:ext cx="2651760" cy="1737360"/>
            </a:xfrm>
            <a:custGeom>
              <a:avLst/>
              <a:gdLst/>
              <a:ahLst/>
              <a:cxnLst/>
              <a:rect r="r" b="b" t="t" l="l"/>
              <a:pathLst>
                <a:path h="1737360" w="2651760">
                  <a:moveTo>
                    <a:pt x="0" y="0"/>
                  </a:moveTo>
                  <a:lnTo>
                    <a:pt x="2651760" y="0"/>
                  </a:lnTo>
                  <a:lnTo>
                    <a:pt x="2651760" y="1737360"/>
                  </a:lnTo>
                  <a:lnTo>
                    <a:pt x="0" y="1737360"/>
                  </a:lnTo>
                  <a:close/>
                </a:path>
              </a:pathLst>
            </a:custGeom>
            <a:blipFill>
              <a:blip r:embed="rId4">
                <a:alphaModFix amt="0"/>
              </a:blip>
              <a:stretch>
                <a:fillRect l="-34060" t="0" r="-34060" b="0"/>
              </a:stretch>
            </a:blipFill>
          </p:spPr>
        </p:sp>
        <p:sp>
          <p:nvSpPr>
            <p:cNvPr name="TextBox 16" id="16"/>
            <p:cNvSpPr txBox="true"/>
            <p:nvPr/>
          </p:nvSpPr>
          <p:spPr>
            <a:xfrm>
              <a:off x="0" y="-9525"/>
              <a:ext cx="2651760" cy="1746885"/>
            </a:xfrm>
            <a:prstGeom prst="rect">
              <a:avLst/>
            </a:prstGeom>
          </p:spPr>
          <p:txBody>
            <a:bodyPr anchor="ctr" rtlCol="false" tIns="0" lIns="0" bIns="0" rIns="0"/>
            <a:lstStyle/>
            <a:p>
              <a:pPr algn="ctr">
                <a:lnSpc>
                  <a:spcPts val="2340"/>
                </a:lnSpc>
              </a:pPr>
              <a:r>
                <a:rPr lang="en-US" sz="1950" b="true">
                  <a:solidFill>
                    <a:srgbClr val="FFFFFF"/>
                  </a:solidFill>
                  <a:latin typeface="HK Grotesk Bold"/>
                  <a:ea typeface="HK Grotesk Bold"/>
                  <a:cs typeface="HK Grotesk Bold"/>
                  <a:sym typeface="HK Grotesk Bold"/>
                </a:rPr>
                <a:t>Factibilidad</a:t>
              </a:r>
            </a:p>
            <a:p>
              <a:pPr algn="ctr">
                <a:lnSpc>
                  <a:spcPts val="2160"/>
                </a:lnSpc>
              </a:pPr>
              <a:r>
                <a:rPr lang="en-US" sz="1800">
                  <a:solidFill>
                    <a:srgbClr val="FFFFFF"/>
                  </a:solidFill>
                  <a:latin typeface="HK Grotesk"/>
                  <a:ea typeface="HK Grotesk"/>
                  <a:cs typeface="HK Grotesk"/>
                  <a:sym typeface="HK Grotesk"/>
                </a:rPr>
                <a:t>Semana 3</a:t>
              </a:r>
            </a:p>
          </p:txBody>
        </p:sp>
      </p:grpSp>
      <p:grpSp>
        <p:nvGrpSpPr>
          <p:cNvPr name="Group 17" id="17"/>
          <p:cNvGrpSpPr/>
          <p:nvPr/>
        </p:nvGrpSpPr>
        <p:grpSpPr>
          <a:xfrm rot="0">
            <a:off x="6382131" y="2185035"/>
            <a:ext cx="2899410" cy="1459230"/>
            <a:chOff x="0" y="0"/>
            <a:chExt cx="3865880" cy="1945640"/>
          </a:xfrm>
        </p:grpSpPr>
        <p:sp>
          <p:nvSpPr>
            <p:cNvPr name="Freeform 18" id="18"/>
            <p:cNvSpPr/>
            <p:nvPr/>
          </p:nvSpPr>
          <p:spPr>
            <a:xfrm flipH="false" flipV="false" rot="0">
              <a:off x="0" y="0"/>
              <a:ext cx="3865880" cy="1945640"/>
            </a:xfrm>
            <a:custGeom>
              <a:avLst/>
              <a:gdLst/>
              <a:ahLst/>
              <a:cxnLst/>
              <a:rect r="r" b="b" t="t" l="l"/>
              <a:pathLst>
                <a:path h="1945640" w="3865880">
                  <a:moveTo>
                    <a:pt x="0" y="0"/>
                  </a:moveTo>
                  <a:lnTo>
                    <a:pt x="2893060" y="0"/>
                  </a:lnTo>
                  <a:lnTo>
                    <a:pt x="3865880" y="972820"/>
                  </a:lnTo>
                  <a:lnTo>
                    <a:pt x="2893060" y="1945640"/>
                  </a:lnTo>
                  <a:lnTo>
                    <a:pt x="0" y="1945640"/>
                  </a:lnTo>
                  <a:lnTo>
                    <a:pt x="972820" y="972820"/>
                  </a:lnTo>
                  <a:close/>
                </a:path>
              </a:pathLst>
            </a:custGeom>
            <a:solidFill>
              <a:srgbClr val="4F2F1E"/>
            </a:solidFill>
            <a:ln w="19050" cap="sq">
              <a:solidFill>
                <a:srgbClr val="0B2545"/>
              </a:solidFill>
              <a:prstDash val="solid"/>
              <a:miter/>
            </a:ln>
          </p:spPr>
        </p:sp>
      </p:grpSp>
      <p:grpSp>
        <p:nvGrpSpPr>
          <p:cNvPr name="Group 19" id="19"/>
          <p:cNvGrpSpPr/>
          <p:nvPr/>
        </p:nvGrpSpPr>
        <p:grpSpPr>
          <a:xfrm rot="0">
            <a:off x="6871716" y="2263140"/>
            <a:ext cx="1988820" cy="1303020"/>
            <a:chOff x="0" y="0"/>
            <a:chExt cx="2651760" cy="1737360"/>
          </a:xfrm>
        </p:grpSpPr>
        <p:sp>
          <p:nvSpPr>
            <p:cNvPr name="Freeform 20" id="20"/>
            <p:cNvSpPr/>
            <p:nvPr/>
          </p:nvSpPr>
          <p:spPr>
            <a:xfrm flipH="false" flipV="false" rot="0">
              <a:off x="0" y="0"/>
              <a:ext cx="2651760" cy="1737360"/>
            </a:xfrm>
            <a:custGeom>
              <a:avLst/>
              <a:gdLst/>
              <a:ahLst/>
              <a:cxnLst/>
              <a:rect r="r" b="b" t="t" l="l"/>
              <a:pathLst>
                <a:path h="1737360" w="2651760">
                  <a:moveTo>
                    <a:pt x="0" y="0"/>
                  </a:moveTo>
                  <a:lnTo>
                    <a:pt x="2651760" y="0"/>
                  </a:lnTo>
                  <a:lnTo>
                    <a:pt x="2651760" y="1737360"/>
                  </a:lnTo>
                  <a:lnTo>
                    <a:pt x="0" y="1737360"/>
                  </a:lnTo>
                  <a:close/>
                </a:path>
              </a:pathLst>
            </a:custGeom>
            <a:blipFill>
              <a:blip r:embed="rId4">
                <a:alphaModFix amt="0"/>
              </a:blip>
              <a:stretch>
                <a:fillRect l="-34060" t="0" r="-34060" b="0"/>
              </a:stretch>
            </a:blipFill>
          </p:spPr>
        </p:sp>
        <p:sp>
          <p:nvSpPr>
            <p:cNvPr name="TextBox 21" id="21"/>
            <p:cNvSpPr txBox="true"/>
            <p:nvPr/>
          </p:nvSpPr>
          <p:spPr>
            <a:xfrm>
              <a:off x="0" y="-9525"/>
              <a:ext cx="2651760" cy="1746885"/>
            </a:xfrm>
            <a:prstGeom prst="rect">
              <a:avLst/>
            </a:prstGeom>
          </p:spPr>
          <p:txBody>
            <a:bodyPr anchor="ctr" rtlCol="false" tIns="0" lIns="0" bIns="0" rIns="0"/>
            <a:lstStyle/>
            <a:p>
              <a:pPr algn="ctr">
                <a:lnSpc>
                  <a:spcPts val="2340"/>
                </a:lnSpc>
              </a:pPr>
              <a:r>
                <a:rPr lang="en-US" sz="1950" b="true">
                  <a:solidFill>
                    <a:srgbClr val="FFFFFF"/>
                  </a:solidFill>
                  <a:latin typeface="HK Grotesk Bold"/>
                  <a:ea typeface="HK Grotesk Bold"/>
                  <a:cs typeface="HK Grotesk Bold"/>
                  <a:sym typeface="HK Grotesk Bold"/>
                </a:rPr>
                <a:t>Fundamentos</a:t>
              </a:r>
            </a:p>
            <a:p>
              <a:pPr algn="ctr">
                <a:lnSpc>
                  <a:spcPts val="2160"/>
                </a:lnSpc>
              </a:pPr>
              <a:r>
                <a:rPr lang="en-US" sz="1800">
                  <a:solidFill>
                    <a:srgbClr val="FFFFFF"/>
                  </a:solidFill>
                  <a:latin typeface="HK Grotesk"/>
                  <a:ea typeface="HK Grotesk"/>
                  <a:cs typeface="HK Grotesk"/>
                  <a:sym typeface="HK Grotesk"/>
                </a:rPr>
                <a:t>Semanas 4-6</a:t>
              </a:r>
            </a:p>
          </p:txBody>
        </p:sp>
      </p:grpSp>
      <p:grpSp>
        <p:nvGrpSpPr>
          <p:cNvPr name="Group 22" id="22"/>
          <p:cNvGrpSpPr/>
          <p:nvPr/>
        </p:nvGrpSpPr>
        <p:grpSpPr>
          <a:xfrm rot="0">
            <a:off x="9166479" y="2185035"/>
            <a:ext cx="2899410" cy="1459230"/>
            <a:chOff x="0" y="0"/>
            <a:chExt cx="3865880" cy="1945640"/>
          </a:xfrm>
        </p:grpSpPr>
        <p:sp>
          <p:nvSpPr>
            <p:cNvPr name="Freeform 23" id="23"/>
            <p:cNvSpPr/>
            <p:nvPr/>
          </p:nvSpPr>
          <p:spPr>
            <a:xfrm flipH="false" flipV="false" rot="0">
              <a:off x="0" y="0"/>
              <a:ext cx="3865880" cy="1945640"/>
            </a:xfrm>
            <a:custGeom>
              <a:avLst/>
              <a:gdLst/>
              <a:ahLst/>
              <a:cxnLst/>
              <a:rect r="r" b="b" t="t" l="l"/>
              <a:pathLst>
                <a:path h="1945640" w="3865880">
                  <a:moveTo>
                    <a:pt x="0" y="0"/>
                  </a:moveTo>
                  <a:lnTo>
                    <a:pt x="2893060" y="0"/>
                  </a:lnTo>
                  <a:lnTo>
                    <a:pt x="3865880" y="972820"/>
                  </a:lnTo>
                  <a:lnTo>
                    <a:pt x="2893060" y="1945640"/>
                  </a:lnTo>
                  <a:lnTo>
                    <a:pt x="0" y="1945640"/>
                  </a:lnTo>
                  <a:lnTo>
                    <a:pt x="972820" y="972820"/>
                  </a:lnTo>
                  <a:close/>
                </a:path>
              </a:pathLst>
            </a:custGeom>
            <a:solidFill>
              <a:srgbClr val="FDB913"/>
            </a:solidFill>
            <a:ln w="19050" cap="sq">
              <a:solidFill>
                <a:srgbClr val="FDB913"/>
              </a:solidFill>
              <a:prstDash val="solid"/>
              <a:miter/>
            </a:ln>
          </p:spPr>
        </p:sp>
      </p:grpSp>
      <p:grpSp>
        <p:nvGrpSpPr>
          <p:cNvPr name="Group 24" id="24"/>
          <p:cNvGrpSpPr/>
          <p:nvPr/>
        </p:nvGrpSpPr>
        <p:grpSpPr>
          <a:xfrm rot="0">
            <a:off x="9656064" y="2263140"/>
            <a:ext cx="1988820" cy="1303020"/>
            <a:chOff x="0" y="0"/>
            <a:chExt cx="2651760" cy="1737360"/>
          </a:xfrm>
        </p:grpSpPr>
        <p:sp>
          <p:nvSpPr>
            <p:cNvPr name="Freeform 25" id="25"/>
            <p:cNvSpPr/>
            <p:nvPr/>
          </p:nvSpPr>
          <p:spPr>
            <a:xfrm flipH="false" flipV="false" rot="0">
              <a:off x="0" y="0"/>
              <a:ext cx="2651760" cy="1737360"/>
            </a:xfrm>
            <a:custGeom>
              <a:avLst/>
              <a:gdLst/>
              <a:ahLst/>
              <a:cxnLst/>
              <a:rect r="r" b="b" t="t" l="l"/>
              <a:pathLst>
                <a:path h="1737360" w="2651760">
                  <a:moveTo>
                    <a:pt x="0" y="0"/>
                  </a:moveTo>
                  <a:lnTo>
                    <a:pt x="2651760" y="0"/>
                  </a:lnTo>
                  <a:lnTo>
                    <a:pt x="2651760" y="1737360"/>
                  </a:lnTo>
                  <a:lnTo>
                    <a:pt x="0" y="1737360"/>
                  </a:lnTo>
                  <a:close/>
                </a:path>
              </a:pathLst>
            </a:custGeom>
            <a:blipFill>
              <a:blip r:embed="rId4">
                <a:alphaModFix amt="0"/>
              </a:blip>
              <a:stretch>
                <a:fillRect l="-34060" t="0" r="-34060" b="0"/>
              </a:stretch>
            </a:blipFill>
          </p:spPr>
        </p:sp>
        <p:sp>
          <p:nvSpPr>
            <p:cNvPr name="TextBox 26" id="26"/>
            <p:cNvSpPr txBox="true"/>
            <p:nvPr/>
          </p:nvSpPr>
          <p:spPr>
            <a:xfrm>
              <a:off x="0" y="-9525"/>
              <a:ext cx="2651760" cy="1746885"/>
            </a:xfrm>
            <a:prstGeom prst="rect">
              <a:avLst/>
            </a:prstGeom>
          </p:spPr>
          <p:txBody>
            <a:bodyPr anchor="ctr" rtlCol="false" tIns="0" lIns="0" bIns="0" rIns="0"/>
            <a:lstStyle/>
            <a:p>
              <a:pPr algn="ctr">
                <a:lnSpc>
                  <a:spcPts val="2340"/>
                </a:lnSpc>
              </a:pPr>
              <a:r>
                <a:rPr lang="en-US" b="true" sz="1950">
                  <a:solidFill>
                    <a:srgbClr val="4F2F1E"/>
                  </a:solidFill>
                  <a:latin typeface="HK Grotesk Bold"/>
                  <a:ea typeface="HK Grotesk Bold"/>
                  <a:cs typeface="HK Grotesk Bold"/>
                  <a:sym typeface="HK Grotesk Bold"/>
                </a:rPr>
                <a:t>Desarrollo Evolutivo</a:t>
              </a:r>
            </a:p>
            <a:p>
              <a:pPr algn="ctr">
                <a:lnSpc>
                  <a:spcPts val="2160"/>
                </a:lnSpc>
              </a:pPr>
              <a:r>
                <a:rPr lang="en-US" sz="1800">
                  <a:solidFill>
                    <a:srgbClr val="4F2F1E"/>
                  </a:solidFill>
                  <a:latin typeface="HK Grotesk"/>
                  <a:ea typeface="HK Grotesk"/>
                  <a:cs typeface="HK Grotesk"/>
                  <a:sym typeface="HK Grotesk"/>
                </a:rPr>
                <a:t>Semanas 7-14</a:t>
              </a:r>
            </a:p>
          </p:txBody>
        </p:sp>
      </p:grpSp>
      <p:grpSp>
        <p:nvGrpSpPr>
          <p:cNvPr name="Group 27" id="27"/>
          <p:cNvGrpSpPr/>
          <p:nvPr/>
        </p:nvGrpSpPr>
        <p:grpSpPr>
          <a:xfrm rot="0">
            <a:off x="11950827" y="2185035"/>
            <a:ext cx="2899410" cy="1459230"/>
            <a:chOff x="0" y="0"/>
            <a:chExt cx="3865880" cy="1945640"/>
          </a:xfrm>
        </p:grpSpPr>
        <p:sp>
          <p:nvSpPr>
            <p:cNvPr name="Freeform 28" id="28"/>
            <p:cNvSpPr/>
            <p:nvPr/>
          </p:nvSpPr>
          <p:spPr>
            <a:xfrm flipH="false" flipV="false" rot="0">
              <a:off x="0" y="0"/>
              <a:ext cx="3865880" cy="1945640"/>
            </a:xfrm>
            <a:custGeom>
              <a:avLst/>
              <a:gdLst/>
              <a:ahLst/>
              <a:cxnLst/>
              <a:rect r="r" b="b" t="t" l="l"/>
              <a:pathLst>
                <a:path h="1945640" w="3865880">
                  <a:moveTo>
                    <a:pt x="0" y="0"/>
                  </a:moveTo>
                  <a:lnTo>
                    <a:pt x="2893060" y="0"/>
                  </a:lnTo>
                  <a:lnTo>
                    <a:pt x="3865880" y="972820"/>
                  </a:lnTo>
                  <a:lnTo>
                    <a:pt x="2893060" y="1945640"/>
                  </a:lnTo>
                  <a:lnTo>
                    <a:pt x="0" y="1945640"/>
                  </a:lnTo>
                  <a:lnTo>
                    <a:pt x="972820" y="972820"/>
                  </a:lnTo>
                  <a:close/>
                </a:path>
              </a:pathLst>
            </a:custGeom>
            <a:solidFill>
              <a:srgbClr val="4F2F1E"/>
            </a:solidFill>
            <a:ln w="19050" cap="sq">
              <a:solidFill>
                <a:srgbClr val="0B2545"/>
              </a:solidFill>
              <a:prstDash val="solid"/>
              <a:miter/>
            </a:ln>
          </p:spPr>
        </p:sp>
      </p:grpSp>
      <p:grpSp>
        <p:nvGrpSpPr>
          <p:cNvPr name="Group 29" id="29"/>
          <p:cNvGrpSpPr/>
          <p:nvPr/>
        </p:nvGrpSpPr>
        <p:grpSpPr>
          <a:xfrm rot="0">
            <a:off x="12440412" y="2263140"/>
            <a:ext cx="1988820" cy="1303020"/>
            <a:chOff x="0" y="0"/>
            <a:chExt cx="2651760" cy="1737360"/>
          </a:xfrm>
        </p:grpSpPr>
        <p:sp>
          <p:nvSpPr>
            <p:cNvPr name="Freeform 30" id="30"/>
            <p:cNvSpPr/>
            <p:nvPr/>
          </p:nvSpPr>
          <p:spPr>
            <a:xfrm flipH="false" flipV="false" rot="0">
              <a:off x="0" y="0"/>
              <a:ext cx="2651760" cy="1737360"/>
            </a:xfrm>
            <a:custGeom>
              <a:avLst/>
              <a:gdLst/>
              <a:ahLst/>
              <a:cxnLst/>
              <a:rect r="r" b="b" t="t" l="l"/>
              <a:pathLst>
                <a:path h="1737360" w="2651760">
                  <a:moveTo>
                    <a:pt x="0" y="0"/>
                  </a:moveTo>
                  <a:lnTo>
                    <a:pt x="2651760" y="0"/>
                  </a:lnTo>
                  <a:lnTo>
                    <a:pt x="2651760" y="1737360"/>
                  </a:lnTo>
                  <a:lnTo>
                    <a:pt x="0" y="1737360"/>
                  </a:lnTo>
                  <a:close/>
                </a:path>
              </a:pathLst>
            </a:custGeom>
            <a:blipFill>
              <a:blip r:embed="rId4">
                <a:alphaModFix amt="0"/>
              </a:blip>
              <a:stretch>
                <a:fillRect l="-34060" t="0" r="-34060" b="0"/>
              </a:stretch>
            </a:blipFill>
          </p:spPr>
        </p:sp>
        <p:sp>
          <p:nvSpPr>
            <p:cNvPr name="TextBox 31" id="31"/>
            <p:cNvSpPr txBox="true"/>
            <p:nvPr/>
          </p:nvSpPr>
          <p:spPr>
            <a:xfrm>
              <a:off x="0" y="-9525"/>
              <a:ext cx="2651760" cy="1746885"/>
            </a:xfrm>
            <a:prstGeom prst="rect">
              <a:avLst/>
            </a:prstGeom>
          </p:spPr>
          <p:txBody>
            <a:bodyPr anchor="ctr" rtlCol="false" tIns="0" lIns="0" bIns="0" rIns="0"/>
            <a:lstStyle/>
            <a:p>
              <a:pPr algn="ctr">
                <a:lnSpc>
                  <a:spcPts val="2340"/>
                </a:lnSpc>
              </a:pPr>
              <a:r>
                <a:rPr lang="en-US" sz="1950" b="true">
                  <a:solidFill>
                    <a:srgbClr val="FFFFFF"/>
                  </a:solidFill>
                  <a:latin typeface="HK Grotesk Bold"/>
                  <a:ea typeface="HK Grotesk Bold"/>
                  <a:cs typeface="HK Grotesk Bold"/>
                  <a:sym typeface="HK Grotesk Bold"/>
                </a:rPr>
                <a:t>Despliegue</a:t>
              </a:r>
            </a:p>
            <a:p>
              <a:pPr algn="ctr">
                <a:lnSpc>
                  <a:spcPts val="2160"/>
                </a:lnSpc>
              </a:pPr>
              <a:r>
                <a:rPr lang="en-US" sz="1800">
                  <a:solidFill>
                    <a:srgbClr val="FFFFFF"/>
                  </a:solidFill>
                  <a:latin typeface="HK Grotesk"/>
                  <a:ea typeface="HK Grotesk"/>
                  <a:cs typeface="HK Grotesk"/>
                  <a:sym typeface="HK Grotesk"/>
                </a:rPr>
                <a:t>Semanas 13-16</a:t>
              </a:r>
            </a:p>
          </p:txBody>
        </p:sp>
      </p:grpSp>
      <p:grpSp>
        <p:nvGrpSpPr>
          <p:cNvPr name="Group 32" id="32"/>
          <p:cNvGrpSpPr/>
          <p:nvPr/>
        </p:nvGrpSpPr>
        <p:grpSpPr>
          <a:xfrm rot="0">
            <a:off x="14735175" y="2185035"/>
            <a:ext cx="2899410" cy="1459230"/>
            <a:chOff x="0" y="0"/>
            <a:chExt cx="3865880" cy="1945640"/>
          </a:xfrm>
        </p:grpSpPr>
        <p:sp>
          <p:nvSpPr>
            <p:cNvPr name="Freeform 33" id="33"/>
            <p:cNvSpPr/>
            <p:nvPr/>
          </p:nvSpPr>
          <p:spPr>
            <a:xfrm flipH="false" flipV="false" rot="0">
              <a:off x="0" y="0"/>
              <a:ext cx="3865880" cy="1945640"/>
            </a:xfrm>
            <a:custGeom>
              <a:avLst/>
              <a:gdLst/>
              <a:ahLst/>
              <a:cxnLst/>
              <a:rect r="r" b="b" t="t" l="l"/>
              <a:pathLst>
                <a:path h="1945640" w="3865880">
                  <a:moveTo>
                    <a:pt x="0" y="0"/>
                  </a:moveTo>
                  <a:lnTo>
                    <a:pt x="2893060" y="0"/>
                  </a:lnTo>
                  <a:lnTo>
                    <a:pt x="3865880" y="972820"/>
                  </a:lnTo>
                  <a:lnTo>
                    <a:pt x="2893060" y="1945640"/>
                  </a:lnTo>
                  <a:lnTo>
                    <a:pt x="0" y="1945640"/>
                  </a:lnTo>
                  <a:lnTo>
                    <a:pt x="972820" y="972820"/>
                  </a:lnTo>
                  <a:close/>
                </a:path>
              </a:pathLst>
            </a:custGeom>
            <a:solidFill>
              <a:srgbClr val="4F2F1E"/>
            </a:solidFill>
            <a:ln w="19050" cap="sq">
              <a:solidFill>
                <a:srgbClr val="0B2545"/>
              </a:solidFill>
              <a:prstDash val="solid"/>
              <a:miter/>
            </a:ln>
          </p:spPr>
        </p:sp>
      </p:grpSp>
      <p:grpSp>
        <p:nvGrpSpPr>
          <p:cNvPr name="Group 34" id="34"/>
          <p:cNvGrpSpPr/>
          <p:nvPr/>
        </p:nvGrpSpPr>
        <p:grpSpPr>
          <a:xfrm rot="0">
            <a:off x="15270480" y="2263140"/>
            <a:ext cx="1988820" cy="1303020"/>
            <a:chOff x="0" y="0"/>
            <a:chExt cx="2651760" cy="1737360"/>
          </a:xfrm>
        </p:grpSpPr>
        <p:sp>
          <p:nvSpPr>
            <p:cNvPr name="Freeform 35" id="35"/>
            <p:cNvSpPr/>
            <p:nvPr/>
          </p:nvSpPr>
          <p:spPr>
            <a:xfrm flipH="false" flipV="false" rot="0">
              <a:off x="0" y="0"/>
              <a:ext cx="2651760" cy="1737360"/>
            </a:xfrm>
            <a:custGeom>
              <a:avLst/>
              <a:gdLst/>
              <a:ahLst/>
              <a:cxnLst/>
              <a:rect r="r" b="b" t="t" l="l"/>
              <a:pathLst>
                <a:path h="1737360" w="2651760">
                  <a:moveTo>
                    <a:pt x="0" y="0"/>
                  </a:moveTo>
                  <a:lnTo>
                    <a:pt x="2651760" y="0"/>
                  </a:lnTo>
                  <a:lnTo>
                    <a:pt x="2651760" y="1737360"/>
                  </a:lnTo>
                  <a:lnTo>
                    <a:pt x="0" y="1737360"/>
                  </a:lnTo>
                  <a:close/>
                </a:path>
              </a:pathLst>
            </a:custGeom>
            <a:blipFill>
              <a:blip r:embed="rId4">
                <a:alphaModFix amt="0"/>
              </a:blip>
              <a:stretch>
                <a:fillRect l="-34060" t="0" r="-34060" b="0"/>
              </a:stretch>
            </a:blipFill>
          </p:spPr>
        </p:sp>
        <p:sp>
          <p:nvSpPr>
            <p:cNvPr name="TextBox 36" id="36"/>
            <p:cNvSpPr txBox="true"/>
            <p:nvPr/>
          </p:nvSpPr>
          <p:spPr>
            <a:xfrm>
              <a:off x="0" y="-9525"/>
              <a:ext cx="2651760" cy="1746885"/>
            </a:xfrm>
            <a:prstGeom prst="rect">
              <a:avLst/>
            </a:prstGeom>
          </p:spPr>
          <p:txBody>
            <a:bodyPr anchor="ctr" rtlCol="false" tIns="0" lIns="0" bIns="0" rIns="0"/>
            <a:lstStyle/>
            <a:p>
              <a:pPr algn="ctr">
                <a:lnSpc>
                  <a:spcPts val="2340"/>
                </a:lnSpc>
              </a:pPr>
              <a:r>
                <a:rPr lang="en-US" sz="1950" b="true">
                  <a:solidFill>
                    <a:srgbClr val="FFFFFF"/>
                  </a:solidFill>
                  <a:latin typeface="HK Grotesk Bold"/>
                  <a:ea typeface="HK Grotesk Bold"/>
                  <a:cs typeface="HK Grotesk Bold"/>
                  <a:sym typeface="HK Grotesk Bold"/>
                </a:rPr>
                <a:t>Post-Proyecto</a:t>
              </a:r>
            </a:p>
            <a:p>
              <a:pPr algn="ctr">
                <a:lnSpc>
                  <a:spcPts val="2160"/>
                </a:lnSpc>
              </a:pPr>
              <a:r>
                <a:rPr lang="en-US" sz="1800">
                  <a:solidFill>
                    <a:srgbClr val="FFFFFF"/>
                  </a:solidFill>
                  <a:latin typeface="HK Grotesk"/>
                  <a:ea typeface="HK Grotesk"/>
                  <a:cs typeface="HK Grotesk"/>
                  <a:sym typeface="HK Grotesk"/>
                </a:rPr>
                <a:t>Después de la 16</a:t>
              </a:r>
            </a:p>
          </p:txBody>
        </p:sp>
      </p:grpSp>
      <p:grpSp>
        <p:nvGrpSpPr>
          <p:cNvPr name="Group 37" id="37"/>
          <p:cNvGrpSpPr/>
          <p:nvPr/>
        </p:nvGrpSpPr>
        <p:grpSpPr>
          <a:xfrm rot="0">
            <a:off x="813435" y="6917055"/>
            <a:ext cx="3173730" cy="2145030"/>
            <a:chOff x="0" y="0"/>
            <a:chExt cx="4231640" cy="2860040"/>
          </a:xfrm>
        </p:grpSpPr>
        <p:sp>
          <p:nvSpPr>
            <p:cNvPr name="Freeform 38" id="38"/>
            <p:cNvSpPr/>
            <p:nvPr/>
          </p:nvSpPr>
          <p:spPr>
            <a:xfrm flipH="false" flipV="false" rot="0">
              <a:off x="0" y="0"/>
              <a:ext cx="4231640" cy="2860040"/>
            </a:xfrm>
            <a:custGeom>
              <a:avLst/>
              <a:gdLst/>
              <a:ahLst/>
              <a:cxnLst/>
              <a:rect r="r" b="b" t="t" l="l"/>
              <a:pathLst>
                <a:path h="2860040" w="4231640">
                  <a:moveTo>
                    <a:pt x="0" y="184531"/>
                  </a:moveTo>
                  <a:cubicBezTo>
                    <a:pt x="0" y="82677"/>
                    <a:pt x="82677" y="0"/>
                    <a:pt x="184531" y="0"/>
                  </a:cubicBezTo>
                  <a:lnTo>
                    <a:pt x="4047109" y="0"/>
                  </a:lnTo>
                  <a:cubicBezTo>
                    <a:pt x="4148963" y="0"/>
                    <a:pt x="4231640" y="82677"/>
                    <a:pt x="4231640" y="184531"/>
                  </a:cubicBezTo>
                  <a:lnTo>
                    <a:pt x="4231640" y="2675509"/>
                  </a:lnTo>
                  <a:cubicBezTo>
                    <a:pt x="4231640" y="2777363"/>
                    <a:pt x="4148963" y="2860040"/>
                    <a:pt x="4047109" y="2860040"/>
                  </a:cubicBezTo>
                  <a:lnTo>
                    <a:pt x="184531" y="2860040"/>
                  </a:lnTo>
                  <a:cubicBezTo>
                    <a:pt x="82677" y="2860040"/>
                    <a:pt x="0" y="2777363"/>
                    <a:pt x="0" y="2675509"/>
                  </a:cubicBezTo>
                  <a:close/>
                </a:path>
              </a:pathLst>
            </a:custGeom>
            <a:solidFill>
              <a:srgbClr val="FFFCE9"/>
            </a:solidFill>
            <a:ln w="28575" cap="sq">
              <a:solidFill>
                <a:srgbClr val="4F2F1E"/>
              </a:solidFill>
              <a:prstDash val="solid"/>
              <a:miter/>
            </a:ln>
          </p:spPr>
        </p:sp>
      </p:grpSp>
      <p:grpSp>
        <p:nvGrpSpPr>
          <p:cNvPr name="Group 39" id="39"/>
          <p:cNvGrpSpPr/>
          <p:nvPr/>
        </p:nvGrpSpPr>
        <p:grpSpPr>
          <a:xfrm rot="0">
            <a:off x="1028700" y="7063740"/>
            <a:ext cx="2743200" cy="891540"/>
            <a:chOff x="0" y="0"/>
            <a:chExt cx="3657600" cy="1188720"/>
          </a:xfrm>
        </p:grpSpPr>
        <p:sp>
          <p:nvSpPr>
            <p:cNvPr name="Freeform 40" id="40"/>
            <p:cNvSpPr/>
            <p:nvPr/>
          </p:nvSpPr>
          <p:spPr>
            <a:xfrm flipH="false" flipV="false" rot="0">
              <a:off x="0" y="0"/>
              <a:ext cx="3657600" cy="1188720"/>
            </a:xfrm>
            <a:custGeom>
              <a:avLst/>
              <a:gdLst/>
              <a:ahLst/>
              <a:cxnLst/>
              <a:rect r="r" b="b" t="t" l="l"/>
              <a:pathLst>
                <a:path h="1188720" w="3657600">
                  <a:moveTo>
                    <a:pt x="0" y="0"/>
                  </a:moveTo>
                  <a:lnTo>
                    <a:pt x="3657600" y="0"/>
                  </a:lnTo>
                  <a:lnTo>
                    <a:pt x="3657600" y="1188720"/>
                  </a:lnTo>
                  <a:lnTo>
                    <a:pt x="0" y="1188720"/>
                  </a:lnTo>
                  <a:close/>
                </a:path>
              </a:pathLst>
            </a:custGeom>
            <a:blipFill>
              <a:blip r:embed="rId4">
                <a:alphaModFix amt="0"/>
              </a:blip>
              <a:stretch>
                <a:fillRect l="0" t="-9953" r="0" b="-9953"/>
              </a:stretch>
            </a:blipFill>
          </p:spPr>
        </p:sp>
        <p:sp>
          <p:nvSpPr>
            <p:cNvPr name="TextBox 41" id="41"/>
            <p:cNvSpPr txBox="true"/>
            <p:nvPr/>
          </p:nvSpPr>
          <p:spPr>
            <a:xfrm>
              <a:off x="0" y="-9525"/>
              <a:ext cx="3657600" cy="1198245"/>
            </a:xfrm>
            <a:prstGeom prst="rect">
              <a:avLst/>
            </a:prstGeom>
          </p:spPr>
          <p:txBody>
            <a:bodyPr anchor="ctr" rtlCol="false" tIns="0" lIns="0" bIns="0" rIns="0"/>
            <a:lstStyle/>
            <a:p>
              <a:pPr algn="l">
                <a:lnSpc>
                  <a:spcPts val="2520"/>
                </a:lnSpc>
              </a:pPr>
              <a:r>
                <a:rPr lang="en-US" b="true" sz="2100">
                  <a:solidFill>
                    <a:srgbClr val="4F2F1E"/>
                  </a:solidFill>
                  <a:latin typeface="HK Grotesk Bold"/>
                  <a:ea typeface="HK Grotesk Bold"/>
                  <a:cs typeface="HK Grotesk Bold"/>
                  <a:sym typeface="HK Grotesk Bold"/>
                </a:rPr>
                <a:t>Iker Justo Vergara</a:t>
              </a:r>
            </a:p>
          </p:txBody>
        </p:sp>
      </p:grpSp>
      <p:grpSp>
        <p:nvGrpSpPr>
          <p:cNvPr name="Group 42" id="42"/>
          <p:cNvGrpSpPr/>
          <p:nvPr/>
        </p:nvGrpSpPr>
        <p:grpSpPr>
          <a:xfrm rot="0">
            <a:off x="4173855" y="6917055"/>
            <a:ext cx="3173730" cy="2145030"/>
            <a:chOff x="0" y="0"/>
            <a:chExt cx="4231640" cy="2860040"/>
          </a:xfrm>
        </p:grpSpPr>
        <p:sp>
          <p:nvSpPr>
            <p:cNvPr name="Freeform 43" id="43"/>
            <p:cNvSpPr/>
            <p:nvPr/>
          </p:nvSpPr>
          <p:spPr>
            <a:xfrm flipH="false" flipV="false" rot="0">
              <a:off x="0" y="0"/>
              <a:ext cx="4231640" cy="2860040"/>
            </a:xfrm>
            <a:custGeom>
              <a:avLst/>
              <a:gdLst/>
              <a:ahLst/>
              <a:cxnLst/>
              <a:rect r="r" b="b" t="t" l="l"/>
              <a:pathLst>
                <a:path h="2860040" w="4231640">
                  <a:moveTo>
                    <a:pt x="0" y="184531"/>
                  </a:moveTo>
                  <a:cubicBezTo>
                    <a:pt x="0" y="82677"/>
                    <a:pt x="82677" y="0"/>
                    <a:pt x="184531" y="0"/>
                  </a:cubicBezTo>
                  <a:lnTo>
                    <a:pt x="4047109" y="0"/>
                  </a:lnTo>
                  <a:cubicBezTo>
                    <a:pt x="4148963" y="0"/>
                    <a:pt x="4231640" y="82677"/>
                    <a:pt x="4231640" y="184531"/>
                  </a:cubicBezTo>
                  <a:lnTo>
                    <a:pt x="4231640" y="2675509"/>
                  </a:lnTo>
                  <a:cubicBezTo>
                    <a:pt x="4231640" y="2777363"/>
                    <a:pt x="4148963" y="2860040"/>
                    <a:pt x="4047109" y="2860040"/>
                  </a:cubicBezTo>
                  <a:lnTo>
                    <a:pt x="184531" y="2860040"/>
                  </a:lnTo>
                  <a:cubicBezTo>
                    <a:pt x="82677" y="2860040"/>
                    <a:pt x="0" y="2777363"/>
                    <a:pt x="0" y="2675509"/>
                  </a:cubicBezTo>
                  <a:close/>
                </a:path>
              </a:pathLst>
            </a:custGeom>
            <a:solidFill>
              <a:srgbClr val="FFFCE9"/>
            </a:solidFill>
            <a:ln w="28575" cap="sq">
              <a:solidFill>
                <a:srgbClr val="4F2F1E"/>
              </a:solidFill>
              <a:prstDash val="solid"/>
              <a:miter/>
            </a:ln>
          </p:spPr>
        </p:sp>
      </p:grpSp>
      <p:grpSp>
        <p:nvGrpSpPr>
          <p:cNvPr name="Group 44" id="44"/>
          <p:cNvGrpSpPr/>
          <p:nvPr/>
        </p:nvGrpSpPr>
        <p:grpSpPr>
          <a:xfrm rot="0">
            <a:off x="4389120" y="7063740"/>
            <a:ext cx="2743200" cy="891540"/>
            <a:chOff x="0" y="0"/>
            <a:chExt cx="3657600" cy="1188720"/>
          </a:xfrm>
        </p:grpSpPr>
        <p:sp>
          <p:nvSpPr>
            <p:cNvPr name="Freeform 45" id="45"/>
            <p:cNvSpPr/>
            <p:nvPr/>
          </p:nvSpPr>
          <p:spPr>
            <a:xfrm flipH="false" flipV="false" rot="0">
              <a:off x="0" y="0"/>
              <a:ext cx="3657600" cy="1188720"/>
            </a:xfrm>
            <a:custGeom>
              <a:avLst/>
              <a:gdLst/>
              <a:ahLst/>
              <a:cxnLst/>
              <a:rect r="r" b="b" t="t" l="l"/>
              <a:pathLst>
                <a:path h="1188720" w="3657600">
                  <a:moveTo>
                    <a:pt x="0" y="0"/>
                  </a:moveTo>
                  <a:lnTo>
                    <a:pt x="3657600" y="0"/>
                  </a:lnTo>
                  <a:lnTo>
                    <a:pt x="3657600" y="1188720"/>
                  </a:lnTo>
                  <a:lnTo>
                    <a:pt x="0" y="1188720"/>
                  </a:lnTo>
                  <a:close/>
                </a:path>
              </a:pathLst>
            </a:custGeom>
            <a:blipFill>
              <a:blip r:embed="rId4">
                <a:alphaModFix amt="0"/>
              </a:blip>
              <a:stretch>
                <a:fillRect l="0" t="-9953" r="0" b="-9953"/>
              </a:stretch>
            </a:blipFill>
          </p:spPr>
        </p:sp>
        <p:sp>
          <p:nvSpPr>
            <p:cNvPr name="TextBox 46" id="46"/>
            <p:cNvSpPr txBox="true"/>
            <p:nvPr/>
          </p:nvSpPr>
          <p:spPr>
            <a:xfrm>
              <a:off x="0" y="-9525"/>
              <a:ext cx="3657600" cy="1198245"/>
            </a:xfrm>
            <a:prstGeom prst="rect">
              <a:avLst/>
            </a:prstGeom>
          </p:spPr>
          <p:txBody>
            <a:bodyPr anchor="ctr" rtlCol="false" tIns="0" lIns="0" bIns="0" rIns="0"/>
            <a:lstStyle/>
            <a:p>
              <a:pPr algn="l">
                <a:lnSpc>
                  <a:spcPts val="2520"/>
                </a:lnSpc>
              </a:pPr>
              <a:r>
                <a:rPr lang="en-US" b="true" sz="2100">
                  <a:solidFill>
                    <a:srgbClr val="4F2F1E"/>
                  </a:solidFill>
                  <a:latin typeface="HK Grotesk Bold"/>
                  <a:ea typeface="HK Grotesk Bold"/>
                  <a:cs typeface="HK Grotesk Bold"/>
                  <a:sym typeface="HK Grotesk Bold"/>
                </a:rPr>
                <a:t>Matías Molina</a:t>
              </a:r>
            </a:p>
          </p:txBody>
        </p:sp>
      </p:grpSp>
      <p:grpSp>
        <p:nvGrpSpPr>
          <p:cNvPr name="Group 47" id="47"/>
          <p:cNvGrpSpPr/>
          <p:nvPr/>
        </p:nvGrpSpPr>
        <p:grpSpPr>
          <a:xfrm rot="0">
            <a:off x="7534275" y="6917055"/>
            <a:ext cx="3173730" cy="2145030"/>
            <a:chOff x="0" y="0"/>
            <a:chExt cx="4231640" cy="2860040"/>
          </a:xfrm>
        </p:grpSpPr>
        <p:sp>
          <p:nvSpPr>
            <p:cNvPr name="Freeform 48" id="48"/>
            <p:cNvSpPr/>
            <p:nvPr/>
          </p:nvSpPr>
          <p:spPr>
            <a:xfrm flipH="false" flipV="false" rot="0">
              <a:off x="0" y="0"/>
              <a:ext cx="4231640" cy="2860040"/>
            </a:xfrm>
            <a:custGeom>
              <a:avLst/>
              <a:gdLst/>
              <a:ahLst/>
              <a:cxnLst/>
              <a:rect r="r" b="b" t="t" l="l"/>
              <a:pathLst>
                <a:path h="2860040" w="4231640">
                  <a:moveTo>
                    <a:pt x="0" y="184531"/>
                  </a:moveTo>
                  <a:cubicBezTo>
                    <a:pt x="0" y="82677"/>
                    <a:pt x="82677" y="0"/>
                    <a:pt x="184531" y="0"/>
                  </a:cubicBezTo>
                  <a:lnTo>
                    <a:pt x="4047109" y="0"/>
                  </a:lnTo>
                  <a:cubicBezTo>
                    <a:pt x="4148963" y="0"/>
                    <a:pt x="4231640" y="82677"/>
                    <a:pt x="4231640" y="184531"/>
                  </a:cubicBezTo>
                  <a:lnTo>
                    <a:pt x="4231640" y="2675509"/>
                  </a:lnTo>
                  <a:cubicBezTo>
                    <a:pt x="4231640" y="2777363"/>
                    <a:pt x="4148963" y="2860040"/>
                    <a:pt x="4047109" y="2860040"/>
                  </a:cubicBezTo>
                  <a:lnTo>
                    <a:pt x="184531" y="2860040"/>
                  </a:lnTo>
                  <a:cubicBezTo>
                    <a:pt x="82677" y="2860040"/>
                    <a:pt x="0" y="2777363"/>
                    <a:pt x="0" y="2675509"/>
                  </a:cubicBezTo>
                  <a:close/>
                </a:path>
              </a:pathLst>
            </a:custGeom>
            <a:solidFill>
              <a:srgbClr val="FFFCE9"/>
            </a:solidFill>
            <a:ln w="28575" cap="sq">
              <a:solidFill>
                <a:srgbClr val="4F2F1E"/>
              </a:solidFill>
              <a:prstDash val="solid"/>
              <a:miter/>
            </a:ln>
          </p:spPr>
        </p:sp>
      </p:grpSp>
      <p:grpSp>
        <p:nvGrpSpPr>
          <p:cNvPr name="Group 49" id="49"/>
          <p:cNvGrpSpPr/>
          <p:nvPr/>
        </p:nvGrpSpPr>
        <p:grpSpPr>
          <a:xfrm rot="0">
            <a:off x="7749540" y="7063740"/>
            <a:ext cx="2743200" cy="891540"/>
            <a:chOff x="0" y="0"/>
            <a:chExt cx="3657600" cy="1188720"/>
          </a:xfrm>
        </p:grpSpPr>
        <p:sp>
          <p:nvSpPr>
            <p:cNvPr name="Freeform 50" id="50"/>
            <p:cNvSpPr/>
            <p:nvPr/>
          </p:nvSpPr>
          <p:spPr>
            <a:xfrm flipH="false" flipV="false" rot="0">
              <a:off x="0" y="0"/>
              <a:ext cx="3657600" cy="1188720"/>
            </a:xfrm>
            <a:custGeom>
              <a:avLst/>
              <a:gdLst/>
              <a:ahLst/>
              <a:cxnLst/>
              <a:rect r="r" b="b" t="t" l="l"/>
              <a:pathLst>
                <a:path h="1188720" w="3657600">
                  <a:moveTo>
                    <a:pt x="0" y="0"/>
                  </a:moveTo>
                  <a:lnTo>
                    <a:pt x="3657600" y="0"/>
                  </a:lnTo>
                  <a:lnTo>
                    <a:pt x="3657600" y="1188720"/>
                  </a:lnTo>
                  <a:lnTo>
                    <a:pt x="0" y="1188720"/>
                  </a:lnTo>
                  <a:close/>
                </a:path>
              </a:pathLst>
            </a:custGeom>
            <a:blipFill>
              <a:blip r:embed="rId4">
                <a:alphaModFix amt="0"/>
              </a:blip>
              <a:stretch>
                <a:fillRect l="0" t="-9953" r="0" b="-9953"/>
              </a:stretch>
            </a:blipFill>
          </p:spPr>
        </p:sp>
        <p:sp>
          <p:nvSpPr>
            <p:cNvPr name="TextBox 51" id="51"/>
            <p:cNvSpPr txBox="true"/>
            <p:nvPr/>
          </p:nvSpPr>
          <p:spPr>
            <a:xfrm>
              <a:off x="0" y="-9525"/>
              <a:ext cx="3657600" cy="1198245"/>
            </a:xfrm>
            <a:prstGeom prst="rect">
              <a:avLst/>
            </a:prstGeom>
          </p:spPr>
          <p:txBody>
            <a:bodyPr anchor="ctr" rtlCol="false" tIns="0" lIns="0" bIns="0" rIns="0"/>
            <a:lstStyle/>
            <a:p>
              <a:pPr algn="l">
                <a:lnSpc>
                  <a:spcPts val="2520"/>
                </a:lnSpc>
              </a:pPr>
              <a:r>
                <a:rPr lang="en-US" b="true" sz="2100">
                  <a:solidFill>
                    <a:srgbClr val="4F2F1E"/>
                  </a:solidFill>
                  <a:latin typeface="HK Grotesk Bold"/>
                  <a:ea typeface="HK Grotesk Bold"/>
                  <a:cs typeface="HK Grotesk Bold"/>
                  <a:sym typeface="HK Grotesk Bold"/>
                </a:rPr>
                <a:t>Iván Peña y Benjamín Vargas</a:t>
              </a:r>
            </a:p>
          </p:txBody>
        </p:sp>
      </p:grpSp>
      <p:grpSp>
        <p:nvGrpSpPr>
          <p:cNvPr name="Group 52" id="52"/>
          <p:cNvGrpSpPr/>
          <p:nvPr/>
        </p:nvGrpSpPr>
        <p:grpSpPr>
          <a:xfrm rot="0">
            <a:off x="10894695" y="6917055"/>
            <a:ext cx="3173730" cy="2145030"/>
            <a:chOff x="0" y="0"/>
            <a:chExt cx="4231640" cy="2860040"/>
          </a:xfrm>
        </p:grpSpPr>
        <p:sp>
          <p:nvSpPr>
            <p:cNvPr name="Freeform 53" id="53"/>
            <p:cNvSpPr/>
            <p:nvPr/>
          </p:nvSpPr>
          <p:spPr>
            <a:xfrm flipH="false" flipV="false" rot="0">
              <a:off x="0" y="0"/>
              <a:ext cx="4231640" cy="2860040"/>
            </a:xfrm>
            <a:custGeom>
              <a:avLst/>
              <a:gdLst/>
              <a:ahLst/>
              <a:cxnLst/>
              <a:rect r="r" b="b" t="t" l="l"/>
              <a:pathLst>
                <a:path h="2860040" w="4231640">
                  <a:moveTo>
                    <a:pt x="0" y="184531"/>
                  </a:moveTo>
                  <a:cubicBezTo>
                    <a:pt x="0" y="82677"/>
                    <a:pt x="82677" y="0"/>
                    <a:pt x="184531" y="0"/>
                  </a:cubicBezTo>
                  <a:lnTo>
                    <a:pt x="4047109" y="0"/>
                  </a:lnTo>
                  <a:cubicBezTo>
                    <a:pt x="4148963" y="0"/>
                    <a:pt x="4231640" y="82677"/>
                    <a:pt x="4231640" y="184531"/>
                  </a:cubicBezTo>
                  <a:lnTo>
                    <a:pt x="4231640" y="2675509"/>
                  </a:lnTo>
                  <a:cubicBezTo>
                    <a:pt x="4231640" y="2777363"/>
                    <a:pt x="4148963" y="2860040"/>
                    <a:pt x="4047109" y="2860040"/>
                  </a:cubicBezTo>
                  <a:lnTo>
                    <a:pt x="184531" y="2860040"/>
                  </a:lnTo>
                  <a:cubicBezTo>
                    <a:pt x="82677" y="2860040"/>
                    <a:pt x="0" y="2777363"/>
                    <a:pt x="0" y="2675509"/>
                  </a:cubicBezTo>
                  <a:close/>
                </a:path>
              </a:pathLst>
            </a:custGeom>
            <a:solidFill>
              <a:srgbClr val="FFFCE9"/>
            </a:solidFill>
            <a:ln w="28575" cap="sq">
              <a:solidFill>
                <a:srgbClr val="4F2F1E"/>
              </a:solidFill>
              <a:prstDash val="solid"/>
              <a:miter/>
            </a:ln>
          </p:spPr>
        </p:sp>
      </p:grpSp>
      <p:grpSp>
        <p:nvGrpSpPr>
          <p:cNvPr name="Group 54" id="54"/>
          <p:cNvGrpSpPr/>
          <p:nvPr/>
        </p:nvGrpSpPr>
        <p:grpSpPr>
          <a:xfrm rot="0">
            <a:off x="11109960" y="7063740"/>
            <a:ext cx="2743200" cy="891540"/>
            <a:chOff x="0" y="0"/>
            <a:chExt cx="3657600" cy="1188720"/>
          </a:xfrm>
        </p:grpSpPr>
        <p:sp>
          <p:nvSpPr>
            <p:cNvPr name="Freeform 55" id="55"/>
            <p:cNvSpPr/>
            <p:nvPr/>
          </p:nvSpPr>
          <p:spPr>
            <a:xfrm flipH="false" flipV="false" rot="0">
              <a:off x="0" y="0"/>
              <a:ext cx="3657600" cy="1188720"/>
            </a:xfrm>
            <a:custGeom>
              <a:avLst/>
              <a:gdLst/>
              <a:ahLst/>
              <a:cxnLst/>
              <a:rect r="r" b="b" t="t" l="l"/>
              <a:pathLst>
                <a:path h="1188720" w="3657600">
                  <a:moveTo>
                    <a:pt x="0" y="0"/>
                  </a:moveTo>
                  <a:lnTo>
                    <a:pt x="3657600" y="0"/>
                  </a:lnTo>
                  <a:lnTo>
                    <a:pt x="3657600" y="1188720"/>
                  </a:lnTo>
                  <a:lnTo>
                    <a:pt x="0" y="1188720"/>
                  </a:lnTo>
                  <a:close/>
                </a:path>
              </a:pathLst>
            </a:custGeom>
            <a:blipFill>
              <a:blip r:embed="rId4">
                <a:alphaModFix amt="0"/>
              </a:blip>
              <a:stretch>
                <a:fillRect l="0" t="-9953" r="0" b="-9953"/>
              </a:stretch>
            </a:blipFill>
          </p:spPr>
        </p:sp>
        <p:sp>
          <p:nvSpPr>
            <p:cNvPr name="TextBox 56" id="56"/>
            <p:cNvSpPr txBox="true"/>
            <p:nvPr/>
          </p:nvSpPr>
          <p:spPr>
            <a:xfrm>
              <a:off x="0" y="-9525"/>
              <a:ext cx="3657600" cy="1198245"/>
            </a:xfrm>
            <a:prstGeom prst="rect">
              <a:avLst/>
            </a:prstGeom>
          </p:spPr>
          <p:txBody>
            <a:bodyPr anchor="ctr" rtlCol="false" tIns="0" lIns="0" bIns="0" rIns="0"/>
            <a:lstStyle/>
            <a:p>
              <a:pPr algn="l">
                <a:lnSpc>
                  <a:spcPts val="2520"/>
                </a:lnSpc>
              </a:pPr>
              <a:r>
                <a:rPr lang="en-US" b="true" sz="2100">
                  <a:solidFill>
                    <a:srgbClr val="4F2F1E"/>
                  </a:solidFill>
                  <a:latin typeface="HK Grotesk Bold"/>
                  <a:ea typeface="HK Grotesk Bold"/>
                  <a:cs typeface="HK Grotesk Bold"/>
                  <a:sym typeface="HK Grotesk Bold"/>
                </a:rPr>
                <a:t>Josefa y Rodolfo</a:t>
              </a:r>
            </a:p>
          </p:txBody>
        </p:sp>
      </p:grpSp>
      <p:grpSp>
        <p:nvGrpSpPr>
          <p:cNvPr name="Group 57" id="57"/>
          <p:cNvGrpSpPr/>
          <p:nvPr/>
        </p:nvGrpSpPr>
        <p:grpSpPr>
          <a:xfrm rot="0">
            <a:off x="14255115" y="6917055"/>
            <a:ext cx="3173730" cy="2145030"/>
            <a:chOff x="0" y="0"/>
            <a:chExt cx="4231640" cy="2860040"/>
          </a:xfrm>
        </p:grpSpPr>
        <p:sp>
          <p:nvSpPr>
            <p:cNvPr name="Freeform 58" id="58"/>
            <p:cNvSpPr/>
            <p:nvPr/>
          </p:nvSpPr>
          <p:spPr>
            <a:xfrm flipH="false" flipV="false" rot="0">
              <a:off x="0" y="0"/>
              <a:ext cx="4231640" cy="2860040"/>
            </a:xfrm>
            <a:custGeom>
              <a:avLst/>
              <a:gdLst/>
              <a:ahLst/>
              <a:cxnLst/>
              <a:rect r="r" b="b" t="t" l="l"/>
              <a:pathLst>
                <a:path h="2860040" w="4231640">
                  <a:moveTo>
                    <a:pt x="0" y="184531"/>
                  </a:moveTo>
                  <a:cubicBezTo>
                    <a:pt x="0" y="82677"/>
                    <a:pt x="82677" y="0"/>
                    <a:pt x="184531" y="0"/>
                  </a:cubicBezTo>
                  <a:lnTo>
                    <a:pt x="4047109" y="0"/>
                  </a:lnTo>
                  <a:cubicBezTo>
                    <a:pt x="4148963" y="0"/>
                    <a:pt x="4231640" y="82677"/>
                    <a:pt x="4231640" y="184531"/>
                  </a:cubicBezTo>
                  <a:lnTo>
                    <a:pt x="4231640" y="2675509"/>
                  </a:lnTo>
                  <a:cubicBezTo>
                    <a:pt x="4231640" y="2777363"/>
                    <a:pt x="4148963" y="2860040"/>
                    <a:pt x="4047109" y="2860040"/>
                  </a:cubicBezTo>
                  <a:lnTo>
                    <a:pt x="184531" y="2860040"/>
                  </a:lnTo>
                  <a:cubicBezTo>
                    <a:pt x="82677" y="2860040"/>
                    <a:pt x="0" y="2777363"/>
                    <a:pt x="0" y="2675509"/>
                  </a:cubicBezTo>
                  <a:close/>
                </a:path>
              </a:pathLst>
            </a:custGeom>
            <a:solidFill>
              <a:srgbClr val="FFFCE9"/>
            </a:solidFill>
            <a:ln w="28575" cap="sq">
              <a:solidFill>
                <a:srgbClr val="4F2F1E"/>
              </a:solidFill>
              <a:prstDash val="solid"/>
              <a:miter/>
            </a:ln>
          </p:spPr>
        </p:sp>
      </p:grpSp>
      <p:grpSp>
        <p:nvGrpSpPr>
          <p:cNvPr name="Group 59" id="59"/>
          <p:cNvGrpSpPr/>
          <p:nvPr/>
        </p:nvGrpSpPr>
        <p:grpSpPr>
          <a:xfrm rot="0">
            <a:off x="14470380" y="7063740"/>
            <a:ext cx="2743200" cy="891540"/>
            <a:chOff x="0" y="0"/>
            <a:chExt cx="3657600" cy="1188720"/>
          </a:xfrm>
        </p:grpSpPr>
        <p:sp>
          <p:nvSpPr>
            <p:cNvPr name="Freeform 60" id="60"/>
            <p:cNvSpPr/>
            <p:nvPr/>
          </p:nvSpPr>
          <p:spPr>
            <a:xfrm flipH="false" flipV="false" rot="0">
              <a:off x="0" y="0"/>
              <a:ext cx="3657600" cy="1188720"/>
            </a:xfrm>
            <a:custGeom>
              <a:avLst/>
              <a:gdLst/>
              <a:ahLst/>
              <a:cxnLst/>
              <a:rect r="r" b="b" t="t" l="l"/>
              <a:pathLst>
                <a:path h="1188720" w="3657600">
                  <a:moveTo>
                    <a:pt x="0" y="0"/>
                  </a:moveTo>
                  <a:lnTo>
                    <a:pt x="3657600" y="0"/>
                  </a:lnTo>
                  <a:lnTo>
                    <a:pt x="3657600" y="1188720"/>
                  </a:lnTo>
                  <a:lnTo>
                    <a:pt x="0" y="1188720"/>
                  </a:lnTo>
                  <a:close/>
                </a:path>
              </a:pathLst>
            </a:custGeom>
            <a:blipFill>
              <a:blip r:embed="rId4">
                <a:alphaModFix amt="0"/>
              </a:blip>
              <a:stretch>
                <a:fillRect l="0" t="-9953" r="0" b="-9953"/>
              </a:stretch>
            </a:blipFill>
          </p:spPr>
        </p:sp>
        <p:sp>
          <p:nvSpPr>
            <p:cNvPr name="TextBox 61" id="61"/>
            <p:cNvSpPr txBox="true"/>
            <p:nvPr/>
          </p:nvSpPr>
          <p:spPr>
            <a:xfrm>
              <a:off x="0" y="-9525"/>
              <a:ext cx="3657600" cy="1198245"/>
            </a:xfrm>
            <a:prstGeom prst="rect">
              <a:avLst/>
            </a:prstGeom>
          </p:spPr>
          <p:txBody>
            <a:bodyPr anchor="ctr" rtlCol="false" tIns="0" lIns="0" bIns="0" rIns="0"/>
            <a:lstStyle/>
            <a:p>
              <a:pPr algn="l">
                <a:lnSpc>
                  <a:spcPts val="2520"/>
                </a:lnSpc>
              </a:pPr>
              <a:r>
                <a:rPr lang="en-US" b="true" sz="2100">
                  <a:solidFill>
                    <a:srgbClr val="4F2F1E"/>
                  </a:solidFill>
                  <a:latin typeface="HK Grotesk Bold"/>
                  <a:ea typeface="HK Grotesk Bold"/>
                  <a:cs typeface="HK Grotesk Bold"/>
                  <a:sym typeface="HK Grotesk Bold"/>
                </a:rPr>
                <a:t>Mallén González</a:t>
              </a:r>
            </a:p>
          </p:txBody>
        </p:sp>
      </p:grpSp>
      <p:sp>
        <p:nvSpPr>
          <p:cNvPr name="Freeform 62" id="62"/>
          <p:cNvSpPr/>
          <p:nvPr/>
        </p:nvSpPr>
        <p:spPr>
          <a:xfrm flipH="false" flipV="false" rot="0">
            <a:off x="5047488" y="5439871"/>
            <a:ext cx="1317463" cy="1251590"/>
          </a:xfrm>
          <a:custGeom>
            <a:avLst/>
            <a:gdLst/>
            <a:ahLst/>
            <a:cxnLst/>
            <a:rect r="r" b="b" t="t" l="l"/>
            <a:pathLst>
              <a:path h="1251590" w="1317463">
                <a:moveTo>
                  <a:pt x="0" y="0"/>
                </a:moveTo>
                <a:lnTo>
                  <a:pt x="1317463" y="0"/>
                </a:lnTo>
                <a:lnTo>
                  <a:pt x="1317463" y="1251590"/>
                </a:lnTo>
                <a:lnTo>
                  <a:pt x="0" y="1251590"/>
                </a:lnTo>
                <a:lnTo>
                  <a:pt x="0" y="0"/>
                </a:lnTo>
                <a:close/>
              </a:path>
            </a:pathLst>
          </a:custGeom>
          <a:blipFill>
            <a:blip r:embed="rId5"/>
            <a:stretch>
              <a:fillRect l="0" t="0" r="0" b="0"/>
            </a:stretch>
          </a:blipFill>
        </p:spPr>
      </p:sp>
      <p:sp>
        <p:nvSpPr>
          <p:cNvPr name="TextBox 63" id="63"/>
          <p:cNvSpPr txBox="true"/>
          <p:nvPr/>
        </p:nvSpPr>
        <p:spPr>
          <a:xfrm rot="0">
            <a:off x="891540" y="3899535"/>
            <a:ext cx="2537460" cy="952500"/>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Equipo, roles y elección de DSDM con MoSCoW</a:t>
            </a:r>
          </a:p>
        </p:txBody>
      </p:sp>
      <p:sp>
        <p:nvSpPr>
          <p:cNvPr name="TextBox 64" id="64"/>
          <p:cNvSpPr txBox="true"/>
          <p:nvPr/>
        </p:nvSpPr>
        <p:spPr>
          <a:xfrm rot="0">
            <a:off x="3675888" y="3899535"/>
            <a:ext cx="253746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Reunión con pañol y análisis de factibilidad</a:t>
            </a:r>
          </a:p>
        </p:txBody>
      </p:sp>
      <p:sp>
        <p:nvSpPr>
          <p:cNvPr name="TextBox 65" id="65"/>
          <p:cNvSpPr txBox="true"/>
          <p:nvPr/>
        </p:nvSpPr>
        <p:spPr>
          <a:xfrm rot="0">
            <a:off x="6460236" y="3899535"/>
            <a:ext cx="2537460" cy="952500"/>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Tecnologías, arquitectura, modelo de datos y backlog</a:t>
            </a:r>
          </a:p>
        </p:txBody>
      </p:sp>
      <p:sp>
        <p:nvSpPr>
          <p:cNvPr name="TextBox 66" id="66"/>
          <p:cNvSpPr txBox="true"/>
          <p:nvPr/>
        </p:nvSpPr>
        <p:spPr>
          <a:xfrm rot="0">
            <a:off x="9244584" y="3899535"/>
            <a:ext cx="2537460" cy="952500"/>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Incrementos de 15 días con demostración a pañol</a:t>
            </a:r>
          </a:p>
        </p:txBody>
      </p:sp>
      <p:sp>
        <p:nvSpPr>
          <p:cNvPr name="TextBox 67" id="67"/>
          <p:cNvSpPr txBox="true"/>
          <p:nvPr/>
        </p:nvSpPr>
        <p:spPr>
          <a:xfrm rot="0">
            <a:off x="12028932" y="3899535"/>
            <a:ext cx="253746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Azure listo; faltan UAT y Demo Day</a:t>
            </a:r>
          </a:p>
        </p:txBody>
      </p:sp>
      <p:sp>
        <p:nvSpPr>
          <p:cNvPr name="TextBox 68" id="68"/>
          <p:cNvSpPr txBox="true"/>
          <p:nvPr/>
        </p:nvSpPr>
        <p:spPr>
          <a:xfrm rot="0">
            <a:off x="14813280" y="3899535"/>
            <a:ext cx="2537460" cy="638175"/>
          </a:xfrm>
          <a:prstGeom prst="rect">
            <a:avLst/>
          </a:prstGeom>
        </p:spPr>
        <p:txBody>
          <a:bodyPr anchor="t" rtlCol="false" tIns="0" lIns="0" bIns="0" rIns="0">
            <a:spAutoFit/>
          </a:bodyPr>
          <a:lstStyle/>
          <a:p>
            <a:pPr algn="l">
              <a:lnSpc>
                <a:spcPts val="2520"/>
              </a:lnSpc>
            </a:pPr>
            <a:r>
              <a:rPr lang="en-US" sz="2100">
                <a:solidFill>
                  <a:srgbClr val="4F2F1E"/>
                </a:solidFill>
                <a:latin typeface="HK Grotesk"/>
                <a:ea typeface="HK Grotesk"/>
                <a:cs typeface="HK Grotesk"/>
                <a:sym typeface="HK Grotesk"/>
              </a:rPr>
              <a:t>Por definir quién mantiene el sistema</a:t>
            </a:r>
          </a:p>
        </p:txBody>
      </p:sp>
      <p:sp>
        <p:nvSpPr>
          <p:cNvPr name="TextBox 69" id="69"/>
          <p:cNvSpPr txBox="true"/>
          <p:nvPr/>
        </p:nvSpPr>
        <p:spPr>
          <a:xfrm rot="0">
            <a:off x="6554138" y="5695753"/>
            <a:ext cx="5662231" cy="742950"/>
          </a:xfrm>
          <a:prstGeom prst="rect">
            <a:avLst/>
          </a:prstGeom>
        </p:spPr>
        <p:txBody>
          <a:bodyPr anchor="t" rtlCol="false" tIns="0" lIns="0" bIns="0" rIns="0">
            <a:spAutoFit/>
          </a:bodyPr>
          <a:lstStyle/>
          <a:p>
            <a:pPr algn="l">
              <a:lnSpc>
                <a:spcPts val="5828"/>
              </a:lnSpc>
            </a:pPr>
            <a:r>
              <a:rPr lang="en-US" b="true" sz="4856">
                <a:solidFill>
                  <a:srgbClr val="4F2F1E"/>
                </a:solidFill>
                <a:latin typeface="HK Grotesk Bold"/>
                <a:ea typeface="HK Grotesk Bold"/>
                <a:cs typeface="HK Grotesk Bold"/>
                <a:sym typeface="HK Grotesk Bold"/>
              </a:rPr>
              <a:t>Roles del proyecto</a:t>
            </a:r>
          </a:p>
        </p:txBody>
      </p:sp>
      <p:sp>
        <p:nvSpPr>
          <p:cNvPr name="TextBox 70" id="70"/>
          <p:cNvSpPr txBox="true"/>
          <p:nvPr/>
        </p:nvSpPr>
        <p:spPr>
          <a:xfrm rot="0">
            <a:off x="1028700" y="8014335"/>
            <a:ext cx="2743200" cy="638175"/>
          </a:xfrm>
          <a:prstGeom prst="rect">
            <a:avLst/>
          </a:prstGeom>
        </p:spPr>
        <p:txBody>
          <a:bodyPr anchor="t" rtlCol="false" tIns="0" lIns="0" bIns="0" rIns="0">
            <a:spAutoFit/>
          </a:bodyPr>
          <a:lstStyle/>
          <a:p>
            <a:pPr algn="l">
              <a:lnSpc>
                <a:spcPts val="2520"/>
              </a:lnSpc>
            </a:pPr>
            <a:r>
              <a:rPr lang="en-US" sz="2100" b="true">
                <a:solidFill>
                  <a:srgbClr val="5C6B7A"/>
                </a:solidFill>
                <a:latin typeface="HK Grotesk Bold"/>
                <a:ea typeface="HK Grotesk Bold"/>
                <a:cs typeface="HK Grotesk Bold"/>
                <a:sym typeface="HK Grotesk Bold"/>
              </a:rPr>
              <a:t>Project Manager / Team Leader</a:t>
            </a:r>
          </a:p>
        </p:txBody>
      </p:sp>
      <p:sp>
        <p:nvSpPr>
          <p:cNvPr name="TextBox 71" id="71"/>
          <p:cNvSpPr txBox="true"/>
          <p:nvPr/>
        </p:nvSpPr>
        <p:spPr>
          <a:xfrm rot="0">
            <a:off x="4389120" y="8014335"/>
            <a:ext cx="2743200" cy="638175"/>
          </a:xfrm>
          <a:prstGeom prst="rect">
            <a:avLst/>
          </a:prstGeom>
        </p:spPr>
        <p:txBody>
          <a:bodyPr anchor="t" rtlCol="false" tIns="0" lIns="0" bIns="0" rIns="0">
            <a:spAutoFit/>
          </a:bodyPr>
          <a:lstStyle/>
          <a:p>
            <a:pPr algn="l">
              <a:lnSpc>
                <a:spcPts val="2520"/>
              </a:lnSpc>
            </a:pPr>
            <a:r>
              <a:rPr lang="en-US" sz="2100" b="true">
                <a:solidFill>
                  <a:srgbClr val="5C6B7A"/>
                </a:solidFill>
                <a:latin typeface="HK Grotesk Bold"/>
                <a:ea typeface="HK Grotesk Bold"/>
                <a:cs typeface="HK Grotesk Bold"/>
                <a:sym typeface="HK Grotesk Bold"/>
              </a:rPr>
              <a:t>Technical Coordinator / Developer</a:t>
            </a:r>
          </a:p>
        </p:txBody>
      </p:sp>
      <p:sp>
        <p:nvSpPr>
          <p:cNvPr name="TextBox 72" id="72"/>
          <p:cNvSpPr txBox="true"/>
          <p:nvPr/>
        </p:nvSpPr>
        <p:spPr>
          <a:xfrm rot="0">
            <a:off x="7749540" y="8014335"/>
            <a:ext cx="2743200" cy="638175"/>
          </a:xfrm>
          <a:prstGeom prst="rect">
            <a:avLst/>
          </a:prstGeom>
        </p:spPr>
        <p:txBody>
          <a:bodyPr anchor="t" rtlCol="false" tIns="0" lIns="0" bIns="0" rIns="0">
            <a:spAutoFit/>
          </a:bodyPr>
          <a:lstStyle/>
          <a:p>
            <a:pPr algn="l">
              <a:lnSpc>
                <a:spcPts val="2520"/>
              </a:lnSpc>
            </a:pPr>
            <a:r>
              <a:rPr lang="en-US" sz="2100" b="true">
                <a:solidFill>
                  <a:srgbClr val="5C6B7A"/>
                </a:solidFill>
                <a:latin typeface="HK Grotesk Bold"/>
                <a:ea typeface="HK Grotesk Bold"/>
                <a:cs typeface="HK Grotesk Bold"/>
                <a:sym typeface="HK Grotesk Bold"/>
              </a:rPr>
              <a:t>Solution Tester / Business Analyst</a:t>
            </a:r>
          </a:p>
        </p:txBody>
      </p:sp>
      <p:sp>
        <p:nvSpPr>
          <p:cNvPr name="TextBox 73" id="73"/>
          <p:cNvSpPr txBox="true"/>
          <p:nvPr/>
        </p:nvSpPr>
        <p:spPr>
          <a:xfrm rot="0">
            <a:off x="11109960" y="8014335"/>
            <a:ext cx="2743200" cy="638175"/>
          </a:xfrm>
          <a:prstGeom prst="rect">
            <a:avLst/>
          </a:prstGeom>
        </p:spPr>
        <p:txBody>
          <a:bodyPr anchor="t" rtlCol="false" tIns="0" lIns="0" bIns="0" rIns="0">
            <a:spAutoFit/>
          </a:bodyPr>
          <a:lstStyle/>
          <a:p>
            <a:pPr algn="l">
              <a:lnSpc>
                <a:spcPts val="2520"/>
              </a:lnSpc>
            </a:pPr>
            <a:r>
              <a:rPr lang="en-US" sz="2100" b="true">
                <a:solidFill>
                  <a:srgbClr val="5C6B7A"/>
                </a:solidFill>
                <a:latin typeface="HK Grotesk Bold"/>
                <a:ea typeface="HK Grotesk Bold"/>
                <a:cs typeface="HK Grotesk Bold"/>
                <a:sym typeface="HK Grotesk Bold"/>
              </a:rPr>
              <a:t>Business Ambassadors (pañol)</a:t>
            </a:r>
          </a:p>
        </p:txBody>
      </p:sp>
      <p:sp>
        <p:nvSpPr>
          <p:cNvPr name="TextBox 74" id="74"/>
          <p:cNvSpPr txBox="true"/>
          <p:nvPr/>
        </p:nvSpPr>
        <p:spPr>
          <a:xfrm rot="0">
            <a:off x="14470380" y="8014335"/>
            <a:ext cx="2743200" cy="323850"/>
          </a:xfrm>
          <a:prstGeom prst="rect">
            <a:avLst/>
          </a:prstGeom>
        </p:spPr>
        <p:txBody>
          <a:bodyPr anchor="t" rtlCol="false" tIns="0" lIns="0" bIns="0" rIns="0">
            <a:spAutoFit/>
          </a:bodyPr>
          <a:lstStyle/>
          <a:p>
            <a:pPr algn="l">
              <a:lnSpc>
                <a:spcPts val="2520"/>
              </a:lnSpc>
            </a:pPr>
            <a:r>
              <a:rPr lang="en-US" sz="2100" b="true">
                <a:solidFill>
                  <a:srgbClr val="5C6B7A"/>
                </a:solidFill>
                <a:latin typeface="HK Grotesk Bold"/>
                <a:ea typeface="HK Grotesk Bold"/>
                <a:cs typeface="HK Grotesk Bold"/>
                <a:sym typeface="HK Grotesk Bold"/>
              </a:rPr>
              <a:t>DSDM Coach</a:t>
            </a:r>
          </a:p>
        </p:txBody>
      </p:sp>
      <p:sp>
        <p:nvSpPr>
          <p:cNvPr name="Freeform 75" id="75"/>
          <p:cNvSpPr/>
          <p:nvPr/>
        </p:nvSpPr>
        <p:spPr>
          <a:xfrm flipH="true" flipV="false" rot="0">
            <a:off x="11781680" y="5446195"/>
            <a:ext cx="1317463" cy="1251590"/>
          </a:xfrm>
          <a:custGeom>
            <a:avLst/>
            <a:gdLst/>
            <a:ahLst/>
            <a:cxnLst/>
            <a:rect r="r" b="b" t="t" l="l"/>
            <a:pathLst>
              <a:path h="1251590" w="1317463">
                <a:moveTo>
                  <a:pt x="1317464" y="0"/>
                </a:moveTo>
                <a:lnTo>
                  <a:pt x="0" y="0"/>
                </a:lnTo>
                <a:lnTo>
                  <a:pt x="0" y="1251590"/>
                </a:lnTo>
                <a:lnTo>
                  <a:pt x="1317464" y="1251590"/>
                </a:lnTo>
                <a:lnTo>
                  <a:pt x="1317464" y="0"/>
                </a:lnTo>
                <a:close/>
              </a:path>
            </a:pathLst>
          </a:custGeom>
          <a:blipFill>
            <a:blip r:embed="rId5"/>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sp>
        <p:nvSpPr>
          <p:cNvPr name="TextBox 4" id="4"/>
          <p:cNvSpPr txBox="true"/>
          <p:nvPr/>
        </p:nvSpPr>
        <p:spPr>
          <a:xfrm rot="0">
            <a:off x="4572000" y="857250"/>
            <a:ext cx="9144000" cy="723900"/>
          </a:xfrm>
          <a:prstGeom prst="rect">
            <a:avLst/>
          </a:prstGeom>
        </p:spPr>
        <p:txBody>
          <a:bodyPr anchor="t" rtlCol="false" tIns="0" lIns="0" bIns="0" rIns="0">
            <a:spAutoFit/>
          </a:bodyPr>
          <a:lstStyle/>
          <a:p>
            <a:pPr algn="ctr" marL="0" indent="0" lvl="0">
              <a:lnSpc>
                <a:spcPts val="5759"/>
              </a:lnSpc>
              <a:spcBef>
                <a:spcPct val="0"/>
              </a:spcBef>
            </a:pPr>
            <a:r>
              <a:rPr lang="en-US" b="true" sz="4800" strike="noStrike" u="none">
                <a:solidFill>
                  <a:srgbClr val="4F2F1E"/>
                </a:solidFill>
                <a:latin typeface="HK Grotesk Bold"/>
                <a:ea typeface="HK Grotesk Bold"/>
                <a:cs typeface="HK Grotesk Bold"/>
                <a:sym typeface="HK Grotesk Bold"/>
              </a:rPr>
              <a:t>Tecnologías del proyecto</a:t>
            </a:r>
          </a:p>
        </p:txBody>
      </p:sp>
      <p:grpSp>
        <p:nvGrpSpPr>
          <p:cNvPr name="Group 5" id="5"/>
          <p:cNvGrpSpPr/>
          <p:nvPr/>
        </p:nvGrpSpPr>
        <p:grpSpPr>
          <a:xfrm rot="0">
            <a:off x="1047750" y="2095500"/>
            <a:ext cx="5048250" cy="2857500"/>
            <a:chOff x="0" y="0"/>
            <a:chExt cx="6731000" cy="3810000"/>
          </a:xfrm>
        </p:grpSpPr>
        <p:sp>
          <p:nvSpPr>
            <p:cNvPr name="Freeform 6" id="6"/>
            <p:cNvSpPr/>
            <p:nvPr/>
          </p:nvSpPr>
          <p:spPr>
            <a:xfrm flipH="false" flipV="false" rot="0">
              <a:off x="0" y="0"/>
              <a:ext cx="6731000" cy="3810000"/>
            </a:xfrm>
            <a:custGeom>
              <a:avLst/>
              <a:gdLst/>
              <a:ahLst/>
              <a:cxnLst/>
              <a:rect r="r" b="b" t="t" l="l"/>
              <a:pathLst>
                <a:path h="3810000" w="6731000">
                  <a:moveTo>
                    <a:pt x="0" y="586246"/>
                  </a:moveTo>
                  <a:cubicBezTo>
                    <a:pt x="0" y="262635"/>
                    <a:pt x="72584" y="0"/>
                    <a:pt x="162019" y="0"/>
                  </a:cubicBezTo>
                  <a:lnTo>
                    <a:pt x="6568981" y="0"/>
                  </a:lnTo>
                  <a:cubicBezTo>
                    <a:pt x="6658417" y="0"/>
                    <a:pt x="6731000" y="262635"/>
                    <a:pt x="6731000" y="586246"/>
                  </a:cubicBezTo>
                  <a:lnTo>
                    <a:pt x="6731000" y="3223754"/>
                  </a:lnTo>
                  <a:cubicBezTo>
                    <a:pt x="6731000" y="3547365"/>
                    <a:pt x="6658417" y="3810000"/>
                    <a:pt x="6568981" y="3810000"/>
                  </a:cubicBezTo>
                  <a:lnTo>
                    <a:pt x="162019" y="3810000"/>
                  </a:lnTo>
                  <a:cubicBezTo>
                    <a:pt x="72584" y="3810000"/>
                    <a:pt x="0" y="3547365"/>
                    <a:pt x="0" y="3223754"/>
                  </a:cubicBezTo>
                  <a:close/>
                </a:path>
              </a:pathLst>
            </a:custGeom>
            <a:solidFill>
              <a:srgbClr val="FFFCE9"/>
            </a:solidFill>
            <a:ln w="38100" cap="sq">
              <a:solidFill>
                <a:srgbClr val="4F2F1E"/>
              </a:solidFill>
              <a:prstDash val="solid"/>
              <a:miter/>
            </a:ln>
          </p:spPr>
        </p:sp>
      </p:grpSp>
      <p:grpSp>
        <p:nvGrpSpPr>
          <p:cNvPr name="Group 7" id="7"/>
          <p:cNvGrpSpPr/>
          <p:nvPr/>
        </p:nvGrpSpPr>
        <p:grpSpPr>
          <a:xfrm rot="0">
            <a:off x="1333500" y="2381250"/>
            <a:ext cx="4476750" cy="762000"/>
            <a:chOff x="0" y="0"/>
            <a:chExt cx="5969000" cy="1016000"/>
          </a:xfrm>
        </p:grpSpPr>
        <p:sp>
          <p:nvSpPr>
            <p:cNvPr name="Freeform 8" id="8"/>
            <p:cNvSpPr/>
            <p:nvPr/>
          </p:nvSpPr>
          <p:spPr>
            <a:xfrm flipH="false" flipV="false" rot="0">
              <a:off x="0" y="0"/>
              <a:ext cx="5969000" cy="1016000"/>
            </a:xfrm>
            <a:custGeom>
              <a:avLst/>
              <a:gdLst/>
              <a:ahLst/>
              <a:cxnLst/>
              <a:rect r="r" b="b" t="t" l="l"/>
              <a:pathLst>
                <a:path h="1016000" w="5969000">
                  <a:moveTo>
                    <a:pt x="0" y="0"/>
                  </a:moveTo>
                  <a:lnTo>
                    <a:pt x="5969000" y="0"/>
                  </a:lnTo>
                  <a:lnTo>
                    <a:pt x="5969000" y="1016000"/>
                  </a:lnTo>
                  <a:lnTo>
                    <a:pt x="0" y="1016000"/>
                  </a:lnTo>
                  <a:close/>
                </a:path>
              </a:pathLst>
            </a:custGeom>
            <a:blipFill>
              <a:blip r:embed="rId4">
                <a:alphaModFix amt="0"/>
              </a:blip>
              <a:stretch>
                <a:fillRect l="-2572" t="0" r="51469" b="-16999"/>
              </a:stretch>
            </a:blipFill>
          </p:spPr>
        </p:sp>
        <p:sp>
          <p:nvSpPr>
            <p:cNvPr name="TextBox 9" id="9"/>
            <p:cNvSpPr txBox="true"/>
            <p:nvPr/>
          </p:nvSpPr>
          <p:spPr>
            <a:xfrm>
              <a:off x="0" y="-9525"/>
              <a:ext cx="5969000" cy="1025525"/>
            </a:xfrm>
            <a:prstGeom prst="rect">
              <a:avLst/>
            </a:prstGeom>
          </p:spPr>
          <p:txBody>
            <a:bodyPr anchor="ctr" rtlCol="false" tIns="0" lIns="0" bIns="0" rIns="0"/>
            <a:lstStyle/>
            <a:p>
              <a:pPr algn="ctr">
                <a:lnSpc>
                  <a:spcPts val="4320"/>
                </a:lnSpc>
              </a:pPr>
              <a:r>
                <a:rPr lang="en-US" b="true" sz="3600">
                  <a:solidFill>
                    <a:srgbClr val="4F2F1E"/>
                  </a:solidFill>
                  <a:latin typeface="HK Grotesk Bold"/>
                  <a:ea typeface="HK Grotesk Bold"/>
                  <a:cs typeface="HK Grotesk Bold"/>
                  <a:sym typeface="HK Grotesk Bold"/>
                </a:rPr>
                <a:t>Backend</a:t>
              </a:r>
            </a:p>
          </p:txBody>
        </p:sp>
      </p:grpSp>
      <p:grpSp>
        <p:nvGrpSpPr>
          <p:cNvPr name="Group 10" id="10"/>
          <p:cNvGrpSpPr/>
          <p:nvPr/>
        </p:nvGrpSpPr>
        <p:grpSpPr>
          <a:xfrm rot="0">
            <a:off x="1333500" y="3333750"/>
            <a:ext cx="4476750" cy="1428750"/>
            <a:chOff x="0" y="0"/>
            <a:chExt cx="5969000" cy="1905000"/>
          </a:xfrm>
        </p:grpSpPr>
        <p:sp>
          <p:nvSpPr>
            <p:cNvPr name="Freeform 11" id="11"/>
            <p:cNvSpPr/>
            <p:nvPr/>
          </p:nvSpPr>
          <p:spPr>
            <a:xfrm flipH="false" flipV="false" rot="0">
              <a:off x="0" y="0"/>
              <a:ext cx="5969000" cy="1905000"/>
            </a:xfrm>
            <a:custGeom>
              <a:avLst/>
              <a:gdLst/>
              <a:ahLst/>
              <a:cxnLst/>
              <a:rect r="r" b="b" t="t" l="l"/>
              <a:pathLst>
                <a:path h="1905000" w="5969000">
                  <a:moveTo>
                    <a:pt x="0" y="0"/>
                  </a:moveTo>
                  <a:lnTo>
                    <a:pt x="5969000" y="0"/>
                  </a:lnTo>
                  <a:lnTo>
                    <a:pt x="5969000" y="1905000"/>
                  </a:lnTo>
                  <a:lnTo>
                    <a:pt x="0" y="1905000"/>
                  </a:lnTo>
                  <a:close/>
                </a:path>
              </a:pathLst>
            </a:custGeom>
            <a:blipFill>
              <a:blip r:embed="rId4">
                <a:alphaModFix amt="0"/>
              </a:blip>
              <a:stretch>
                <a:fillRect l="0" t="-14628" r="24936" b="22971"/>
              </a:stretch>
            </a:blipFill>
          </p:spPr>
        </p:sp>
        <p:sp>
          <p:nvSpPr>
            <p:cNvPr name="TextBox 12" id="12"/>
            <p:cNvSpPr txBox="true"/>
            <p:nvPr/>
          </p:nvSpPr>
          <p:spPr>
            <a:xfrm>
              <a:off x="0" y="-9525"/>
              <a:ext cx="5969000" cy="1914525"/>
            </a:xfrm>
            <a:prstGeom prst="rect">
              <a:avLst/>
            </a:prstGeom>
          </p:spPr>
          <p:txBody>
            <a:bodyPr anchor="ctr" rtlCol="false" tIns="0" lIns="0" bIns="0" rIns="0"/>
            <a:lstStyle/>
            <a:p>
              <a:pPr algn="ctr">
                <a:lnSpc>
                  <a:spcPts val="3600"/>
                </a:lnSpc>
              </a:pPr>
              <a:r>
                <a:rPr lang="en-US" sz="3000">
                  <a:solidFill>
                    <a:srgbClr val="4F2F1E"/>
                  </a:solidFill>
                  <a:latin typeface="HK Grotesk"/>
                  <a:ea typeface="HK Grotesk"/>
                  <a:cs typeface="HK Grotesk"/>
                  <a:sym typeface="HK Grotesk"/>
                </a:rPr>
                <a:t>Django 5.2 (Python)</a:t>
              </a:r>
            </a:p>
          </p:txBody>
        </p:sp>
      </p:grpSp>
      <p:grpSp>
        <p:nvGrpSpPr>
          <p:cNvPr name="Group 13" id="13"/>
          <p:cNvGrpSpPr/>
          <p:nvPr/>
        </p:nvGrpSpPr>
        <p:grpSpPr>
          <a:xfrm rot="0">
            <a:off x="6619875" y="2095500"/>
            <a:ext cx="5048250" cy="2857500"/>
            <a:chOff x="0" y="0"/>
            <a:chExt cx="6731000" cy="3810000"/>
          </a:xfrm>
        </p:grpSpPr>
        <p:sp>
          <p:nvSpPr>
            <p:cNvPr name="Freeform 14" id="14"/>
            <p:cNvSpPr/>
            <p:nvPr/>
          </p:nvSpPr>
          <p:spPr>
            <a:xfrm flipH="false" flipV="false" rot="0">
              <a:off x="0" y="0"/>
              <a:ext cx="6731000" cy="3810000"/>
            </a:xfrm>
            <a:custGeom>
              <a:avLst/>
              <a:gdLst/>
              <a:ahLst/>
              <a:cxnLst/>
              <a:rect r="r" b="b" t="t" l="l"/>
              <a:pathLst>
                <a:path h="3810000" w="6731000">
                  <a:moveTo>
                    <a:pt x="0" y="586246"/>
                  </a:moveTo>
                  <a:cubicBezTo>
                    <a:pt x="0" y="262635"/>
                    <a:pt x="72584" y="0"/>
                    <a:pt x="162019" y="0"/>
                  </a:cubicBezTo>
                  <a:lnTo>
                    <a:pt x="6568981" y="0"/>
                  </a:lnTo>
                  <a:cubicBezTo>
                    <a:pt x="6658417" y="0"/>
                    <a:pt x="6731000" y="262635"/>
                    <a:pt x="6731000" y="586246"/>
                  </a:cubicBezTo>
                  <a:lnTo>
                    <a:pt x="6731000" y="3223754"/>
                  </a:lnTo>
                  <a:cubicBezTo>
                    <a:pt x="6731000" y="3547365"/>
                    <a:pt x="6658417" y="3810000"/>
                    <a:pt x="6568981" y="3810000"/>
                  </a:cubicBezTo>
                  <a:lnTo>
                    <a:pt x="162019" y="3810000"/>
                  </a:lnTo>
                  <a:cubicBezTo>
                    <a:pt x="72584" y="3810000"/>
                    <a:pt x="0" y="3547365"/>
                    <a:pt x="0" y="3223754"/>
                  </a:cubicBezTo>
                  <a:close/>
                </a:path>
              </a:pathLst>
            </a:custGeom>
            <a:solidFill>
              <a:srgbClr val="FFFCE9"/>
            </a:solidFill>
            <a:ln w="38100" cap="sq">
              <a:solidFill>
                <a:srgbClr val="4F2F1E"/>
              </a:solidFill>
              <a:prstDash val="solid"/>
              <a:miter/>
            </a:ln>
          </p:spPr>
        </p:sp>
      </p:grpSp>
      <p:grpSp>
        <p:nvGrpSpPr>
          <p:cNvPr name="Group 15" id="15"/>
          <p:cNvGrpSpPr/>
          <p:nvPr/>
        </p:nvGrpSpPr>
        <p:grpSpPr>
          <a:xfrm rot="0">
            <a:off x="6905625" y="2381250"/>
            <a:ext cx="4476750" cy="762000"/>
            <a:chOff x="0" y="0"/>
            <a:chExt cx="5969000" cy="1016000"/>
          </a:xfrm>
        </p:grpSpPr>
        <p:sp>
          <p:nvSpPr>
            <p:cNvPr name="Freeform 16" id="16"/>
            <p:cNvSpPr/>
            <p:nvPr/>
          </p:nvSpPr>
          <p:spPr>
            <a:xfrm flipH="false" flipV="false" rot="0">
              <a:off x="0" y="0"/>
              <a:ext cx="5969000" cy="1016000"/>
            </a:xfrm>
            <a:custGeom>
              <a:avLst/>
              <a:gdLst/>
              <a:ahLst/>
              <a:cxnLst/>
              <a:rect r="r" b="b" t="t" l="l"/>
              <a:pathLst>
                <a:path h="1016000" w="5969000">
                  <a:moveTo>
                    <a:pt x="0" y="0"/>
                  </a:moveTo>
                  <a:lnTo>
                    <a:pt x="5969000" y="0"/>
                  </a:lnTo>
                  <a:lnTo>
                    <a:pt x="5969000" y="1016000"/>
                  </a:lnTo>
                  <a:lnTo>
                    <a:pt x="0" y="1016000"/>
                  </a:lnTo>
                  <a:close/>
                </a:path>
              </a:pathLst>
            </a:custGeom>
            <a:blipFill>
              <a:blip r:embed="rId4">
                <a:alphaModFix amt="0"/>
              </a:blip>
              <a:stretch>
                <a:fillRect l="-2572" t="0" r="51469" b="-16999"/>
              </a:stretch>
            </a:blipFill>
          </p:spPr>
        </p:sp>
        <p:sp>
          <p:nvSpPr>
            <p:cNvPr name="TextBox 17" id="17"/>
            <p:cNvSpPr txBox="true"/>
            <p:nvPr/>
          </p:nvSpPr>
          <p:spPr>
            <a:xfrm>
              <a:off x="0" y="-9525"/>
              <a:ext cx="5969000" cy="1025525"/>
            </a:xfrm>
            <a:prstGeom prst="rect">
              <a:avLst/>
            </a:prstGeom>
          </p:spPr>
          <p:txBody>
            <a:bodyPr anchor="ctr" rtlCol="false" tIns="0" lIns="0" bIns="0" rIns="0"/>
            <a:lstStyle/>
            <a:p>
              <a:pPr algn="ctr">
                <a:lnSpc>
                  <a:spcPts val="4320"/>
                </a:lnSpc>
              </a:pPr>
              <a:r>
                <a:rPr lang="en-US" b="true" sz="3600">
                  <a:solidFill>
                    <a:srgbClr val="4F2F1E"/>
                  </a:solidFill>
                  <a:latin typeface="HK Grotesk Bold"/>
                  <a:ea typeface="HK Grotesk Bold"/>
                  <a:cs typeface="HK Grotesk Bold"/>
                  <a:sym typeface="HK Grotesk Bold"/>
                </a:rPr>
                <a:t>Base de datos</a:t>
              </a:r>
            </a:p>
          </p:txBody>
        </p:sp>
      </p:grpSp>
      <p:grpSp>
        <p:nvGrpSpPr>
          <p:cNvPr name="Group 18" id="18"/>
          <p:cNvGrpSpPr/>
          <p:nvPr/>
        </p:nvGrpSpPr>
        <p:grpSpPr>
          <a:xfrm rot="0">
            <a:off x="6905625" y="3333750"/>
            <a:ext cx="4476750" cy="1428750"/>
            <a:chOff x="0" y="0"/>
            <a:chExt cx="5969000" cy="1905000"/>
          </a:xfrm>
        </p:grpSpPr>
        <p:sp>
          <p:nvSpPr>
            <p:cNvPr name="Freeform 19" id="19"/>
            <p:cNvSpPr/>
            <p:nvPr/>
          </p:nvSpPr>
          <p:spPr>
            <a:xfrm flipH="false" flipV="false" rot="0">
              <a:off x="0" y="0"/>
              <a:ext cx="5969000" cy="1905000"/>
            </a:xfrm>
            <a:custGeom>
              <a:avLst/>
              <a:gdLst/>
              <a:ahLst/>
              <a:cxnLst/>
              <a:rect r="r" b="b" t="t" l="l"/>
              <a:pathLst>
                <a:path h="1905000" w="5969000">
                  <a:moveTo>
                    <a:pt x="0" y="0"/>
                  </a:moveTo>
                  <a:lnTo>
                    <a:pt x="5969000" y="0"/>
                  </a:lnTo>
                  <a:lnTo>
                    <a:pt x="5969000" y="1905000"/>
                  </a:lnTo>
                  <a:lnTo>
                    <a:pt x="0" y="1905000"/>
                  </a:lnTo>
                  <a:close/>
                </a:path>
              </a:pathLst>
            </a:custGeom>
            <a:blipFill>
              <a:blip r:embed="rId4">
                <a:alphaModFix amt="0"/>
              </a:blip>
              <a:stretch>
                <a:fillRect l="0" t="-14628" r="24936" b="22971"/>
              </a:stretch>
            </a:blipFill>
          </p:spPr>
        </p:sp>
        <p:sp>
          <p:nvSpPr>
            <p:cNvPr name="TextBox 20" id="20"/>
            <p:cNvSpPr txBox="true"/>
            <p:nvPr/>
          </p:nvSpPr>
          <p:spPr>
            <a:xfrm>
              <a:off x="0" y="-9525"/>
              <a:ext cx="5969000" cy="1914525"/>
            </a:xfrm>
            <a:prstGeom prst="rect">
              <a:avLst/>
            </a:prstGeom>
          </p:spPr>
          <p:txBody>
            <a:bodyPr anchor="ctr" rtlCol="false" tIns="0" lIns="0" bIns="0" rIns="0"/>
            <a:lstStyle/>
            <a:p>
              <a:pPr algn="ctr">
                <a:lnSpc>
                  <a:spcPts val="3600"/>
                </a:lnSpc>
              </a:pPr>
              <a:r>
                <a:rPr lang="en-US" sz="3000">
                  <a:solidFill>
                    <a:srgbClr val="4F2F1E"/>
                  </a:solidFill>
                  <a:latin typeface="HK Grotesk"/>
                  <a:ea typeface="HK Grotesk"/>
                  <a:cs typeface="HK Grotesk"/>
                  <a:sym typeface="HK Grotesk"/>
                </a:rPr>
                <a:t>PostgreSQL</a:t>
              </a:r>
            </a:p>
          </p:txBody>
        </p:sp>
      </p:grpSp>
      <p:grpSp>
        <p:nvGrpSpPr>
          <p:cNvPr name="Group 21" id="21"/>
          <p:cNvGrpSpPr/>
          <p:nvPr/>
        </p:nvGrpSpPr>
        <p:grpSpPr>
          <a:xfrm rot="0">
            <a:off x="12192000" y="2095500"/>
            <a:ext cx="5048250" cy="2857500"/>
            <a:chOff x="0" y="0"/>
            <a:chExt cx="6731000" cy="3810000"/>
          </a:xfrm>
        </p:grpSpPr>
        <p:sp>
          <p:nvSpPr>
            <p:cNvPr name="Freeform 22" id="22"/>
            <p:cNvSpPr/>
            <p:nvPr/>
          </p:nvSpPr>
          <p:spPr>
            <a:xfrm flipH="false" flipV="false" rot="0">
              <a:off x="0" y="0"/>
              <a:ext cx="6731000" cy="3810000"/>
            </a:xfrm>
            <a:custGeom>
              <a:avLst/>
              <a:gdLst/>
              <a:ahLst/>
              <a:cxnLst/>
              <a:rect r="r" b="b" t="t" l="l"/>
              <a:pathLst>
                <a:path h="3810000" w="6731000">
                  <a:moveTo>
                    <a:pt x="0" y="586246"/>
                  </a:moveTo>
                  <a:cubicBezTo>
                    <a:pt x="0" y="262635"/>
                    <a:pt x="72584" y="0"/>
                    <a:pt x="162019" y="0"/>
                  </a:cubicBezTo>
                  <a:lnTo>
                    <a:pt x="6568981" y="0"/>
                  </a:lnTo>
                  <a:cubicBezTo>
                    <a:pt x="6658417" y="0"/>
                    <a:pt x="6731000" y="262635"/>
                    <a:pt x="6731000" y="586246"/>
                  </a:cubicBezTo>
                  <a:lnTo>
                    <a:pt x="6731000" y="3223754"/>
                  </a:lnTo>
                  <a:cubicBezTo>
                    <a:pt x="6731000" y="3547365"/>
                    <a:pt x="6658417" y="3810000"/>
                    <a:pt x="6568981" y="3810000"/>
                  </a:cubicBezTo>
                  <a:lnTo>
                    <a:pt x="162019" y="3810000"/>
                  </a:lnTo>
                  <a:cubicBezTo>
                    <a:pt x="72584" y="3810000"/>
                    <a:pt x="0" y="3547365"/>
                    <a:pt x="0" y="3223754"/>
                  </a:cubicBezTo>
                  <a:close/>
                </a:path>
              </a:pathLst>
            </a:custGeom>
            <a:solidFill>
              <a:srgbClr val="FFFCE9"/>
            </a:solidFill>
            <a:ln w="38100" cap="sq">
              <a:solidFill>
                <a:srgbClr val="4F2F1E"/>
              </a:solidFill>
              <a:prstDash val="solid"/>
              <a:miter/>
            </a:ln>
          </p:spPr>
        </p:sp>
      </p:grpSp>
      <p:grpSp>
        <p:nvGrpSpPr>
          <p:cNvPr name="Group 23" id="23"/>
          <p:cNvGrpSpPr/>
          <p:nvPr/>
        </p:nvGrpSpPr>
        <p:grpSpPr>
          <a:xfrm rot="0">
            <a:off x="12477750" y="2381250"/>
            <a:ext cx="4476750" cy="762000"/>
            <a:chOff x="0" y="0"/>
            <a:chExt cx="5969000" cy="1016000"/>
          </a:xfrm>
        </p:grpSpPr>
        <p:sp>
          <p:nvSpPr>
            <p:cNvPr name="Freeform 24" id="24"/>
            <p:cNvSpPr/>
            <p:nvPr/>
          </p:nvSpPr>
          <p:spPr>
            <a:xfrm flipH="false" flipV="false" rot="0">
              <a:off x="0" y="0"/>
              <a:ext cx="5969000" cy="1016000"/>
            </a:xfrm>
            <a:custGeom>
              <a:avLst/>
              <a:gdLst/>
              <a:ahLst/>
              <a:cxnLst/>
              <a:rect r="r" b="b" t="t" l="l"/>
              <a:pathLst>
                <a:path h="1016000" w="5969000">
                  <a:moveTo>
                    <a:pt x="0" y="0"/>
                  </a:moveTo>
                  <a:lnTo>
                    <a:pt x="5969000" y="0"/>
                  </a:lnTo>
                  <a:lnTo>
                    <a:pt x="5969000" y="1016000"/>
                  </a:lnTo>
                  <a:lnTo>
                    <a:pt x="0" y="1016000"/>
                  </a:lnTo>
                  <a:close/>
                </a:path>
              </a:pathLst>
            </a:custGeom>
            <a:blipFill>
              <a:blip r:embed="rId4">
                <a:alphaModFix amt="0"/>
              </a:blip>
              <a:stretch>
                <a:fillRect l="-2572" t="0" r="51469" b="-16999"/>
              </a:stretch>
            </a:blipFill>
          </p:spPr>
        </p:sp>
        <p:sp>
          <p:nvSpPr>
            <p:cNvPr name="TextBox 25" id="25"/>
            <p:cNvSpPr txBox="true"/>
            <p:nvPr/>
          </p:nvSpPr>
          <p:spPr>
            <a:xfrm>
              <a:off x="0" y="-9525"/>
              <a:ext cx="5969000" cy="1025525"/>
            </a:xfrm>
            <a:prstGeom prst="rect">
              <a:avLst/>
            </a:prstGeom>
          </p:spPr>
          <p:txBody>
            <a:bodyPr anchor="ctr" rtlCol="false" tIns="0" lIns="0" bIns="0" rIns="0"/>
            <a:lstStyle/>
            <a:p>
              <a:pPr algn="ctr">
                <a:lnSpc>
                  <a:spcPts val="4320"/>
                </a:lnSpc>
              </a:pPr>
              <a:r>
                <a:rPr lang="en-US" b="true" sz="3600">
                  <a:solidFill>
                    <a:srgbClr val="4F2F1E"/>
                  </a:solidFill>
                  <a:latin typeface="HK Grotesk Bold"/>
                  <a:ea typeface="HK Grotesk Bold"/>
                  <a:cs typeface="HK Grotesk Bold"/>
                  <a:sym typeface="HK Grotesk Bold"/>
                </a:rPr>
                <a:t>Segundo plano</a:t>
              </a:r>
            </a:p>
          </p:txBody>
        </p:sp>
      </p:grpSp>
      <p:grpSp>
        <p:nvGrpSpPr>
          <p:cNvPr name="Group 26" id="26"/>
          <p:cNvGrpSpPr/>
          <p:nvPr/>
        </p:nvGrpSpPr>
        <p:grpSpPr>
          <a:xfrm rot="0">
            <a:off x="12477750" y="3333750"/>
            <a:ext cx="4476750" cy="1428750"/>
            <a:chOff x="0" y="0"/>
            <a:chExt cx="5969000" cy="1905000"/>
          </a:xfrm>
        </p:grpSpPr>
        <p:sp>
          <p:nvSpPr>
            <p:cNvPr name="Freeform 27" id="27"/>
            <p:cNvSpPr/>
            <p:nvPr/>
          </p:nvSpPr>
          <p:spPr>
            <a:xfrm flipH="false" flipV="false" rot="0">
              <a:off x="0" y="0"/>
              <a:ext cx="5969000" cy="1905000"/>
            </a:xfrm>
            <a:custGeom>
              <a:avLst/>
              <a:gdLst/>
              <a:ahLst/>
              <a:cxnLst/>
              <a:rect r="r" b="b" t="t" l="l"/>
              <a:pathLst>
                <a:path h="1905000" w="5969000">
                  <a:moveTo>
                    <a:pt x="0" y="0"/>
                  </a:moveTo>
                  <a:lnTo>
                    <a:pt x="5969000" y="0"/>
                  </a:lnTo>
                  <a:lnTo>
                    <a:pt x="5969000" y="1905000"/>
                  </a:lnTo>
                  <a:lnTo>
                    <a:pt x="0" y="1905000"/>
                  </a:lnTo>
                  <a:close/>
                </a:path>
              </a:pathLst>
            </a:custGeom>
            <a:blipFill>
              <a:blip r:embed="rId4">
                <a:alphaModFix amt="0"/>
              </a:blip>
              <a:stretch>
                <a:fillRect l="0" t="-14628" r="24936" b="22971"/>
              </a:stretch>
            </a:blipFill>
          </p:spPr>
        </p:sp>
        <p:sp>
          <p:nvSpPr>
            <p:cNvPr name="TextBox 28" id="28"/>
            <p:cNvSpPr txBox="true"/>
            <p:nvPr/>
          </p:nvSpPr>
          <p:spPr>
            <a:xfrm>
              <a:off x="0" y="-9525"/>
              <a:ext cx="5969000" cy="1914525"/>
            </a:xfrm>
            <a:prstGeom prst="rect">
              <a:avLst/>
            </a:prstGeom>
          </p:spPr>
          <p:txBody>
            <a:bodyPr anchor="ctr" rtlCol="false" tIns="0" lIns="0" bIns="0" rIns="0"/>
            <a:lstStyle/>
            <a:p>
              <a:pPr algn="ctr">
                <a:lnSpc>
                  <a:spcPts val="3600"/>
                </a:lnSpc>
              </a:pPr>
              <a:r>
                <a:rPr lang="en-US" sz="3000">
                  <a:solidFill>
                    <a:srgbClr val="4F2F1E"/>
                  </a:solidFill>
                  <a:latin typeface="HK Grotesk"/>
                  <a:ea typeface="HK Grotesk"/>
                  <a:cs typeface="HK Grotesk"/>
                  <a:sym typeface="HK Grotesk"/>
                </a:rPr>
                <a:t>Celery y Redis</a:t>
              </a:r>
            </a:p>
          </p:txBody>
        </p:sp>
      </p:grpSp>
      <p:grpSp>
        <p:nvGrpSpPr>
          <p:cNvPr name="Group 29" id="29"/>
          <p:cNvGrpSpPr/>
          <p:nvPr/>
        </p:nvGrpSpPr>
        <p:grpSpPr>
          <a:xfrm rot="0">
            <a:off x="1047750" y="5334000"/>
            <a:ext cx="5048250" cy="2857500"/>
            <a:chOff x="0" y="0"/>
            <a:chExt cx="6731000" cy="3810000"/>
          </a:xfrm>
        </p:grpSpPr>
        <p:sp>
          <p:nvSpPr>
            <p:cNvPr name="Freeform 30" id="30"/>
            <p:cNvSpPr/>
            <p:nvPr/>
          </p:nvSpPr>
          <p:spPr>
            <a:xfrm flipH="false" flipV="false" rot="0">
              <a:off x="0" y="0"/>
              <a:ext cx="6731000" cy="3810000"/>
            </a:xfrm>
            <a:custGeom>
              <a:avLst/>
              <a:gdLst/>
              <a:ahLst/>
              <a:cxnLst/>
              <a:rect r="r" b="b" t="t" l="l"/>
              <a:pathLst>
                <a:path h="3810000" w="6731000">
                  <a:moveTo>
                    <a:pt x="0" y="586246"/>
                  </a:moveTo>
                  <a:cubicBezTo>
                    <a:pt x="0" y="262635"/>
                    <a:pt x="72584" y="0"/>
                    <a:pt x="162019" y="0"/>
                  </a:cubicBezTo>
                  <a:lnTo>
                    <a:pt x="6568981" y="0"/>
                  </a:lnTo>
                  <a:cubicBezTo>
                    <a:pt x="6658417" y="0"/>
                    <a:pt x="6731000" y="262635"/>
                    <a:pt x="6731000" y="586246"/>
                  </a:cubicBezTo>
                  <a:lnTo>
                    <a:pt x="6731000" y="3223754"/>
                  </a:lnTo>
                  <a:cubicBezTo>
                    <a:pt x="6731000" y="3547365"/>
                    <a:pt x="6658417" y="3810000"/>
                    <a:pt x="6568981" y="3810000"/>
                  </a:cubicBezTo>
                  <a:lnTo>
                    <a:pt x="162019" y="3810000"/>
                  </a:lnTo>
                  <a:cubicBezTo>
                    <a:pt x="72584" y="3810000"/>
                    <a:pt x="0" y="3547365"/>
                    <a:pt x="0" y="3223754"/>
                  </a:cubicBezTo>
                  <a:close/>
                </a:path>
              </a:pathLst>
            </a:custGeom>
            <a:solidFill>
              <a:srgbClr val="FFFCE9"/>
            </a:solidFill>
            <a:ln w="38100" cap="sq">
              <a:solidFill>
                <a:srgbClr val="4F2F1E"/>
              </a:solidFill>
              <a:prstDash val="solid"/>
              <a:miter/>
            </a:ln>
          </p:spPr>
        </p:sp>
      </p:grpSp>
      <p:grpSp>
        <p:nvGrpSpPr>
          <p:cNvPr name="Group 31" id="31"/>
          <p:cNvGrpSpPr/>
          <p:nvPr/>
        </p:nvGrpSpPr>
        <p:grpSpPr>
          <a:xfrm rot="0">
            <a:off x="1333500" y="5619750"/>
            <a:ext cx="4476750" cy="762000"/>
            <a:chOff x="0" y="0"/>
            <a:chExt cx="5969000" cy="1016000"/>
          </a:xfrm>
        </p:grpSpPr>
        <p:sp>
          <p:nvSpPr>
            <p:cNvPr name="Freeform 32" id="32"/>
            <p:cNvSpPr/>
            <p:nvPr/>
          </p:nvSpPr>
          <p:spPr>
            <a:xfrm flipH="false" flipV="false" rot="0">
              <a:off x="0" y="0"/>
              <a:ext cx="5969000" cy="1016000"/>
            </a:xfrm>
            <a:custGeom>
              <a:avLst/>
              <a:gdLst/>
              <a:ahLst/>
              <a:cxnLst/>
              <a:rect r="r" b="b" t="t" l="l"/>
              <a:pathLst>
                <a:path h="1016000" w="5969000">
                  <a:moveTo>
                    <a:pt x="0" y="0"/>
                  </a:moveTo>
                  <a:lnTo>
                    <a:pt x="5969000" y="0"/>
                  </a:lnTo>
                  <a:lnTo>
                    <a:pt x="5969000" y="1016000"/>
                  </a:lnTo>
                  <a:lnTo>
                    <a:pt x="0" y="1016000"/>
                  </a:lnTo>
                  <a:close/>
                </a:path>
              </a:pathLst>
            </a:custGeom>
            <a:blipFill>
              <a:blip r:embed="rId4">
                <a:alphaModFix amt="0"/>
              </a:blip>
              <a:stretch>
                <a:fillRect l="-2572" t="0" r="51469" b="-16999"/>
              </a:stretch>
            </a:blipFill>
          </p:spPr>
        </p:sp>
        <p:sp>
          <p:nvSpPr>
            <p:cNvPr name="TextBox 33" id="33"/>
            <p:cNvSpPr txBox="true"/>
            <p:nvPr/>
          </p:nvSpPr>
          <p:spPr>
            <a:xfrm>
              <a:off x="0" y="-9525"/>
              <a:ext cx="5969000" cy="1025525"/>
            </a:xfrm>
            <a:prstGeom prst="rect">
              <a:avLst/>
            </a:prstGeom>
          </p:spPr>
          <p:txBody>
            <a:bodyPr anchor="ctr" rtlCol="false" tIns="0" lIns="0" bIns="0" rIns="0"/>
            <a:lstStyle/>
            <a:p>
              <a:pPr algn="ctr">
                <a:lnSpc>
                  <a:spcPts val="4320"/>
                </a:lnSpc>
              </a:pPr>
              <a:r>
                <a:rPr lang="en-US" b="true" sz="3600">
                  <a:solidFill>
                    <a:srgbClr val="4F2F1E"/>
                  </a:solidFill>
                  <a:latin typeface="HK Grotesk Bold"/>
                  <a:ea typeface="HK Grotesk Bold"/>
                  <a:cs typeface="HK Grotesk Bold"/>
                  <a:sym typeface="HK Grotesk Bold"/>
                </a:rPr>
                <a:t>Contenedores</a:t>
              </a:r>
            </a:p>
          </p:txBody>
        </p:sp>
      </p:grpSp>
      <p:grpSp>
        <p:nvGrpSpPr>
          <p:cNvPr name="Group 34" id="34"/>
          <p:cNvGrpSpPr/>
          <p:nvPr/>
        </p:nvGrpSpPr>
        <p:grpSpPr>
          <a:xfrm rot="0">
            <a:off x="1333500" y="6572250"/>
            <a:ext cx="4476750" cy="1428750"/>
            <a:chOff x="0" y="0"/>
            <a:chExt cx="5969000" cy="1905000"/>
          </a:xfrm>
        </p:grpSpPr>
        <p:sp>
          <p:nvSpPr>
            <p:cNvPr name="Freeform 35" id="35"/>
            <p:cNvSpPr/>
            <p:nvPr/>
          </p:nvSpPr>
          <p:spPr>
            <a:xfrm flipH="false" flipV="false" rot="0">
              <a:off x="0" y="0"/>
              <a:ext cx="5969000" cy="1905000"/>
            </a:xfrm>
            <a:custGeom>
              <a:avLst/>
              <a:gdLst/>
              <a:ahLst/>
              <a:cxnLst/>
              <a:rect r="r" b="b" t="t" l="l"/>
              <a:pathLst>
                <a:path h="1905000" w="5969000">
                  <a:moveTo>
                    <a:pt x="0" y="0"/>
                  </a:moveTo>
                  <a:lnTo>
                    <a:pt x="5969000" y="0"/>
                  </a:lnTo>
                  <a:lnTo>
                    <a:pt x="5969000" y="1905000"/>
                  </a:lnTo>
                  <a:lnTo>
                    <a:pt x="0" y="1905000"/>
                  </a:lnTo>
                  <a:close/>
                </a:path>
              </a:pathLst>
            </a:custGeom>
            <a:blipFill>
              <a:blip r:embed="rId4">
                <a:alphaModFix amt="0"/>
              </a:blip>
              <a:stretch>
                <a:fillRect l="0" t="-14628" r="24936" b="22971"/>
              </a:stretch>
            </a:blipFill>
          </p:spPr>
        </p:sp>
        <p:sp>
          <p:nvSpPr>
            <p:cNvPr name="TextBox 36" id="36"/>
            <p:cNvSpPr txBox="true"/>
            <p:nvPr/>
          </p:nvSpPr>
          <p:spPr>
            <a:xfrm>
              <a:off x="0" y="-9525"/>
              <a:ext cx="5969000" cy="1914525"/>
            </a:xfrm>
            <a:prstGeom prst="rect">
              <a:avLst/>
            </a:prstGeom>
          </p:spPr>
          <p:txBody>
            <a:bodyPr anchor="ctr" rtlCol="false" tIns="0" lIns="0" bIns="0" rIns="0"/>
            <a:lstStyle/>
            <a:p>
              <a:pPr algn="ctr">
                <a:lnSpc>
                  <a:spcPts val="3600"/>
                </a:lnSpc>
              </a:pPr>
              <a:r>
                <a:rPr lang="en-US" sz="3000">
                  <a:solidFill>
                    <a:srgbClr val="4F2F1E"/>
                  </a:solidFill>
                  <a:latin typeface="HK Grotesk"/>
                  <a:ea typeface="HK Grotesk"/>
                  <a:cs typeface="HK Grotesk"/>
                  <a:sym typeface="HK Grotesk"/>
                </a:rPr>
                <a:t>Docker Compose</a:t>
              </a:r>
            </a:p>
          </p:txBody>
        </p:sp>
      </p:grpSp>
      <p:grpSp>
        <p:nvGrpSpPr>
          <p:cNvPr name="Group 37" id="37"/>
          <p:cNvGrpSpPr/>
          <p:nvPr/>
        </p:nvGrpSpPr>
        <p:grpSpPr>
          <a:xfrm rot="0">
            <a:off x="6619875" y="5334000"/>
            <a:ext cx="5048250" cy="2857500"/>
            <a:chOff x="0" y="0"/>
            <a:chExt cx="6731000" cy="3810000"/>
          </a:xfrm>
        </p:grpSpPr>
        <p:sp>
          <p:nvSpPr>
            <p:cNvPr name="Freeform 38" id="38"/>
            <p:cNvSpPr/>
            <p:nvPr/>
          </p:nvSpPr>
          <p:spPr>
            <a:xfrm flipH="false" flipV="false" rot="0">
              <a:off x="0" y="0"/>
              <a:ext cx="6731000" cy="3810000"/>
            </a:xfrm>
            <a:custGeom>
              <a:avLst/>
              <a:gdLst/>
              <a:ahLst/>
              <a:cxnLst/>
              <a:rect r="r" b="b" t="t" l="l"/>
              <a:pathLst>
                <a:path h="3810000" w="6731000">
                  <a:moveTo>
                    <a:pt x="0" y="586246"/>
                  </a:moveTo>
                  <a:cubicBezTo>
                    <a:pt x="0" y="262635"/>
                    <a:pt x="72584" y="0"/>
                    <a:pt x="162019" y="0"/>
                  </a:cubicBezTo>
                  <a:lnTo>
                    <a:pt x="6568981" y="0"/>
                  </a:lnTo>
                  <a:cubicBezTo>
                    <a:pt x="6658417" y="0"/>
                    <a:pt x="6731000" y="262635"/>
                    <a:pt x="6731000" y="586246"/>
                  </a:cubicBezTo>
                  <a:lnTo>
                    <a:pt x="6731000" y="3223754"/>
                  </a:lnTo>
                  <a:cubicBezTo>
                    <a:pt x="6731000" y="3547365"/>
                    <a:pt x="6658417" y="3810000"/>
                    <a:pt x="6568981" y="3810000"/>
                  </a:cubicBezTo>
                  <a:lnTo>
                    <a:pt x="162019" y="3810000"/>
                  </a:lnTo>
                  <a:cubicBezTo>
                    <a:pt x="72584" y="3810000"/>
                    <a:pt x="0" y="3547365"/>
                    <a:pt x="0" y="3223754"/>
                  </a:cubicBezTo>
                  <a:close/>
                </a:path>
              </a:pathLst>
            </a:custGeom>
            <a:solidFill>
              <a:srgbClr val="FFFCE9"/>
            </a:solidFill>
            <a:ln w="38100" cap="sq">
              <a:solidFill>
                <a:srgbClr val="4F2F1E"/>
              </a:solidFill>
              <a:prstDash val="solid"/>
              <a:miter/>
            </a:ln>
          </p:spPr>
        </p:sp>
      </p:grpSp>
      <p:grpSp>
        <p:nvGrpSpPr>
          <p:cNvPr name="Group 39" id="39"/>
          <p:cNvGrpSpPr/>
          <p:nvPr/>
        </p:nvGrpSpPr>
        <p:grpSpPr>
          <a:xfrm rot="0">
            <a:off x="6905625" y="5619750"/>
            <a:ext cx="4476750" cy="762000"/>
            <a:chOff x="0" y="0"/>
            <a:chExt cx="5969000" cy="1016000"/>
          </a:xfrm>
        </p:grpSpPr>
        <p:sp>
          <p:nvSpPr>
            <p:cNvPr name="Freeform 40" id="40"/>
            <p:cNvSpPr/>
            <p:nvPr/>
          </p:nvSpPr>
          <p:spPr>
            <a:xfrm flipH="false" flipV="false" rot="0">
              <a:off x="0" y="0"/>
              <a:ext cx="5969000" cy="1016000"/>
            </a:xfrm>
            <a:custGeom>
              <a:avLst/>
              <a:gdLst/>
              <a:ahLst/>
              <a:cxnLst/>
              <a:rect r="r" b="b" t="t" l="l"/>
              <a:pathLst>
                <a:path h="1016000" w="5969000">
                  <a:moveTo>
                    <a:pt x="0" y="0"/>
                  </a:moveTo>
                  <a:lnTo>
                    <a:pt x="5969000" y="0"/>
                  </a:lnTo>
                  <a:lnTo>
                    <a:pt x="5969000" y="1016000"/>
                  </a:lnTo>
                  <a:lnTo>
                    <a:pt x="0" y="1016000"/>
                  </a:lnTo>
                  <a:close/>
                </a:path>
              </a:pathLst>
            </a:custGeom>
            <a:blipFill>
              <a:blip r:embed="rId4">
                <a:alphaModFix amt="0"/>
              </a:blip>
              <a:stretch>
                <a:fillRect l="-2572" t="0" r="51469" b="-16999"/>
              </a:stretch>
            </a:blipFill>
          </p:spPr>
        </p:sp>
        <p:sp>
          <p:nvSpPr>
            <p:cNvPr name="TextBox 41" id="41"/>
            <p:cNvSpPr txBox="true"/>
            <p:nvPr/>
          </p:nvSpPr>
          <p:spPr>
            <a:xfrm>
              <a:off x="0" y="-9525"/>
              <a:ext cx="5969000" cy="1025525"/>
            </a:xfrm>
            <a:prstGeom prst="rect">
              <a:avLst/>
            </a:prstGeom>
          </p:spPr>
          <p:txBody>
            <a:bodyPr anchor="ctr" rtlCol="false" tIns="0" lIns="0" bIns="0" rIns="0"/>
            <a:lstStyle/>
            <a:p>
              <a:pPr algn="ctr">
                <a:lnSpc>
                  <a:spcPts val="4320"/>
                </a:lnSpc>
              </a:pPr>
              <a:r>
                <a:rPr lang="en-US" b="true" sz="3600">
                  <a:solidFill>
                    <a:srgbClr val="4F2F1E"/>
                  </a:solidFill>
                  <a:latin typeface="HK Grotesk Bold"/>
                  <a:ea typeface="HK Grotesk Bold"/>
                  <a:cs typeface="HK Grotesk Bold"/>
                  <a:sym typeface="HK Grotesk Bold"/>
                </a:rPr>
                <a:t>Frontend</a:t>
              </a:r>
            </a:p>
          </p:txBody>
        </p:sp>
      </p:grpSp>
      <p:grpSp>
        <p:nvGrpSpPr>
          <p:cNvPr name="Group 42" id="42"/>
          <p:cNvGrpSpPr/>
          <p:nvPr/>
        </p:nvGrpSpPr>
        <p:grpSpPr>
          <a:xfrm rot="0">
            <a:off x="6905625" y="6572250"/>
            <a:ext cx="4476750" cy="1428750"/>
            <a:chOff x="0" y="0"/>
            <a:chExt cx="5969000" cy="1905000"/>
          </a:xfrm>
        </p:grpSpPr>
        <p:sp>
          <p:nvSpPr>
            <p:cNvPr name="Freeform 43" id="43"/>
            <p:cNvSpPr/>
            <p:nvPr/>
          </p:nvSpPr>
          <p:spPr>
            <a:xfrm flipH="false" flipV="false" rot="0">
              <a:off x="0" y="0"/>
              <a:ext cx="5969000" cy="1905000"/>
            </a:xfrm>
            <a:custGeom>
              <a:avLst/>
              <a:gdLst/>
              <a:ahLst/>
              <a:cxnLst/>
              <a:rect r="r" b="b" t="t" l="l"/>
              <a:pathLst>
                <a:path h="1905000" w="5969000">
                  <a:moveTo>
                    <a:pt x="0" y="0"/>
                  </a:moveTo>
                  <a:lnTo>
                    <a:pt x="5969000" y="0"/>
                  </a:lnTo>
                  <a:lnTo>
                    <a:pt x="5969000" y="1905000"/>
                  </a:lnTo>
                  <a:lnTo>
                    <a:pt x="0" y="1905000"/>
                  </a:lnTo>
                  <a:close/>
                </a:path>
              </a:pathLst>
            </a:custGeom>
            <a:blipFill>
              <a:blip r:embed="rId4">
                <a:alphaModFix amt="0"/>
              </a:blip>
              <a:stretch>
                <a:fillRect l="0" t="-14628" r="24936" b="22971"/>
              </a:stretch>
            </a:blipFill>
          </p:spPr>
        </p:sp>
        <p:sp>
          <p:nvSpPr>
            <p:cNvPr name="TextBox 44" id="44"/>
            <p:cNvSpPr txBox="true"/>
            <p:nvPr/>
          </p:nvSpPr>
          <p:spPr>
            <a:xfrm>
              <a:off x="0" y="-9525"/>
              <a:ext cx="5969000" cy="1914525"/>
            </a:xfrm>
            <a:prstGeom prst="rect">
              <a:avLst/>
            </a:prstGeom>
          </p:spPr>
          <p:txBody>
            <a:bodyPr anchor="ctr" rtlCol="false" tIns="0" lIns="0" bIns="0" rIns="0"/>
            <a:lstStyle/>
            <a:p>
              <a:pPr algn="ctr">
                <a:lnSpc>
                  <a:spcPts val="3600"/>
                </a:lnSpc>
              </a:pPr>
              <a:r>
                <a:rPr lang="en-US" sz="3000">
                  <a:solidFill>
                    <a:srgbClr val="4F2F1E"/>
                  </a:solidFill>
                  <a:latin typeface="HK Grotesk"/>
                  <a:ea typeface="HK Grotesk"/>
                  <a:cs typeface="HK Grotesk"/>
                  <a:sym typeface="HK Grotesk"/>
                </a:rPr>
                <a:t>Plantillas Django, Bootstrap 5 y Chart.js</a:t>
              </a:r>
            </a:p>
          </p:txBody>
        </p:sp>
      </p:grpSp>
      <p:grpSp>
        <p:nvGrpSpPr>
          <p:cNvPr name="Group 45" id="45"/>
          <p:cNvGrpSpPr/>
          <p:nvPr/>
        </p:nvGrpSpPr>
        <p:grpSpPr>
          <a:xfrm rot="0">
            <a:off x="12192000" y="5334000"/>
            <a:ext cx="5048250" cy="2857500"/>
            <a:chOff x="0" y="0"/>
            <a:chExt cx="6731000" cy="3810000"/>
          </a:xfrm>
        </p:grpSpPr>
        <p:sp>
          <p:nvSpPr>
            <p:cNvPr name="Freeform 46" id="46"/>
            <p:cNvSpPr/>
            <p:nvPr/>
          </p:nvSpPr>
          <p:spPr>
            <a:xfrm flipH="false" flipV="false" rot="0">
              <a:off x="0" y="0"/>
              <a:ext cx="6731000" cy="3810000"/>
            </a:xfrm>
            <a:custGeom>
              <a:avLst/>
              <a:gdLst/>
              <a:ahLst/>
              <a:cxnLst/>
              <a:rect r="r" b="b" t="t" l="l"/>
              <a:pathLst>
                <a:path h="3810000" w="6731000">
                  <a:moveTo>
                    <a:pt x="0" y="586246"/>
                  </a:moveTo>
                  <a:cubicBezTo>
                    <a:pt x="0" y="262635"/>
                    <a:pt x="72584" y="0"/>
                    <a:pt x="162019" y="0"/>
                  </a:cubicBezTo>
                  <a:lnTo>
                    <a:pt x="6568981" y="0"/>
                  </a:lnTo>
                  <a:cubicBezTo>
                    <a:pt x="6658417" y="0"/>
                    <a:pt x="6731000" y="262635"/>
                    <a:pt x="6731000" y="586246"/>
                  </a:cubicBezTo>
                  <a:lnTo>
                    <a:pt x="6731000" y="3223754"/>
                  </a:lnTo>
                  <a:cubicBezTo>
                    <a:pt x="6731000" y="3547365"/>
                    <a:pt x="6658417" y="3810000"/>
                    <a:pt x="6568981" y="3810000"/>
                  </a:cubicBezTo>
                  <a:lnTo>
                    <a:pt x="162019" y="3810000"/>
                  </a:lnTo>
                  <a:cubicBezTo>
                    <a:pt x="72584" y="3810000"/>
                    <a:pt x="0" y="3547365"/>
                    <a:pt x="0" y="3223754"/>
                  </a:cubicBezTo>
                  <a:close/>
                </a:path>
              </a:pathLst>
            </a:custGeom>
            <a:solidFill>
              <a:srgbClr val="FFFCE9"/>
            </a:solidFill>
            <a:ln w="38100" cap="sq">
              <a:solidFill>
                <a:srgbClr val="4F2F1E"/>
              </a:solidFill>
              <a:prstDash val="solid"/>
              <a:miter/>
            </a:ln>
          </p:spPr>
        </p:sp>
      </p:grpSp>
      <p:grpSp>
        <p:nvGrpSpPr>
          <p:cNvPr name="Group 47" id="47"/>
          <p:cNvGrpSpPr/>
          <p:nvPr/>
        </p:nvGrpSpPr>
        <p:grpSpPr>
          <a:xfrm rot="0">
            <a:off x="12477750" y="5619750"/>
            <a:ext cx="4476750" cy="762000"/>
            <a:chOff x="0" y="0"/>
            <a:chExt cx="5969000" cy="1016000"/>
          </a:xfrm>
        </p:grpSpPr>
        <p:sp>
          <p:nvSpPr>
            <p:cNvPr name="Freeform 48" id="48"/>
            <p:cNvSpPr/>
            <p:nvPr/>
          </p:nvSpPr>
          <p:spPr>
            <a:xfrm flipH="false" flipV="false" rot="0">
              <a:off x="0" y="0"/>
              <a:ext cx="5969000" cy="1016000"/>
            </a:xfrm>
            <a:custGeom>
              <a:avLst/>
              <a:gdLst/>
              <a:ahLst/>
              <a:cxnLst/>
              <a:rect r="r" b="b" t="t" l="l"/>
              <a:pathLst>
                <a:path h="1016000" w="5969000">
                  <a:moveTo>
                    <a:pt x="0" y="0"/>
                  </a:moveTo>
                  <a:lnTo>
                    <a:pt x="5969000" y="0"/>
                  </a:lnTo>
                  <a:lnTo>
                    <a:pt x="5969000" y="1016000"/>
                  </a:lnTo>
                  <a:lnTo>
                    <a:pt x="0" y="1016000"/>
                  </a:lnTo>
                  <a:close/>
                </a:path>
              </a:pathLst>
            </a:custGeom>
            <a:blipFill>
              <a:blip r:embed="rId4">
                <a:alphaModFix amt="0"/>
              </a:blip>
              <a:stretch>
                <a:fillRect l="-2572" t="0" r="51469" b="-16999"/>
              </a:stretch>
            </a:blipFill>
          </p:spPr>
        </p:sp>
        <p:sp>
          <p:nvSpPr>
            <p:cNvPr name="TextBox 49" id="49"/>
            <p:cNvSpPr txBox="true"/>
            <p:nvPr/>
          </p:nvSpPr>
          <p:spPr>
            <a:xfrm>
              <a:off x="0" y="-9525"/>
              <a:ext cx="5969000" cy="1025525"/>
            </a:xfrm>
            <a:prstGeom prst="rect">
              <a:avLst/>
            </a:prstGeom>
          </p:spPr>
          <p:txBody>
            <a:bodyPr anchor="ctr" rtlCol="false" tIns="0" lIns="0" bIns="0" rIns="0"/>
            <a:lstStyle/>
            <a:p>
              <a:pPr algn="ctr">
                <a:lnSpc>
                  <a:spcPts val="4320"/>
                </a:lnSpc>
              </a:pPr>
              <a:r>
                <a:rPr lang="en-US" b="true" sz="3600">
                  <a:solidFill>
                    <a:srgbClr val="4F2F1E"/>
                  </a:solidFill>
                  <a:latin typeface="HK Grotesk Bold"/>
                  <a:ea typeface="HK Grotesk Bold"/>
                  <a:cs typeface="HK Grotesk Bold"/>
                  <a:sym typeface="HK Grotesk Bold"/>
                </a:rPr>
                <a:t>Gestión</a:t>
              </a:r>
            </a:p>
          </p:txBody>
        </p:sp>
      </p:grpSp>
      <p:grpSp>
        <p:nvGrpSpPr>
          <p:cNvPr name="Group 50" id="50"/>
          <p:cNvGrpSpPr/>
          <p:nvPr/>
        </p:nvGrpSpPr>
        <p:grpSpPr>
          <a:xfrm rot="0">
            <a:off x="12477750" y="6572250"/>
            <a:ext cx="4476750" cy="1428750"/>
            <a:chOff x="0" y="0"/>
            <a:chExt cx="5969000" cy="1905000"/>
          </a:xfrm>
        </p:grpSpPr>
        <p:sp>
          <p:nvSpPr>
            <p:cNvPr name="Freeform 51" id="51"/>
            <p:cNvSpPr/>
            <p:nvPr/>
          </p:nvSpPr>
          <p:spPr>
            <a:xfrm flipH="false" flipV="false" rot="0">
              <a:off x="0" y="0"/>
              <a:ext cx="5969000" cy="1905000"/>
            </a:xfrm>
            <a:custGeom>
              <a:avLst/>
              <a:gdLst/>
              <a:ahLst/>
              <a:cxnLst/>
              <a:rect r="r" b="b" t="t" l="l"/>
              <a:pathLst>
                <a:path h="1905000" w="5969000">
                  <a:moveTo>
                    <a:pt x="0" y="0"/>
                  </a:moveTo>
                  <a:lnTo>
                    <a:pt x="5969000" y="0"/>
                  </a:lnTo>
                  <a:lnTo>
                    <a:pt x="5969000" y="1905000"/>
                  </a:lnTo>
                  <a:lnTo>
                    <a:pt x="0" y="1905000"/>
                  </a:lnTo>
                  <a:close/>
                </a:path>
              </a:pathLst>
            </a:custGeom>
            <a:blipFill>
              <a:blip r:embed="rId4">
                <a:alphaModFix amt="0"/>
              </a:blip>
              <a:stretch>
                <a:fillRect l="0" t="-14628" r="24936" b="22971"/>
              </a:stretch>
            </a:blipFill>
          </p:spPr>
        </p:sp>
        <p:sp>
          <p:nvSpPr>
            <p:cNvPr name="TextBox 52" id="52"/>
            <p:cNvSpPr txBox="true"/>
            <p:nvPr/>
          </p:nvSpPr>
          <p:spPr>
            <a:xfrm>
              <a:off x="0" y="-9525"/>
              <a:ext cx="5969000" cy="1914525"/>
            </a:xfrm>
            <a:prstGeom prst="rect">
              <a:avLst/>
            </a:prstGeom>
          </p:spPr>
          <p:txBody>
            <a:bodyPr anchor="ctr" rtlCol="false" tIns="0" lIns="0" bIns="0" rIns="0"/>
            <a:lstStyle/>
            <a:p>
              <a:pPr algn="ctr">
                <a:lnSpc>
                  <a:spcPts val="3600"/>
                </a:lnSpc>
              </a:pPr>
              <a:r>
                <a:rPr lang="en-US" sz="3000">
                  <a:solidFill>
                    <a:srgbClr val="4F2F1E"/>
                  </a:solidFill>
                  <a:latin typeface="HK Grotesk"/>
                  <a:ea typeface="HK Grotesk"/>
                  <a:cs typeface="HK Grotesk"/>
                  <a:sym typeface="HK Grotesk"/>
                </a:rPr>
                <a:t>Jira y Git, una rama por funcionalidad</a:t>
              </a:r>
            </a:p>
          </p:txBody>
        </p:sp>
      </p:gr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2000250" y="381000"/>
            <a:ext cx="14287500" cy="1234440"/>
            <a:chOff x="0" y="0"/>
            <a:chExt cx="19050000" cy="1645920"/>
          </a:xfrm>
        </p:grpSpPr>
        <p:sp>
          <p:nvSpPr>
            <p:cNvPr name="Freeform 5" id="5"/>
            <p:cNvSpPr/>
            <p:nvPr/>
          </p:nvSpPr>
          <p:spPr>
            <a:xfrm flipH="false" flipV="false" rot="0">
              <a:off x="0" y="0"/>
              <a:ext cx="19050000" cy="1645920"/>
            </a:xfrm>
            <a:custGeom>
              <a:avLst/>
              <a:gdLst/>
              <a:ahLst/>
              <a:cxnLst/>
              <a:rect r="r" b="b" t="t" l="l"/>
              <a:pathLst>
                <a:path h="1645920" w="19050000">
                  <a:moveTo>
                    <a:pt x="0" y="0"/>
                  </a:moveTo>
                  <a:lnTo>
                    <a:pt x="19050000" y="0"/>
                  </a:lnTo>
                  <a:lnTo>
                    <a:pt x="19050000" y="1645920"/>
                  </a:lnTo>
                  <a:lnTo>
                    <a:pt x="0" y="1645920"/>
                  </a:lnTo>
                  <a:close/>
                </a:path>
              </a:pathLst>
            </a:custGeom>
            <a:blipFill>
              <a:blip r:embed="rId4">
                <a:alphaModFix amt="0"/>
              </a:blip>
              <a:stretch>
                <a:fillRect l="0" t="-211965" r="-16160" b="-211965"/>
              </a:stretch>
            </a:blipFill>
          </p:spPr>
        </p:sp>
        <p:sp>
          <p:nvSpPr>
            <p:cNvPr name="TextBox 6" id="6"/>
            <p:cNvSpPr txBox="true"/>
            <p:nvPr/>
          </p:nvSpPr>
          <p:spPr>
            <a:xfrm>
              <a:off x="0" y="-9525"/>
              <a:ext cx="19050000" cy="1655445"/>
            </a:xfrm>
            <a:prstGeom prst="rect">
              <a:avLst/>
            </a:prstGeom>
          </p:spPr>
          <p:txBody>
            <a:bodyPr anchor="ctr" rtlCol="false" tIns="0" lIns="0" bIns="0" rIns="0"/>
            <a:lstStyle/>
            <a:p>
              <a:pPr algn="ctr">
                <a:lnSpc>
                  <a:spcPts val="5160"/>
                </a:lnSpc>
              </a:pPr>
              <a:r>
                <a:rPr lang="en-US" b="true" sz="4300">
                  <a:solidFill>
                    <a:srgbClr val="4F2F1E"/>
                  </a:solidFill>
                  <a:latin typeface="HK Grotesk Bold"/>
                  <a:ea typeface="HK Grotesk Bold"/>
                  <a:cs typeface="HK Grotesk Bold"/>
                  <a:sym typeface="HK Grotesk Bold"/>
                </a:rPr>
                <a:t>Arquitectura: monolito modular en Django</a:t>
              </a:r>
            </a:p>
          </p:txBody>
        </p:sp>
      </p:grpSp>
      <p:grpSp>
        <p:nvGrpSpPr>
          <p:cNvPr name="Group 7" id="7"/>
          <p:cNvGrpSpPr/>
          <p:nvPr/>
        </p:nvGrpSpPr>
        <p:grpSpPr>
          <a:xfrm rot="0">
            <a:off x="2647950" y="1283149"/>
            <a:ext cx="14373415" cy="5479601"/>
            <a:chOff x="0" y="0"/>
            <a:chExt cx="17322800" cy="6604000"/>
          </a:xfrm>
        </p:grpSpPr>
        <p:sp>
          <p:nvSpPr>
            <p:cNvPr name="Freeform 8" id="8" descr="Diagrama de despliegue: Nginx, Django, Celery beat, Redis y Celery worker en Docker Compose dentro de una máquina virtual en Azure, con PostgreSQL y un servidor de correo"/>
            <p:cNvSpPr/>
            <p:nvPr/>
          </p:nvSpPr>
          <p:spPr>
            <a:xfrm flipH="false" flipV="false" rot="0">
              <a:off x="0" y="0"/>
              <a:ext cx="17322800" cy="6604000"/>
            </a:xfrm>
            <a:custGeom>
              <a:avLst/>
              <a:gdLst/>
              <a:ahLst/>
              <a:cxnLst/>
              <a:rect r="r" b="b" t="t" l="l"/>
              <a:pathLst>
                <a:path h="6604000" w="17322800">
                  <a:moveTo>
                    <a:pt x="0" y="0"/>
                  </a:moveTo>
                  <a:lnTo>
                    <a:pt x="17322800" y="0"/>
                  </a:lnTo>
                  <a:lnTo>
                    <a:pt x="17322800" y="6604000"/>
                  </a:lnTo>
                  <a:lnTo>
                    <a:pt x="0" y="6604000"/>
                  </a:lnTo>
                  <a:lnTo>
                    <a:pt x="0" y="0"/>
                  </a:lnTo>
                  <a:close/>
                </a:path>
              </a:pathLst>
            </a:custGeom>
            <a:blipFill>
              <a:blip r:embed="rId5"/>
              <a:stretch>
                <a:fillRect l="-37" t="0" r="-11" b="0"/>
              </a:stretch>
            </a:blipFill>
          </p:spPr>
        </p:sp>
      </p:grpSp>
      <p:sp>
        <p:nvSpPr>
          <p:cNvPr name="TextBox 9" id="9"/>
          <p:cNvSpPr txBox="true"/>
          <p:nvPr/>
        </p:nvSpPr>
        <p:spPr>
          <a:xfrm rot="0">
            <a:off x="2647950" y="6838950"/>
            <a:ext cx="10287000" cy="304800"/>
          </a:xfrm>
          <a:prstGeom prst="rect">
            <a:avLst/>
          </a:prstGeom>
        </p:spPr>
        <p:txBody>
          <a:bodyPr anchor="t" rtlCol="false" tIns="0" lIns="0" bIns="0" rIns="0">
            <a:spAutoFit/>
          </a:bodyPr>
          <a:lstStyle/>
          <a:p>
            <a:pPr algn="ctr">
              <a:lnSpc>
                <a:spcPts val="2459"/>
              </a:lnSpc>
            </a:pPr>
            <a:r>
              <a:rPr lang="en-US" b="true" sz="2049">
                <a:solidFill>
                  <a:srgbClr val="4F2F1E"/>
                </a:solidFill>
                <a:latin typeface="HK Grotesk Bold"/>
                <a:ea typeface="HK Grotesk Bold"/>
                <a:cs typeface="HK Grotesk Bold"/>
                <a:sym typeface="HK Grotesk Bold"/>
              </a:rPr>
              <a:t>Arquitectura de despliegue (elaboración propia con PlantUML)</a:t>
            </a:r>
          </a:p>
        </p:txBody>
      </p:sp>
      <p:grpSp>
        <p:nvGrpSpPr>
          <p:cNvPr name="Group 10" id="10"/>
          <p:cNvGrpSpPr/>
          <p:nvPr/>
        </p:nvGrpSpPr>
        <p:grpSpPr>
          <a:xfrm rot="0">
            <a:off x="2647950" y="7391400"/>
            <a:ext cx="12992100" cy="1905000"/>
            <a:chOff x="0" y="0"/>
            <a:chExt cx="17322800" cy="2540000"/>
          </a:xfrm>
        </p:grpSpPr>
        <p:sp>
          <p:nvSpPr>
            <p:cNvPr name="Freeform 11" id="11"/>
            <p:cNvSpPr/>
            <p:nvPr/>
          </p:nvSpPr>
          <p:spPr>
            <a:xfrm flipH="false" flipV="false" rot="0">
              <a:off x="0" y="0"/>
              <a:ext cx="17322800" cy="2540000"/>
            </a:xfrm>
            <a:custGeom>
              <a:avLst/>
              <a:gdLst/>
              <a:ahLst/>
              <a:cxnLst/>
              <a:rect r="r" b="b" t="t" l="l"/>
              <a:pathLst>
                <a:path h="2540000" w="17322800">
                  <a:moveTo>
                    <a:pt x="0" y="153927"/>
                  </a:moveTo>
                  <a:cubicBezTo>
                    <a:pt x="0" y="68907"/>
                    <a:pt x="104065" y="0"/>
                    <a:pt x="232465" y="0"/>
                  </a:cubicBezTo>
                  <a:lnTo>
                    <a:pt x="17090335" y="0"/>
                  </a:lnTo>
                  <a:cubicBezTo>
                    <a:pt x="17218735" y="0"/>
                    <a:pt x="17322800" y="68907"/>
                    <a:pt x="17322800" y="153927"/>
                  </a:cubicBezTo>
                  <a:lnTo>
                    <a:pt x="17322800" y="2386074"/>
                  </a:lnTo>
                  <a:cubicBezTo>
                    <a:pt x="17322800" y="2471094"/>
                    <a:pt x="17218735" y="2540000"/>
                    <a:pt x="17090335" y="2540000"/>
                  </a:cubicBezTo>
                  <a:lnTo>
                    <a:pt x="232465" y="2540000"/>
                  </a:lnTo>
                  <a:cubicBezTo>
                    <a:pt x="104065" y="2540000"/>
                    <a:pt x="0" y="2471094"/>
                    <a:pt x="0" y="2386074"/>
                  </a:cubicBezTo>
                  <a:close/>
                </a:path>
              </a:pathLst>
            </a:custGeom>
            <a:solidFill>
              <a:srgbClr val="FFFCE9"/>
            </a:solidFill>
            <a:ln w="19050" cap="sq">
              <a:solidFill>
                <a:srgbClr val="4F2F1E"/>
              </a:solidFill>
              <a:prstDash val="solid"/>
              <a:miter/>
            </a:ln>
          </p:spPr>
        </p:sp>
      </p:grpSp>
      <p:grpSp>
        <p:nvGrpSpPr>
          <p:cNvPr name="Group 12" id="12"/>
          <p:cNvGrpSpPr/>
          <p:nvPr/>
        </p:nvGrpSpPr>
        <p:grpSpPr>
          <a:xfrm rot="0">
            <a:off x="3000375" y="7524750"/>
            <a:ext cx="12287250" cy="1714500"/>
            <a:chOff x="0" y="0"/>
            <a:chExt cx="16383000" cy="2286000"/>
          </a:xfrm>
        </p:grpSpPr>
        <p:sp>
          <p:nvSpPr>
            <p:cNvPr name="Freeform 13" id="13"/>
            <p:cNvSpPr/>
            <p:nvPr/>
          </p:nvSpPr>
          <p:spPr>
            <a:xfrm flipH="false" flipV="false" rot="0">
              <a:off x="0" y="0"/>
              <a:ext cx="16383000" cy="2286000"/>
            </a:xfrm>
            <a:custGeom>
              <a:avLst/>
              <a:gdLst/>
              <a:ahLst/>
              <a:cxnLst/>
              <a:rect r="r" b="b" t="t" l="l"/>
              <a:pathLst>
                <a:path h="2286000" w="16383000">
                  <a:moveTo>
                    <a:pt x="0" y="0"/>
                  </a:moveTo>
                  <a:lnTo>
                    <a:pt x="16383000" y="0"/>
                  </a:lnTo>
                  <a:lnTo>
                    <a:pt x="16383000" y="2286000"/>
                  </a:lnTo>
                  <a:lnTo>
                    <a:pt x="0" y="2286000"/>
                  </a:lnTo>
                  <a:close/>
                </a:path>
              </a:pathLst>
            </a:custGeom>
            <a:blipFill>
              <a:blip r:embed="rId4">
                <a:alphaModFix amt="0"/>
              </a:blip>
              <a:stretch>
                <a:fillRect l="0" t="-45557" r="22976" b="-69557"/>
              </a:stretch>
            </a:blipFill>
          </p:spPr>
        </p:sp>
        <p:sp>
          <p:nvSpPr>
            <p:cNvPr name="TextBox 14" id="14"/>
            <p:cNvSpPr txBox="true"/>
            <p:nvPr/>
          </p:nvSpPr>
          <p:spPr>
            <a:xfrm>
              <a:off x="0" y="0"/>
              <a:ext cx="16383000" cy="2286000"/>
            </a:xfrm>
            <a:prstGeom prst="rect">
              <a:avLst/>
            </a:prstGeom>
          </p:spPr>
          <p:txBody>
            <a:bodyPr anchor="ctr" rtlCol="false" tIns="0" lIns="0" bIns="0" rIns="0"/>
            <a:lstStyle/>
            <a:p>
              <a:pPr algn="l">
                <a:lnSpc>
                  <a:spcPts val="2879"/>
                </a:lnSpc>
              </a:pPr>
              <a:r>
                <a:rPr lang="en-US" b="true" sz="2400">
                  <a:solidFill>
                    <a:srgbClr val="4F2F1E"/>
                  </a:solidFill>
                  <a:latin typeface="HK Grotesk Bold"/>
                  <a:ea typeface="HK Grotesk Bold"/>
                  <a:cs typeface="HK Grotesk Bold"/>
                  <a:sym typeface="HK Grotesk Bold"/>
                </a:rPr>
                <a:t>Capas por aplicación: </a:t>
              </a:r>
              <a:r>
                <a:rPr lang="en-US" sz="2400">
                  <a:solidFill>
                    <a:srgbClr val="4F2F1E"/>
                  </a:solidFill>
                  <a:latin typeface="HK Grotesk"/>
                  <a:ea typeface="HK Grotesk"/>
                  <a:cs typeface="HK Grotesk"/>
                  <a:sym typeface="HK Grotesk"/>
                </a:rPr>
                <a:t>modelos, selectors (lectura), services (escritura transaccional con validación), formularios y vistas. La lógica de negocio vive en los servicios.</a:t>
              </a:r>
            </a:p>
          </p:txBody>
        </p:sp>
      </p:gr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4333875" y="381000"/>
            <a:ext cx="9610725" cy="1690390"/>
            <a:chOff x="0" y="0"/>
            <a:chExt cx="12814300" cy="2253853"/>
          </a:xfrm>
        </p:grpSpPr>
        <p:sp>
          <p:nvSpPr>
            <p:cNvPr name="Freeform 5" id="5"/>
            <p:cNvSpPr/>
            <p:nvPr/>
          </p:nvSpPr>
          <p:spPr>
            <a:xfrm flipH="false" flipV="false" rot="0">
              <a:off x="0" y="0"/>
              <a:ext cx="12814300" cy="2253853"/>
            </a:xfrm>
            <a:custGeom>
              <a:avLst/>
              <a:gdLst/>
              <a:ahLst/>
              <a:cxnLst/>
              <a:rect r="r" b="b" t="t" l="l"/>
              <a:pathLst>
                <a:path h="2253853" w="12814300">
                  <a:moveTo>
                    <a:pt x="0" y="0"/>
                  </a:moveTo>
                  <a:lnTo>
                    <a:pt x="12814300" y="0"/>
                  </a:lnTo>
                  <a:lnTo>
                    <a:pt x="12814300" y="2253853"/>
                  </a:lnTo>
                  <a:lnTo>
                    <a:pt x="0" y="2253853"/>
                  </a:lnTo>
                  <a:close/>
                </a:path>
              </a:pathLst>
            </a:custGeom>
            <a:blipFill>
              <a:blip r:embed="rId4">
                <a:alphaModFix amt="0"/>
              </a:blip>
              <a:stretch>
                <a:fillRect l="0" t="-154791" r="-72685" b="-127818"/>
              </a:stretch>
            </a:blipFill>
          </p:spPr>
        </p:sp>
        <p:sp>
          <p:nvSpPr>
            <p:cNvPr name="TextBox 6" id="6"/>
            <p:cNvSpPr txBox="true"/>
            <p:nvPr/>
          </p:nvSpPr>
          <p:spPr>
            <a:xfrm>
              <a:off x="0" y="0"/>
              <a:ext cx="12814300" cy="2253853"/>
            </a:xfrm>
            <a:prstGeom prst="rect">
              <a:avLst/>
            </a:prstGeom>
          </p:spPr>
          <p:txBody>
            <a:bodyPr anchor="ctr" rtlCol="false" tIns="0" lIns="0" bIns="0" rIns="0"/>
            <a:lstStyle/>
            <a:p>
              <a:pPr algn="ctr">
                <a:lnSpc>
                  <a:spcPts val="5759"/>
                </a:lnSpc>
              </a:pPr>
              <a:r>
                <a:rPr lang="en-US" b="true" sz="4800">
                  <a:solidFill>
                    <a:srgbClr val="4F2F1E"/>
                  </a:solidFill>
                  <a:latin typeface="HK Grotesk Bold"/>
                  <a:ea typeface="HK Grotesk Bold"/>
                  <a:cs typeface="HK Grotesk Bold"/>
                  <a:sym typeface="HK Grotesk Bold"/>
                </a:rPr>
                <a:t>Incrementos de 15 días y un cambio de rumbo</a:t>
              </a:r>
            </a:p>
          </p:txBody>
        </p:sp>
      </p:grpSp>
      <p:grpSp>
        <p:nvGrpSpPr>
          <p:cNvPr name="Group 7" id="7"/>
          <p:cNvGrpSpPr/>
          <p:nvPr/>
        </p:nvGrpSpPr>
        <p:grpSpPr>
          <a:xfrm rot="0">
            <a:off x="952500" y="2286000"/>
            <a:ext cx="16383000" cy="2381250"/>
            <a:chOff x="0" y="0"/>
            <a:chExt cx="21844000" cy="3175000"/>
          </a:xfrm>
        </p:grpSpPr>
        <p:sp>
          <p:nvSpPr>
            <p:cNvPr name="Freeform 8" id="8"/>
            <p:cNvSpPr/>
            <p:nvPr/>
          </p:nvSpPr>
          <p:spPr>
            <a:xfrm flipH="false" flipV="false" rot="0">
              <a:off x="0" y="0"/>
              <a:ext cx="21844000" cy="3175000"/>
            </a:xfrm>
            <a:custGeom>
              <a:avLst/>
              <a:gdLst/>
              <a:ahLst/>
              <a:cxnLst/>
              <a:rect r="r" b="b" t="t" l="l"/>
              <a:pathLst>
                <a:path h="3175000" w="21844000">
                  <a:moveTo>
                    <a:pt x="0" y="144309"/>
                  </a:moveTo>
                  <a:cubicBezTo>
                    <a:pt x="0" y="64635"/>
                    <a:pt x="140364" y="0"/>
                    <a:pt x="313386" y="0"/>
                  </a:cubicBezTo>
                  <a:lnTo>
                    <a:pt x="21530614" y="0"/>
                  </a:lnTo>
                  <a:cubicBezTo>
                    <a:pt x="21703636" y="0"/>
                    <a:pt x="21844000" y="64635"/>
                    <a:pt x="21844000" y="144309"/>
                  </a:cubicBezTo>
                  <a:lnTo>
                    <a:pt x="21844000" y="3030691"/>
                  </a:lnTo>
                  <a:cubicBezTo>
                    <a:pt x="21844000" y="3110365"/>
                    <a:pt x="21703636" y="3175000"/>
                    <a:pt x="21530614" y="3175000"/>
                  </a:cubicBezTo>
                  <a:lnTo>
                    <a:pt x="313386" y="3175000"/>
                  </a:lnTo>
                  <a:cubicBezTo>
                    <a:pt x="140364" y="3175000"/>
                    <a:pt x="0" y="3110365"/>
                    <a:pt x="0" y="3030691"/>
                  </a:cubicBezTo>
                  <a:close/>
                </a:path>
              </a:pathLst>
            </a:custGeom>
            <a:solidFill>
              <a:srgbClr val="FFFCE9"/>
            </a:solidFill>
            <a:ln w="38100" cap="sq">
              <a:solidFill>
                <a:srgbClr val="4F2F1E"/>
              </a:solidFill>
              <a:prstDash val="solid"/>
              <a:miter/>
            </a:ln>
          </p:spPr>
        </p:sp>
      </p:grpSp>
      <p:grpSp>
        <p:nvGrpSpPr>
          <p:cNvPr name="Group 9" id="9"/>
          <p:cNvGrpSpPr/>
          <p:nvPr/>
        </p:nvGrpSpPr>
        <p:grpSpPr>
          <a:xfrm rot="0">
            <a:off x="1333500" y="2914650"/>
            <a:ext cx="1116330" cy="1116330"/>
            <a:chOff x="0" y="0"/>
            <a:chExt cx="1488440" cy="1488440"/>
          </a:xfrm>
        </p:grpSpPr>
        <p:sp>
          <p:nvSpPr>
            <p:cNvPr name="Freeform 10" id="10"/>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2E7D6B"/>
            </a:solidFill>
            <a:ln w="19050" cap="sq">
              <a:solidFill>
                <a:srgbClr val="2E7D6B"/>
              </a:solidFill>
              <a:prstDash val="solid"/>
              <a:miter/>
            </a:ln>
          </p:spPr>
        </p:sp>
      </p:grpSp>
      <p:grpSp>
        <p:nvGrpSpPr>
          <p:cNvPr name="Group 11" id="11"/>
          <p:cNvGrpSpPr/>
          <p:nvPr/>
        </p:nvGrpSpPr>
        <p:grpSpPr>
          <a:xfrm rot="0">
            <a:off x="1662112" y="3209925"/>
            <a:ext cx="526694" cy="526694"/>
            <a:chOff x="0" y="0"/>
            <a:chExt cx="702259" cy="702259"/>
          </a:xfrm>
        </p:grpSpPr>
        <p:sp>
          <p:nvSpPr>
            <p:cNvPr name="Freeform 12" id="12" descr="Icono revisión 10-09"/>
            <p:cNvSpPr/>
            <p:nvPr/>
          </p:nvSpPr>
          <p:spPr>
            <a:xfrm flipH="false" flipV="false" rot="0">
              <a:off x="0" y="0"/>
              <a:ext cx="702310" cy="702310"/>
            </a:xfrm>
            <a:custGeom>
              <a:avLst/>
              <a:gdLst/>
              <a:ahLst/>
              <a:cxnLst/>
              <a:rect r="r" b="b" t="t" l="l"/>
              <a:pathLst>
                <a:path h="702310" w="702310">
                  <a:moveTo>
                    <a:pt x="0" y="0"/>
                  </a:moveTo>
                  <a:lnTo>
                    <a:pt x="702310" y="0"/>
                  </a:lnTo>
                  <a:lnTo>
                    <a:pt x="702310" y="702310"/>
                  </a:lnTo>
                  <a:lnTo>
                    <a:pt x="0" y="702310"/>
                  </a:lnTo>
                  <a:lnTo>
                    <a:pt x="0" y="0"/>
                  </a:lnTo>
                  <a:close/>
                </a:path>
              </a:pathLst>
            </a:custGeom>
            <a:blipFill>
              <a:blip r:embed="rId5"/>
              <a:stretch>
                <a:fillRect l="0" t="0" r="7" b="7"/>
              </a:stretch>
            </a:blipFill>
          </p:spPr>
        </p:sp>
      </p:grpSp>
      <p:grpSp>
        <p:nvGrpSpPr>
          <p:cNvPr name="Group 13" id="13"/>
          <p:cNvGrpSpPr/>
          <p:nvPr/>
        </p:nvGrpSpPr>
        <p:grpSpPr>
          <a:xfrm rot="0">
            <a:off x="952500" y="5048250"/>
            <a:ext cx="16383000" cy="2571750"/>
            <a:chOff x="0" y="0"/>
            <a:chExt cx="21844000" cy="3429000"/>
          </a:xfrm>
        </p:grpSpPr>
        <p:sp>
          <p:nvSpPr>
            <p:cNvPr name="Freeform 14" id="14"/>
            <p:cNvSpPr/>
            <p:nvPr/>
          </p:nvSpPr>
          <p:spPr>
            <a:xfrm flipH="false" flipV="false" rot="0">
              <a:off x="0" y="0"/>
              <a:ext cx="21844000" cy="3429000"/>
            </a:xfrm>
            <a:custGeom>
              <a:avLst/>
              <a:gdLst/>
              <a:ahLst/>
              <a:cxnLst/>
              <a:rect r="r" b="b" t="t" l="l"/>
              <a:pathLst>
                <a:path h="3429000" w="21844000">
                  <a:moveTo>
                    <a:pt x="0" y="129437"/>
                  </a:moveTo>
                  <a:cubicBezTo>
                    <a:pt x="0" y="57925"/>
                    <a:pt x="140148" y="0"/>
                    <a:pt x="313169" y="0"/>
                  </a:cubicBezTo>
                  <a:lnTo>
                    <a:pt x="21530832" y="0"/>
                  </a:lnTo>
                  <a:cubicBezTo>
                    <a:pt x="21703854" y="0"/>
                    <a:pt x="21844000" y="57925"/>
                    <a:pt x="21844000" y="129437"/>
                  </a:cubicBezTo>
                  <a:lnTo>
                    <a:pt x="21844000" y="3299563"/>
                  </a:lnTo>
                  <a:cubicBezTo>
                    <a:pt x="21844000" y="3371075"/>
                    <a:pt x="21703854" y="3429000"/>
                    <a:pt x="21530832" y="3429000"/>
                  </a:cubicBezTo>
                  <a:lnTo>
                    <a:pt x="313169" y="3429000"/>
                  </a:lnTo>
                  <a:cubicBezTo>
                    <a:pt x="140148" y="3429000"/>
                    <a:pt x="0" y="3371075"/>
                    <a:pt x="0" y="3299563"/>
                  </a:cubicBezTo>
                  <a:close/>
                </a:path>
              </a:pathLst>
            </a:custGeom>
            <a:solidFill>
              <a:srgbClr val="FFFCE9"/>
            </a:solidFill>
            <a:ln w="38100" cap="sq">
              <a:solidFill>
                <a:srgbClr val="4F2F1E"/>
              </a:solidFill>
              <a:prstDash val="solid"/>
              <a:miter/>
            </a:ln>
          </p:spPr>
        </p:sp>
      </p:grpSp>
      <p:grpSp>
        <p:nvGrpSpPr>
          <p:cNvPr name="Group 15" id="15"/>
          <p:cNvGrpSpPr/>
          <p:nvPr/>
        </p:nvGrpSpPr>
        <p:grpSpPr>
          <a:xfrm rot="0">
            <a:off x="1333500" y="5772150"/>
            <a:ext cx="1116330" cy="1116330"/>
            <a:chOff x="0" y="0"/>
            <a:chExt cx="1488440" cy="1488440"/>
          </a:xfrm>
        </p:grpSpPr>
        <p:sp>
          <p:nvSpPr>
            <p:cNvPr name="Freeform 16" id="16"/>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4F2F1E"/>
            </a:solidFill>
            <a:ln w="19050" cap="sq">
              <a:solidFill>
                <a:srgbClr val="0B2545"/>
              </a:solidFill>
              <a:prstDash val="solid"/>
              <a:miter/>
            </a:ln>
          </p:spPr>
        </p:sp>
      </p:grpSp>
      <p:grpSp>
        <p:nvGrpSpPr>
          <p:cNvPr name="Group 17" id="17"/>
          <p:cNvGrpSpPr/>
          <p:nvPr/>
        </p:nvGrpSpPr>
        <p:grpSpPr>
          <a:xfrm rot="0">
            <a:off x="1628775" y="6067425"/>
            <a:ext cx="526694" cy="526694"/>
            <a:chOff x="0" y="0"/>
            <a:chExt cx="702259" cy="702259"/>
          </a:xfrm>
        </p:grpSpPr>
        <p:sp>
          <p:nvSpPr>
            <p:cNvPr name="Freeform 18" id="18" descr="Icono revisión 30-09"/>
            <p:cNvSpPr/>
            <p:nvPr/>
          </p:nvSpPr>
          <p:spPr>
            <a:xfrm flipH="false" flipV="false" rot="0">
              <a:off x="0" y="0"/>
              <a:ext cx="702310" cy="702310"/>
            </a:xfrm>
            <a:custGeom>
              <a:avLst/>
              <a:gdLst/>
              <a:ahLst/>
              <a:cxnLst/>
              <a:rect r="r" b="b" t="t" l="l"/>
              <a:pathLst>
                <a:path h="702310" w="702310">
                  <a:moveTo>
                    <a:pt x="0" y="0"/>
                  </a:moveTo>
                  <a:lnTo>
                    <a:pt x="702310" y="0"/>
                  </a:lnTo>
                  <a:lnTo>
                    <a:pt x="702310" y="702310"/>
                  </a:lnTo>
                  <a:lnTo>
                    <a:pt x="0" y="702310"/>
                  </a:lnTo>
                  <a:lnTo>
                    <a:pt x="0" y="0"/>
                  </a:lnTo>
                  <a:close/>
                </a:path>
              </a:pathLst>
            </a:custGeom>
            <a:blipFill>
              <a:blip r:embed="rId6"/>
              <a:stretch>
                <a:fillRect l="0" t="0" r="7" b="7"/>
              </a:stretch>
            </a:blipFill>
          </p:spPr>
        </p:sp>
      </p:grpSp>
      <p:sp>
        <p:nvSpPr>
          <p:cNvPr name="Freeform 19" id="19"/>
          <p:cNvSpPr/>
          <p:nvPr/>
        </p:nvSpPr>
        <p:spPr>
          <a:xfrm flipH="false" flipV="false" rot="0">
            <a:off x="2857500" y="381000"/>
            <a:ext cx="1317880" cy="1830389"/>
          </a:xfrm>
          <a:custGeom>
            <a:avLst/>
            <a:gdLst/>
            <a:ahLst/>
            <a:cxnLst/>
            <a:rect r="r" b="b" t="t" l="l"/>
            <a:pathLst>
              <a:path h="1830389" w="1317880">
                <a:moveTo>
                  <a:pt x="0" y="0"/>
                </a:moveTo>
                <a:lnTo>
                  <a:pt x="1317880" y="0"/>
                </a:lnTo>
                <a:lnTo>
                  <a:pt x="1317880" y="1830389"/>
                </a:lnTo>
                <a:lnTo>
                  <a:pt x="0" y="18303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0" id="20"/>
          <p:cNvSpPr txBox="true"/>
          <p:nvPr/>
        </p:nvSpPr>
        <p:spPr>
          <a:xfrm rot="0">
            <a:off x="2857500" y="2705100"/>
            <a:ext cx="14097000" cy="504825"/>
          </a:xfrm>
          <a:prstGeom prst="rect">
            <a:avLst/>
          </a:prstGeom>
        </p:spPr>
        <p:txBody>
          <a:bodyPr anchor="t" rtlCol="false" tIns="0" lIns="0" bIns="0" rIns="0">
            <a:spAutoFit/>
          </a:bodyPr>
          <a:lstStyle/>
          <a:p>
            <a:pPr algn="l">
              <a:lnSpc>
                <a:spcPts val="3960"/>
              </a:lnSpc>
            </a:pPr>
            <a:r>
              <a:rPr lang="en-US" b="true" sz="3300">
                <a:solidFill>
                  <a:srgbClr val="4F2F1E"/>
                </a:solidFill>
                <a:latin typeface="HK Grotesk Bold"/>
                <a:ea typeface="HK Grotesk Bold"/>
                <a:cs typeface="HK Grotesk Bold"/>
                <a:sym typeface="HK Grotesk Bold"/>
              </a:rPr>
              <a:t>10 de septiembre: Pañol validó el inventario</a:t>
            </a:r>
          </a:p>
        </p:txBody>
      </p:sp>
      <p:sp>
        <p:nvSpPr>
          <p:cNvPr name="TextBox 21" id="21"/>
          <p:cNvSpPr txBox="true"/>
          <p:nvPr/>
        </p:nvSpPr>
        <p:spPr>
          <a:xfrm rot="0">
            <a:off x="2857500" y="3371850"/>
            <a:ext cx="14097000" cy="771525"/>
          </a:xfrm>
          <a:prstGeom prst="rect">
            <a:avLst/>
          </a:prstGeom>
        </p:spPr>
        <p:txBody>
          <a:bodyPr anchor="t" rtlCol="false" tIns="0" lIns="0" bIns="0" rIns="0">
            <a:spAutoFit/>
          </a:bodyPr>
          <a:lstStyle/>
          <a:p>
            <a:pPr algn="l">
              <a:lnSpc>
                <a:spcPts val="3060"/>
              </a:lnSpc>
            </a:pPr>
            <a:r>
              <a:rPr lang="en-US" sz="2550">
                <a:solidFill>
                  <a:srgbClr val="4F2F1E"/>
                </a:solidFill>
                <a:latin typeface="HK Grotesk"/>
                <a:ea typeface="HK Grotesk"/>
                <a:cs typeface="HK Grotesk"/>
                <a:sym typeface="HK Grotesk"/>
              </a:rPr>
              <a:t>Les gustó ingresar varias unidades a la vez, crear categorías, ver el historial y agregar atributos propios.</a:t>
            </a:r>
          </a:p>
        </p:txBody>
      </p:sp>
      <p:sp>
        <p:nvSpPr>
          <p:cNvPr name="TextBox 22" id="22"/>
          <p:cNvSpPr txBox="true"/>
          <p:nvPr/>
        </p:nvSpPr>
        <p:spPr>
          <a:xfrm rot="0">
            <a:off x="2857500" y="5419725"/>
            <a:ext cx="14097000" cy="504825"/>
          </a:xfrm>
          <a:prstGeom prst="rect">
            <a:avLst/>
          </a:prstGeom>
        </p:spPr>
        <p:txBody>
          <a:bodyPr anchor="t" rtlCol="false" tIns="0" lIns="0" bIns="0" rIns="0">
            <a:spAutoFit/>
          </a:bodyPr>
          <a:lstStyle/>
          <a:p>
            <a:pPr algn="l">
              <a:lnSpc>
                <a:spcPts val="3960"/>
              </a:lnSpc>
            </a:pPr>
            <a:r>
              <a:rPr lang="en-US" b="true" sz="3300">
                <a:solidFill>
                  <a:srgbClr val="4F2F1E"/>
                </a:solidFill>
                <a:latin typeface="HK Grotesk Bold"/>
                <a:ea typeface="HK Grotesk Bold"/>
                <a:cs typeface="HK Grotesk Bold"/>
                <a:sym typeface="HK Grotesk Bold"/>
              </a:rPr>
              <a:t>30 de septiembre: no entendieron el flujo, lo rediseñamos</a:t>
            </a:r>
          </a:p>
        </p:txBody>
      </p:sp>
      <p:sp>
        <p:nvSpPr>
          <p:cNvPr name="TextBox 23" id="23"/>
          <p:cNvSpPr txBox="true"/>
          <p:nvPr/>
        </p:nvSpPr>
        <p:spPr>
          <a:xfrm rot="0">
            <a:off x="2857500" y="6134100"/>
            <a:ext cx="14097000" cy="771525"/>
          </a:xfrm>
          <a:prstGeom prst="rect">
            <a:avLst/>
          </a:prstGeom>
        </p:spPr>
        <p:txBody>
          <a:bodyPr anchor="t" rtlCol="false" tIns="0" lIns="0" bIns="0" rIns="0">
            <a:spAutoFit/>
          </a:bodyPr>
          <a:lstStyle/>
          <a:p>
            <a:pPr algn="l">
              <a:lnSpc>
                <a:spcPts val="3060"/>
              </a:lnSpc>
            </a:pPr>
            <a:r>
              <a:rPr lang="en-US" sz="2550">
                <a:solidFill>
                  <a:srgbClr val="4F2F1E"/>
                </a:solidFill>
                <a:latin typeface="HK Grotesk"/>
                <a:ea typeface="HK Grotesk"/>
                <a:cs typeface="HK Grotesk"/>
                <a:sym typeface="HK Grotesk"/>
              </a:rPr>
              <a:t>Formulario único (nombre, cantidad y si es activo) y un solo Inventario con filtros. Se trabajó en una rama aparte y hoy está integrado a la rama principal.</a:t>
            </a:r>
          </a:p>
        </p:txBody>
      </p:sp>
      <p:sp>
        <p:nvSpPr>
          <p:cNvPr name="TextBox 24" id="24"/>
          <p:cNvSpPr txBox="true"/>
          <p:nvPr/>
        </p:nvSpPr>
        <p:spPr>
          <a:xfrm rot="0">
            <a:off x="952500" y="8048625"/>
            <a:ext cx="16383000" cy="523875"/>
          </a:xfrm>
          <a:prstGeom prst="rect">
            <a:avLst/>
          </a:prstGeom>
        </p:spPr>
        <p:txBody>
          <a:bodyPr anchor="t" rtlCol="false" tIns="0" lIns="0" bIns="0" rIns="0">
            <a:spAutoFit/>
          </a:bodyPr>
          <a:lstStyle/>
          <a:p>
            <a:pPr algn="ctr" marL="0" indent="0" lvl="0">
              <a:lnSpc>
                <a:spcPts val="4140"/>
              </a:lnSpc>
              <a:spcBef>
                <a:spcPct val="0"/>
              </a:spcBef>
            </a:pPr>
            <a:r>
              <a:rPr lang="en-US" b="true" sz="3450" strike="noStrike" u="none">
                <a:solidFill>
                  <a:srgbClr val="4F2F1E"/>
                </a:solidFill>
                <a:latin typeface="HK Grotesk Bold"/>
                <a:ea typeface="HK Grotesk Bold"/>
                <a:cs typeface="HK Grotesk Bold"/>
                <a:sym typeface="HK Grotesk Bold"/>
              </a:rPr>
              <a:t>Resultado: el cambio se absorbió sin mover ninguna fecha</a:t>
            </a:r>
          </a:p>
        </p:txBody>
      </p:sp>
      <p:sp>
        <p:nvSpPr>
          <p:cNvPr name="TextBox 25" id="25"/>
          <p:cNvSpPr txBox="true"/>
          <p:nvPr/>
        </p:nvSpPr>
        <p:spPr>
          <a:xfrm rot="0">
            <a:off x="952500" y="8763000"/>
            <a:ext cx="16383000" cy="409575"/>
          </a:xfrm>
          <a:prstGeom prst="rect">
            <a:avLst/>
          </a:prstGeom>
        </p:spPr>
        <p:txBody>
          <a:bodyPr anchor="t" rtlCol="false" tIns="0" lIns="0" bIns="0" rIns="0">
            <a:spAutoFit/>
          </a:bodyPr>
          <a:lstStyle/>
          <a:p>
            <a:pPr algn="ctr" marL="0" indent="0" lvl="0">
              <a:lnSpc>
                <a:spcPts val="3240"/>
              </a:lnSpc>
              <a:spcBef>
                <a:spcPct val="0"/>
              </a:spcBef>
            </a:pPr>
            <a:r>
              <a:rPr lang="en-US" sz="2700" strike="noStrike" u="none">
                <a:solidFill>
                  <a:srgbClr val="4F2F1E"/>
                </a:solidFill>
                <a:latin typeface="HK Grotesk"/>
                <a:ea typeface="HK Grotesk"/>
                <a:cs typeface="HK Grotesk"/>
                <a:sym typeface="HK Grotesk"/>
              </a:rPr>
              <a:t>DSDM fija tiempo, costo y calidad; el alcance es la variable de ajuste.</a:t>
            </a:r>
          </a:p>
        </p:txBody>
      </p:sp>
      <p:sp>
        <p:nvSpPr>
          <p:cNvPr name="Freeform 26" id="26"/>
          <p:cNvSpPr/>
          <p:nvPr/>
        </p:nvSpPr>
        <p:spPr>
          <a:xfrm flipH="true" flipV="false" rot="0">
            <a:off x="14097000" y="381000"/>
            <a:ext cx="1317880" cy="1830389"/>
          </a:xfrm>
          <a:custGeom>
            <a:avLst/>
            <a:gdLst/>
            <a:ahLst/>
            <a:cxnLst/>
            <a:rect r="r" b="b" t="t" l="l"/>
            <a:pathLst>
              <a:path h="1830389" w="1317880">
                <a:moveTo>
                  <a:pt x="1317880" y="0"/>
                </a:moveTo>
                <a:lnTo>
                  <a:pt x="0" y="0"/>
                </a:lnTo>
                <a:lnTo>
                  <a:pt x="0" y="1830389"/>
                </a:lnTo>
                <a:lnTo>
                  <a:pt x="1317880" y="1830389"/>
                </a:lnTo>
                <a:lnTo>
                  <a:pt x="131788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813435" y="320665"/>
            <a:ext cx="9610725" cy="1234440"/>
            <a:chOff x="0" y="0"/>
            <a:chExt cx="12814300" cy="1645920"/>
          </a:xfrm>
        </p:grpSpPr>
        <p:sp>
          <p:nvSpPr>
            <p:cNvPr name="Freeform 5" id="5"/>
            <p:cNvSpPr/>
            <p:nvPr/>
          </p:nvSpPr>
          <p:spPr>
            <a:xfrm flipH="false" flipV="false" rot="0">
              <a:off x="0" y="0"/>
              <a:ext cx="12814300" cy="1645920"/>
            </a:xfrm>
            <a:custGeom>
              <a:avLst/>
              <a:gdLst/>
              <a:ahLst/>
              <a:cxnLst/>
              <a:rect r="r" b="b" t="t" l="l"/>
              <a:pathLst>
                <a:path h="1645920" w="12814300">
                  <a:moveTo>
                    <a:pt x="0" y="0"/>
                  </a:moveTo>
                  <a:lnTo>
                    <a:pt x="12814300" y="0"/>
                  </a:lnTo>
                  <a:lnTo>
                    <a:pt x="12814300" y="1645920"/>
                  </a:lnTo>
                  <a:lnTo>
                    <a:pt x="0" y="1645920"/>
                  </a:lnTo>
                  <a:close/>
                </a:path>
              </a:pathLst>
            </a:custGeom>
            <a:blipFill>
              <a:blip r:embed="rId4">
                <a:alphaModFix amt="0"/>
              </a:blip>
              <a:stretch>
                <a:fillRect l="0" t="-211965" r="-72685" b="-211965"/>
              </a:stretch>
            </a:blipFill>
          </p:spPr>
        </p:sp>
        <p:sp>
          <p:nvSpPr>
            <p:cNvPr name="TextBox 6" id="6"/>
            <p:cNvSpPr txBox="true"/>
            <p:nvPr/>
          </p:nvSpPr>
          <p:spPr>
            <a:xfrm>
              <a:off x="0" y="0"/>
              <a:ext cx="12814300" cy="1645920"/>
            </a:xfrm>
            <a:prstGeom prst="rect">
              <a:avLst/>
            </a:prstGeom>
          </p:spPr>
          <p:txBody>
            <a:bodyPr anchor="ctr" rtlCol="false" tIns="0" lIns="0" bIns="0" rIns="0"/>
            <a:lstStyle/>
            <a:p>
              <a:pPr algn="ctr" marL="0" indent="0" lvl="0">
                <a:lnSpc>
                  <a:spcPts val="5759"/>
                </a:lnSpc>
                <a:spcBef>
                  <a:spcPct val="0"/>
                </a:spcBef>
              </a:pPr>
              <a:r>
                <a:rPr lang="en-US" b="true" sz="4800" strike="noStrike" u="none">
                  <a:solidFill>
                    <a:srgbClr val="4F2F1E"/>
                  </a:solidFill>
                  <a:latin typeface="HK Grotesk Bold"/>
                  <a:ea typeface="HK Grotesk Bold"/>
                  <a:cs typeface="HK Grotesk Bold"/>
                  <a:sym typeface="HK Grotesk Bold"/>
                </a:rPr>
                <a:t>El trabajo en Jira</a:t>
              </a:r>
            </a:p>
          </p:txBody>
        </p:sp>
      </p:grpSp>
      <p:grpSp>
        <p:nvGrpSpPr>
          <p:cNvPr name="Group 7" id="7"/>
          <p:cNvGrpSpPr/>
          <p:nvPr/>
        </p:nvGrpSpPr>
        <p:grpSpPr>
          <a:xfrm rot="0">
            <a:off x="813435" y="2425260"/>
            <a:ext cx="9620250" cy="2245258"/>
            <a:chOff x="0" y="0"/>
            <a:chExt cx="12827000" cy="2993677"/>
          </a:xfrm>
        </p:grpSpPr>
        <p:sp>
          <p:nvSpPr>
            <p:cNvPr name="Freeform 8" id="8"/>
            <p:cNvSpPr/>
            <p:nvPr/>
          </p:nvSpPr>
          <p:spPr>
            <a:xfrm flipH="false" flipV="false" rot="0">
              <a:off x="0" y="0"/>
              <a:ext cx="12827000" cy="2993677"/>
            </a:xfrm>
            <a:custGeom>
              <a:avLst/>
              <a:gdLst/>
              <a:ahLst/>
              <a:cxnLst/>
              <a:rect r="r" b="b" t="t" l="l"/>
              <a:pathLst>
                <a:path h="2993677" w="12827000">
                  <a:moveTo>
                    <a:pt x="0" y="136068"/>
                  </a:moveTo>
                  <a:cubicBezTo>
                    <a:pt x="0" y="60944"/>
                    <a:pt x="82423" y="0"/>
                    <a:pt x="184023" y="0"/>
                  </a:cubicBezTo>
                  <a:lnTo>
                    <a:pt x="12642977" y="0"/>
                  </a:lnTo>
                  <a:cubicBezTo>
                    <a:pt x="12744577" y="0"/>
                    <a:pt x="12827000" y="60944"/>
                    <a:pt x="12827000" y="136068"/>
                  </a:cubicBezTo>
                  <a:lnTo>
                    <a:pt x="12827000" y="2857609"/>
                  </a:lnTo>
                  <a:cubicBezTo>
                    <a:pt x="12827000" y="2932733"/>
                    <a:pt x="12744577" y="2993677"/>
                    <a:pt x="12642977" y="2993677"/>
                  </a:cubicBezTo>
                  <a:lnTo>
                    <a:pt x="184023" y="2993677"/>
                  </a:lnTo>
                  <a:cubicBezTo>
                    <a:pt x="82423" y="2993677"/>
                    <a:pt x="0" y="2932733"/>
                    <a:pt x="0" y="2857609"/>
                  </a:cubicBezTo>
                  <a:close/>
                </a:path>
              </a:pathLst>
            </a:custGeom>
            <a:solidFill>
              <a:srgbClr val="FFFCE9"/>
            </a:solidFill>
            <a:ln w="38100" cap="sq">
              <a:solidFill>
                <a:srgbClr val="4F2F1E"/>
              </a:solidFill>
              <a:prstDash val="solid"/>
              <a:miter/>
            </a:ln>
          </p:spPr>
        </p:sp>
      </p:grpSp>
      <p:grpSp>
        <p:nvGrpSpPr>
          <p:cNvPr name="Group 9" id="9"/>
          <p:cNvGrpSpPr/>
          <p:nvPr/>
        </p:nvGrpSpPr>
        <p:grpSpPr>
          <a:xfrm rot="0">
            <a:off x="1224915" y="2971995"/>
            <a:ext cx="1116330" cy="1116330"/>
            <a:chOff x="0" y="0"/>
            <a:chExt cx="1488440" cy="1488440"/>
          </a:xfrm>
        </p:grpSpPr>
        <p:sp>
          <p:nvSpPr>
            <p:cNvPr name="Freeform 10" id="10"/>
            <p:cNvSpPr/>
            <p:nvPr/>
          </p:nvSpPr>
          <p:spPr>
            <a:xfrm flipH="false" flipV="false" rot="0">
              <a:off x="0" y="0"/>
              <a:ext cx="1488440" cy="1488440"/>
            </a:xfrm>
            <a:custGeom>
              <a:avLst/>
              <a:gdLst/>
              <a:ahLst/>
              <a:cxnLst/>
              <a:rect r="r" b="b" t="t" l="l"/>
              <a:pathLst>
                <a:path h="1488440" w="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2E7D6B"/>
            </a:solidFill>
            <a:ln w="19050" cap="sq">
              <a:solidFill>
                <a:srgbClr val="2E7D6B"/>
              </a:solidFill>
              <a:prstDash val="solid"/>
              <a:miter/>
            </a:ln>
          </p:spPr>
        </p:sp>
      </p:grpSp>
      <p:grpSp>
        <p:nvGrpSpPr>
          <p:cNvPr name="Group 11" id="11"/>
          <p:cNvGrpSpPr/>
          <p:nvPr/>
        </p:nvGrpSpPr>
        <p:grpSpPr>
          <a:xfrm rot="0">
            <a:off x="1554023" y="3266813"/>
            <a:ext cx="526694" cy="526694"/>
            <a:chOff x="0" y="0"/>
            <a:chExt cx="702259" cy="702259"/>
          </a:xfrm>
        </p:grpSpPr>
        <p:sp>
          <p:nvSpPr>
            <p:cNvPr name="Freeform 12" id="12" descr="Icono revisión 10-09"/>
            <p:cNvSpPr/>
            <p:nvPr/>
          </p:nvSpPr>
          <p:spPr>
            <a:xfrm flipH="false" flipV="false" rot="0">
              <a:off x="0" y="0"/>
              <a:ext cx="702310" cy="702310"/>
            </a:xfrm>
            <a:custGeom>
              <a:avLst/>
              <a:gdLst/>
              <a:ahLst/>
              <a:cxnLst/>
              <a:rect r="r" b="b" t="t" l="l"/>
              <a:pathLst>
                <a:path h="702310" w="702310">
                  <a:moveTo>
                    <a:pt x="0" y="0"/>
                  </a:moveTo>
                  <a:lnTo>
                    <a:pt x="702310" y="0"/>
                  </a:lnTo>
                  <a:lnTo>
                    <a:pt x="702310" y="702310"/>
                  </a:lnTo>
                  <a:lnTo>
                    <a:pt x="0" y="702310"/>
                  </a:lnTo>
                  <a:lnTo>
                    <a:pt x="0" y="0"/>
                  </a:lnTo>
                  <a:close/>
                </a:path>
              </a:pathLst>
            </a:custGeom>
            <a:blipFill>
              <a:blip r:embed="rId5"/>
              <a:stretch>
                <a:fillRect l="0" t="0" r="7" b="7"/>
              </a:stretch>
            </a:blipFill>
          </p:spPr>
        </p:sp>
      </p:grpSp>
      <p:grpSp>
        <p:nvGrpSpPr>
          <p:cNvPr name="Group 13" id="13"/>
          <p:cNvGrpSpPr/>
          <p:nvPr/>
        </p:nvGrpSpPr>
        <p:grpSpPr>
          <a:xfrm rot="0">
            <a:off x="813435" y="5408295"/>
            <a:ext cx="9620250" cy="2592273"/>
            <a:chOff x="0" y="0"/>
            <a:chExt cx="12827000" cy="3456365"/>
          </a:xfrm>
        </p:grpSpPr>
        <p:sp>
          <p:nvSpPr>
            <p:cNvPr name="Freeform 14" id="14"/>
            <p:cNvSpPr/>
            <p:nvPr/>
          </p:nvSpPr>
          <p:spPr>
            <a:xfrm flipH="false" flipV="false" rot="0">
              <a:off x="0" y="0"/>
              <a:ext cx="12827000" cy="3456365"/>
            </a:xfrm>
            <a:custGeom>
              <a:avLst/>
              <a:gdLst/>
              <a:ahLst/>
              <a:cxnLst/>
              <a:rect r="r" b="b" t="t" l="l"/>
              <a:pathLst>
                <a:path h="3456365" w="12827000">
                  <a:moveTo>
                    <a:pt x="0" y="130470"/>
                  </a:moveTo>
                  <a:cubicBezTo>
                    <a:pt x="0" y="58387"/>
                    <a:pt x="82296" y="0"/>
                    <a:pt x="183896" y="0"/>
                  </a:cubicBezTo>
                  <a:lnTo>
                    <a:pt x="12643104" y="0"/>
                  </a:lnTo>
                  <a:cubicBezTo>
                    <a:pt x="12744704" y="0"/>
                    <a:pt x="12827000" y="58387"/>
                    <a:pt x="12827000" y="130470"/>
                  </a:cubicBezTo>
                  <a:lnTo>
                    <a:pt x="12827000" y="3325895"/>
                  </a:lnTo>
                  <a:cubicBezTo>
                    <a:pt x="12827000" y="3397977"/>
                    <a:pt x="12744704" y="3456365"/>
                    <a:pt x="12643104" y="3456365"/>
                  </a:cubicBezTo>
                  <a:lnTo>
                    <a:pt x="183896" y="3456365"/>
                  </a:lnTo>
                  <a:cubicBezTo>
                    <a:pt x="82296" y="3456365"/>
                    <a:pt x="0" y="3397977"/>
                    <a:pt x="0" y="3325895"/>
                  </a:cubicBezTo>
                  <a:close/>
                </a:path>
              </a:pathLst>
            </a:custGeom>
            <a:solidFill>
              <a:srgbClr val="FFFCE9"/>
            </a:solidFill>
            <a:ln w="38100" cap="sq">
              <a:solidFill>
                <a:srgbClr val="4F2F1E"/>
              </a:solidFill>
              <a:prstDash val="solid"/>
              <a:miter/>
            </a:ln>
          </p:spPr>
        </p:sp>
      </p:grpSp>
      <p:sp>
        <p:nvSpPr>
          <p:cNvPr name="Freeform 15" id="15"/>
          <p:cNvSpPr/>
          <p:nvPr/>
        </p:nvSpPr>
        <p:spPr>
          <a:xfrm flipH="false" flipV="false" rot="0">
            <a:off x="236143" y="250666"/>
            <a:ext cx="1317880" cy="1830389"/>
          </a:xfrm>
          <a:custGeom>
            <a:avLst/>
            <a:gdLst/>
            <a:ahLst/>
            <a:cxnLst/>
            <a:rect r="r" b="b" t="t" l="l"/>
            <a:pathLst>
              <a:path h="1830389" w="1317880">
                <a:moveTo>
                  <a:pt x="0" y="0"/>
                </a:moveTo>
                <a:lnTo>
                  <a:pt x="1317880" y="0"/>
                </a:lnTo>
                <a:lnTo>
                  <a:pt x="1317880" y="1830388"/>
                </a:lnTo>
                <a:lnTo>
                  <a:pt x="0" y="18303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2674620" y="2850532"/>
            <a:ext cx="7406640" cy="438150"/>
          </a:xfrm>
          <a:prstGeom prst="rect">
            <a:avLst/>
          </a:prstGeom>
        </p:spPr>
        <p:txBody>
          <a:bodyPr anchor="t" rtlCol="false" tIns="0" lIns="0" bIns="0" rIns="0">
            <a:spAutoFit/>
          </a:bodyPr>
          <a:lstStyle/>
          <a:p>
            <a:pPr algn="l" marL="0" indent="0" lvl="0">
              <a:lnSpc>
                <a:spcPts val="3419"/>
              </a:lnSpc>
              <a:spcBef>
                <a:spcPct val="0"/>
              </a:spcBef>
            </a:pPr>
            <a:r>
              <a:rPr lang="en-US" b="true" sz="2850" strike="noStrike" u="none">
                <a:solidFill>
                  <a:srgbClr val="4F2F1E"/>
                </a:solidFill>
                <a:latin typeface="HK Grotesk Bold"/>
                <a:ea typeface="HK Grotesk Bold"/>
                <a:cs typeface="HK Grotesk Bold"/>
                <a:sym typeface="HK Grotesk Bold"/>
              </a:rPr>
              <a:t>7 épicas, 26 features y 51 subtareas</a:t>
            </a:r>
          </a:p>
        </p:txBody>
      </p:sp>
      <p:sp>
        <p:nvSpPr>
          <p:cNvPr name="TextBox 17" id="17"/>
          <p:cNvSpPr txBox="true"/>
          <p:nvPr/>
        </p:nvSpPr>
        <p:spPr>
          <a:xfrm rot="0">
            <a:off x="2674620" y="3469657"/>
            <a:ext cx="7406640" cy="771525"/>
          </a:xfrm>
          <a:prstGeom prst="rect">
            <a:avLst/>
          </a:prstGeom>
        </p:spPr>
        <p:txBody>
          <a:bodyPr anchor="t" rtlCol="false" tIns="0" lIns="0" bIns="0" rIns="0">
            <a:spAutoFit/>
          </a:bodyPr>
          <a:lstStyle/>
          <a:p>
            <a:pPr algn="l" marL="0" indent="0" lvl="0">
              <a:lnSpc>
                <a:spcPts val="3060"/>
              </a:lnSpc>
              <a:spcBef>
                <a:spcPct val="0"/>
              </a:spcBef>
            </a:pPr>
            <a:r>
              <a:rPr lang="en-US" sz="2550" strike="noStrike" u="none">
                <a:solidFill>
                  <a:srgbClr val="4F2F1E"/>
                </a:solidFill>
                <a:latin typeface="HK Grotesk"/>
                <a:ea typeface="HK Grotesk"/>
                <a:cs typeface="HK Grotesk"/>
                <a:sym typeface="HK Grotesk"/>
              </a:rPr>
              <a:t>Todo el backlog quedó en estado Listo, salvo una feature registrada como Won't have.(Por hacer)</a:t>
            </a:r>
          </a:p>
        </p:txBody>
      </p:sp>
      <p:sp>
        <p:nvSpPr>
          <p:cNvPr name="TextBox 18" id="18"/>
          <p:cNvSpPr txBox="true"/>
          <p:nvPr/>
        </p:nvSpPr>
        <p:spPr>
          <a:xfrm rot="0">
            <a:off x="1238250" y="5753100"/>
            <a:ext cx="8763000" cy="438150"/>
          </a:xfrm>
          <a:prstGeom prst="rect">
            <a:avLst/>
          </a:prstGeom>
        </p:spPr>
        <p:txBody>
          <a:bodyPr anchor="t" rtlCol="false" tIns="0" lIns="0" bIns="0" rIns="0">
            <a:spAutoFit/>
          </a:bodyPr>
          <a:lstStyle/>
          <a:p>
            <a:pPr algn="l" marL="0" indent="0" lvl="0">
              <a:lnSpc>
                <a:spcPts val="3419"/>
              </a:lnSpc>
              <a:spcBef>
                <a:spcPct val="0"/>
              </a:spcBef>
            </a:pPr>
            <a:r>
              <a:rPr lang="en-US" b="true" sz="2850" strike="noStrike" u="none">
                <a:solidFill>
                  <a:srgbClr val="4F2F1E"/>
                </a:solidFill>
                <a:latin typeface="HK Grotesk Bold"/>
                <a:ea typeface="HK Grotesk Bold"/>
                <a:cs typeface="HK Grotesk Bold"/>
                <a:sym typeface="HK Grotesk Bold"/>
              </a:rPr>
              <a:t>Prioridad MoSCoW: 19 Must y 7 Should</a:t>
            </a:r>
          </a:p>
        </p:txBody>
      </p:sp>
      <p:sp>
        <p:nvSpPr>
          <p:cNvPr name="TextBox 19" id="19"/>
          <p:cNvSpPr txBox="true"/>
          <p:nvPr/>
        </p:nvSpPr>
        <p:spPr>
          <a:xfrm rot="0">
            <a:off x="1238250" y="6429375"/>
            <a:ext cx="8763000" cy="1114425"/>
          </a:xfrm>
          <a:prstGeom prst="rect">
            <a:avLst/>
          </a:prstGeom>
        </p:spPr>
        <p:txBody>
          <a:bodyPr anchor="t" rtlCol="false" tIns="0" lIns="0" bIns="0" rIns="0">
            <a:spAutoFit/>
          </a:bodyPr>
          <a:lstStyle/>
          <a:p>
            <a:pPr algn="l" marL="0" indent="0" lvl="0">
              <a:lnSpc>
                <a:spcPts val="2970"/>
              </a:lnSpc>
              <a:spcBef>
                <a:spcPct val="0"/>
              </a:spcBef>
            </a:pPr>
            <a:r>
              <a:rPr lang="en-US" sz="2475" strike="noStrike" u="none">
                <a:solidFill>
                  <a:srgbClr val="4F2F1E"/>
                </a:solidFill>
                <a:latin typeface="HK Grotesk"/>
                <a:ea typeface="HK Grotesk"/>
                <a:cs typeface="HK Grotesk"/>
                <a:sym typeface="HK Grotesk"/>
              </a:rPr>
              <a:t>Las 26 features completadas se dividen en 19 Must have y 7 Should have. La Won't have (selector de fechas del dashboard) quedó registrada, no eliminada.</a:t>
            </a:r>
          </a:p>
        </p:txBody>
      </p:sp>
      <p:sp>
        <p:nvSpPr>
          <p:cNvPr name="TextBox 20" id="20"/>
          <p:cNvSpPr txBox="true"/>
          <p:nvPr/>
        </p:nvSpPr>
        <p:spPr>
          <a:xfrm rot="0">
            <a:off x="10572750" y="466725"/>
            <a:ext cx="7524750" cy="552450"/>
          </a:xfrm>
          <a:prstGeom prst="rect">
            <a:avLst/>
          </a:prstGeom>
        </p:spPr>
        <p:txBody>
          <a:bodyPr anchor="t" rtlCol="false" tIns="0" lIns="0" bIns="0" rIns="0">
            <a:spAutoFit/>
          </a:bodyPr>
          <a:lstStyle/>
          <a:p>
            <a:pPr algn="ctr" marL="0" indent="0" lvl="0">
              <a:lnSpc>
                <a:spcPts val="4319"/>
              </a:lnSpc>
              <a:spcBef>
                <a:spcPct val="0"/>
              </a:spcBef>
            </a:pPr>
            <a:r>
              <a:rPr lang="en-US" b="true" sz="3599" strike="noStrike" u="none">
                <a:solidFill>
                  <a:srgbClr val="4F2F1E"/>
                </a:solidFill>
                <a:latin typeface="HK Grotesk Bold"/>
                <a:ea typeface="HK Grotesk Bold"/>
                <a:cs typeface="HK Grotesk Bold"/>
                <a:sym typeface="HK Grotesk Bold"/>
              </a:rPr>
              <a:t>Features por épica</a:t>
            </a:r>
          </a:p>
        </p:txBody>
      </p:sp>
      <p:sp>
        <p:nvSpPr>
          <p:cNvPr name="Freeform 21" id="21"/>
          <p:cNvSpPr/>
          <p:nvPr/>
        </p:nvSpPr>
        <p:spPr>
          <a:xfrm flipH="true" flipV="false" rot="0">
            <a:off x="9765220" y="320665"/>
            <a:ext cx="1317880" cy="1830389"/>
          </a:xfrm>
          <a:custGeom>
            <a:avLst/>
            <a:gdLst/>
            <a:ahLst/>
            <a:cxnLst/>
            <a:rect r="r" b="b" t="t" l="l"/>
            <a:pathLst>
              <a:path h="1830389" w="1317880">
                <a:moveTo>
                  <a:pt x="1317880" y="0"/>
                </a:moveTo>
                <a:lnTo>
                  <a:pt x="0" y="0"/>
                </a:lnTo>
                <a:lnTo>
                  <a:pt x="0" y="1830389"/>
                </a:lnTo>
                <a:lnTo>
                  <a:pt x="1317880" y="1830389"/>
                </a:lnTo>
                <a:lnTo>
                  <a:pt x="131788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2" id="22"/>
          <p:cNvGrpSpPr/>
          <p:nvPr/>
        </p:nvGrpSpPr>
        <p:grpSpPr>
          <a:xfrm rot="0">
            <a:off x="10572750" y="1428750"/>
            <a:ext cx="7524750" cy="7715250"/>
            <a:chOff x="0" y="0"/>
            <a:chExt cx="10033000" cy="10287000"/>
          </a:xfrm>
        </p:grpSpPr>
        <p:sp>
          <p:nvSpPr>
            <p:cNvPr name="Freeform 23" id="23"/>
            <p:cNvSpPr/>
            <p:nvPr/>
          </p:nvSpPr>
          <p:spPr>
            <a:xfrm flipH="false" flipV="false" rot="0">
              <a:off x="0" y="0"/>
              <a:ext cx="10033000" cy="10287000"/>
            </a:xfrm>
            <a:custGeom>
              <a:avLst/>
              <a:gdLst/>
              <a:ahLst/>
              <a:cxnLst/>
              <a:rect r="r" b="b" t="t" l="l"/>
              <a:pathLst>
                <a:path h="10287000" w="10033000">
                  <a:moveTo>
                    <a:pt x="0" y="381156"/>
                  </a:moveTo>
                  <a:cubicBezTo>
                    <a:pt x="0" y="170573"/>
                    <a:pt x="157648" y="0"/>
                    <a:pt x="352274" y="0"/>
                  </a:cubicBezTo>
                  <a:lnTo>
                    <a:pt x="9680726" y="0"/>
                  </a:lnTo>
                  <a:cubicBezTo>
                    <a:pt x="9875110" y="0"/>
                    <a:pt x="10033000" y="170573"/>
                    <a:pt x="10033000" y="381156"/>
                  </a:cubicBezTo>
                  <a:lnTo>
                    <a:pt x="10033000" y="9905844"/>
                  </a:lnTo>
                  <a:cubicBezTo>
                    <a:pt x="10033000" y="10116164"/>
                    <a:pt x="9875353" y="10287000"/>
                    <a:pt x="9680726" y="10287000"/>
                  </a:cubicBezTo>
                  <a:lnTo>
                    <a:pt x="352274" y="10287000"/>
                  </a:lnTo>
                  <a:cubicBezTo>
                    <a:pt x="157648" y="10287000"/>
                    <a:pt x="0" y="10116427"/>
                    <a:pt x="0" y="9905844"/>
                  </a:cubicBezTo>
                  <a:close/>
                </a:path>
              </a:pathLst>
            </a:custGeom>
            <a:solidFill>
              <a:srgbClr val="FFFCE9"/>
            </a:solidFill>
            <a:ln w="38100" cap="sq">
              <a:solidFill>
                <a:srgbClr val="4F2F1E"/>
              </a:solidFill>
              <a:prstDash val="solid"/>
              <a:miter/>
            </a:ln>
          </p:spPr>
        </p:sp>
        <p:sp>
          <p:nvSpPr>
            <p:cNvPr name="TextBox 24" id="24"/>
            <p:cNvSpPr txBox="true"/>
            <p:nvPr/>
          </p:nvSpPr>
          <p:spPr>
            <a:xfrm>
              <a:off x="0" y="-38100"/>
              <a:ext cx="10033000" cy="10325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10906125" y="1638300"/>
            <a:ext cx="6858000" cy="415290"/>
          </a:xfrm>
          <a:prstGeom prst="rect">
            <a:avLst/>
          </a:prstGeom>
        </p:spPr>
        <p:txBody>
          <a:bodyPr anchor="t" rtlCol="false" tIns="0" lIns="0" bIns="0" rIns="0">
            <a:spAutoFit/>
          </a:bodyPr>
          <a:lstStyle/>
          <a:p>
            <a:pPr algn="l">
              <a:lnSpc>
                <a:spcPts val="3359"/>
              </a:lnSpc>
            </a:pPr>
            <a:r>
              <a:rPr lang="en-US" sz="2400" b="true">
                <a:solidFill>
                  <a:srgbClr val="4F2F1E"/>
                </a:solidFill>
                <a:latin typeface="Arimo Bold"/>
                <a:ea typeface="Arimo Bold"/>
                <a:cs typeface="Arimo Bold"/>
                <a:sym typeface="Arimo Bold"/>
              </a:rPr>
              <a:t>Autenticación y roles · 2</a:t>
            </a:r>
          </a:p>
        </p:txBody>
      </p:sp>
      <p:sp>
        <p:nvSpPr>
          <p:cNvPr name="TextBox 26" id="26"/>
          <p:cNvSpPr txBox="true"/>
          <p:nvPr/>
        </p:nvSpPr>
        <p:spPr>
          <a:xfrm rot="0">
            <a:off x="10906125" y="2047875"/>
            <a:ext cx="6858000" cy="314325"/>
          </a:xfrm>
          <a:prstGeom prst="rect">
            <a:avLst/>
          </a:prstGeom>
        </p:spPr>
        <p:txBody>
          <a:bodyPr anchor="t" rtlCol="false" tIns="0" lIns="0" bIns="0" rIns="0">
            <a:spAutoFit/>
          </a:bodyPr>
          <a:lstStyle/>
          <a:p>
            <a:pPr algn="l">
              <a:lnSpc>
                <a:spcPts val="2250"/>
              </a:lnSpc>
            </a:pPr>
            <a:r>
              <a:rPr lang="en-US" sz="1875">
                <a:solidFill>
                  <a:srgbClr val="4F2F1E"/>
                </a:solidFill>
                <a:latin typeface="Arimo"/>
                <a:ea typeface="Arimo"/>
                <a:cs typeface="Arimo"/>
                <a:sym typeface="Arimo"/>
              </a:rPr>
              <a:t>Login · Control de acceso por rol</a:t>
            </a:r>
          </a:p>
        </p:txBody>
      </p:sp>
      <p:sp>
        <p:nvSpPr>
          <p:cNvPr name="TextBox 27" id="27"/>
          <p:cNvSpPr txBox="true"/>
          <p:nvPr/>
        </p:nvSpPr>
        <p:spPr>
          <a:xfrm rot="0">
            <a:off x="10906125" y="2667000"/>
            <a:ext cx="6858000" cy="415290"/>
          </a:xfrm>
          <a:prstGeom prst="rect">
            <a:avLst/>
          </a:prstGeom>
        </p:spPr>
        <p:txBody>
          <a:bodyPr anchor="t" rtlCol="false" tIns="0" lIns="0" bIns="0" rIns="0">
            <a:spAutoFit/>
          </a:bodyPr>
          <a:lstStyle/>
          <a:p>
            <a:pPr algn="l">
              <a:lnSpc>
                <a:spcPts val="3359"/>
              </a:lnSpc>
            </a:pPr>
            <a:r>
              <a:rPr lang="en-US" sz="2400" b="true">
                <a:solidFill>
                  <a:srgbClr val="4F2F1E"/>
                </a:solidFill>
                <a:latin typeface="Arimo Bold"/>
                <a:ea typeface="Arimo Bold"/>
                <a:cs typeface="Arimo Bold"/>
                <a:sym typeface="Arimo Bold"/>
              </a:rPr>
              <a:t>Gestión de préstamos · 6</a:t>
            </a:r>
          </a:p>
        </p:txBody>
      </p:sp>
      <p:sp>
        <p:nvSpPr>
          <p:cNvPr name="TextBox 28" id="28"/>
          <p:cNvSpPr txBox="true"/>
          <p:nvPr/>
        </p:nvSpPr>
        <p:spPr>
          <a:xfrm rot="0">
            <a:off x="10906125" y="3076575"/>
            <a:ext cx="6858000" cy="600075"/>
          </a:xfrm>
          <a:prstGeom prst="rect">
            <a:avLst/>
          </a:prstGeom>
        </p:spPr>
        <p:txBody>
          <a:bodyPr anchor="t" rtlCol="false" tIns="0" lIns="0" bIns="0" rIns="0">
            <a:spAutoFit/>
          </a:bodyPr>
          <a:lstStyle/>
          <a:p>
            <a:pPr algn="l">
              <a:lnSpc>
                <a:spcPts val="2250"/>
              </a:lnSpc>
            </a:pPr>
            <a:r>
              <a:rPr lang="en-US" sz="1875">
                <a:solidFill>
                  <a:srgbClr val="4F2F1E"/>
                </a:solidFill>
                <a:latin typeface="Arimo"/>
                <a:ea typeface="Arimo"/>
                <a:cs typeface="Arimo"/>
                <a:sym typeface="Arimo"/>
              </a:rPr>
              <a:t>Registro, devolución, historial por fechas, portal docente, entrega parcial y multi-categoría</a:t>
            </a:r>
          </a:p>
        </p:txBody>
      </p:sp>
      <p:sp>
        <p:nvSpPr>
          <p:cNvPr name="TextBox 29" id="29"/>
          <p:cNvSpPr txBox="true"/>
          <p:nvPr/>
        </p:nvSpPr>
        <p:spPr>
          <a:xfrm rot="0">
            <a:off x="10906125" y="3695700"/>
            <a:ext cx="6858000" cy="415290"/>
          </a:xfrm>
          <a:prstGeom prst="rect">
            <a:avLst/>
          </a:prstGeom>
        </p:spPr>
        <p:txBody>
          <a:bodyPr anchor="t" rtlCol="false" tIns="0" lIns="0" bIns="0" rIns="0">
            <a:spAutoFit/>
          </a:bodyPr>
          <a:lstStyle/>
          <a:p>
            <a:pPr algn="l">
              <a:lnSpc>
                <a:spcPts val="3359"/>
              </a:lnSpc>
            </a:pPr>
            <a:r>
              <a:rPr lang="en-US" sz="2400" b="true">
                <a:solidFill>
                  <a:srgbClr val="4F2F1E"/>
                </a:solidFill>
                <a:latin typeface="Arimo Bold"/>
                <a:ea typeface="Arimo Bold"/>
                <a:cs typeface="Arimo Bold"/>
                <a:sym typeface="Arimo Bold"/>
              </a:rPr>
              <a:t>Inventario · 6</a:t>
            </a:r>
          </a:p>
        </p:txBody>
      </p:sp>
      <p:sp>
        <p:nvSpPr>
          <p:cNvPr name="TextBox 30" id="30"/>
          <p:cNvSpPr txBox="true"/>
          <p:nvPr/>
        </p:nvSpPr>
        <p:spPr>
          <a:xfrm rot="0">
            <a:off x="10906125" y="4105275"/>
            <a:ext cx="6858000" cy="600075"/>
          </a:xfrm>
          <a:prstGeom prst="rect">
            <a:avLst/>
          </a:prstGeom>
        </p:spPr>
        <p:txBody>
          <a:bodyPr anchor="t" rtlCol="false" tIns="0" lIns="0" bIns="0" rIns="0">
            <a:spAutoFit/>
          </a:bodyPr>
          <a:lstStyle/>
          <a:p>
            <a:pPr algn="l">
              <a:lnSpc>
                <a:spcPts val="2250"/>
              </a:lnSpc>
            </a:pPr>
            <a:r>
              <a:rPr lang="en-US" sz="1875">
                <a:solidFill>
                  <a:srgbClr val="4F2F1E"/>
                </a:solidFill>
                <a:latin typeface="Arimo"/>
                <a:ea typeface="Arimo"/>
                <a:cs typeface="Arimo"/>
                <a:sym typeface="Arimo"/>
              </a:rPr>
              <a:t>Activos, perdido/dañado con bitácora, stock de fungibles, kits, alta unificada</a:t>
            </a:r>
          </a:p>
        </p:txBody>
      </p:sp>
      <p:sp>
        <p:nvSpPr>
          <p:cNvPr name="TextBox 31" id="31"/>
          <p:cNvSpPr txBox="true"/>
          <p:nvPr/>
        </p:nvSpPr>
        <p:spPr>
          <a:xfrm rot="0">
            <a:off x="10906125" y="4724400"/>
            <a:ext cx="6858000" cy="415290"/>
          </a:xfrm>
          <a:prstGeom prst="rect">
            <a:avLst/>
          </a:prstGeom>
        </p:spPr>
        <p:txBody>
          <a:bodyPr anchor="t" rtlCol="false" tIns="0" lIns="0" bIns="0" rIns="0">
            <a:spAutoFit/>
          </a:bodyPr>
          <a:lstStyle/>
          <a:p>
            <a:pPr algn="l">
              <a:lnSpc>
                <a:spcPts val="3359"/>
              </a:lnSpc>
            </a:pPr>
            <a:r>
              <a:rPr lang="en-US" sz="2400" b="true">
                <a:solidFill>
                  <a:srgbClr val="4F2F1E"/>
                </a:solidFill>
                <a:latin typeface="Arimo Bold"/>
                <a:ea typeface="Arimo Bold"/>
                <a:cs typeface="Arimo Bold"/>
                <a:sym typeface="Arimo Bold"/>
              </a:rPr>
              <a:t>Categorías y áreas · 2</a:t>
            </a:r>
          </a:p>
        </p:txBody>
      </p:sp>
      <p:sp>
        <p:nvSpPr>
          <p:cNvPr name="TextBox 32" id="32"/>
          <p:cNvSpPr txBox="true"/>
          <p:nvPr/>
        </p:nvSpPr>
        <p:spPr>
          <a:xfrm rot="0">
            <a:off x="10906125" y="5133975"/>
            <a:ext cx="6858000" cy="314325"/>
          </a:xfrm>
          <a:prstGeom prst="rect">
            <a:avLst/>
          </a:prstGeom>
        </p:spPr>
        <p:txBody>
          <a:bodyPr anchor="t" rtlCol="false" tIns="0" lIns="0" bIns="0" rIns="0">
            <a:spAutoFit/>
          </a:bodyPr>
          <a:lstStyle/>
          <a:p>
            <a:pPr algn="l">
              <a:lnSpc>
                <a:spcPts val="2250"/>
              </a:lnSpc>
            </a:pPr>
            <a:r>
              <a:rPr lang="en-US" sz="1875">
                <a:solidFill>
                  <a:srgbClr val="4F2F1E"/>
                </a:solidFill>
                <a:latin typeface="Arimo"/>
                <a:ea typeface="Arimo"/>
                <a:cs typeface="Arimo"/>
                <a:sym typeface="Arimo"/>
              </a:rPr>
              <a:t>CRUD de categorías · Asignación dinámica</a:t>
            </a:r>
          </a:p>
        </p:txBody>
      </p:sp>
      <p:sp>
        <p:nvSpPr>
          <p:cNvPr name="TextBox 33" id="33"/>
          <p:cNvSpPr txBox="true"/>
          <p:nvPr/>
        </p:nvSpPr>
        <p:spPr>
          <a:xfrm rot="0">
            <a:off x="10906125" y="5753100"/>
            <a:ext cx="6858000" cy="415290"/>
          </a:xfrm>
          <a:prstGeom prst="rect">
            <a:avLst/>
          </a:prstGeom>
        </p:spPr>
        <p:txBody>
          <a:bodyPr anchor="t" rtlCol="false" tIns="0" lIns="0" bIns="0" rIns="0">
            <a:spAutoFit/>
          </a:bodyPr>
          <a:lstStyle/>
          <a:p>
            <a:pPr algn="l">
              <a:lnSpc>
                <a:spcPts val="3359"/>
              </a:lnSpc>
            </a:pPr>
            <a:r>
              <a:rPr lang="en-US" sz="2400" b="true">
                <a:solidFill>
                  <a:srgbClr val="4F2F1E"/>
                </a:solidFill>
                <a:latin typeface="Arimo Bold"/>
                <a:ea typeface="Arimo Bold"/>
                <a:cs typeface="Arimo Bold"/>
                <a:sym typeface="Arimo Bold"/>
              </a:rPr>
              <a:t>Gestión de usuarios · 3</a:t>
            </a:r>
          </a:p>
        </p:txBody>
      </p:sp>
      <p:sp>
        <p:nvSpPr>
          <p:cNvPr name="TextBox 34" id="34"/>
          <p:cNvSpPr txBox="true"/>
          <p:nvPr/>
        </p:nvSpPr>
        <p:spPr>
          <a:xfrm rot="0">
            <a:off x="10906125" y="6162675"/>
            <a:ext cx="6858000" cy="314325"/>
          </a:xfrm>
          <a:prstGeom prst="rect">
            <a:avLst/>
          </a:prstGeom>
        </p:spPr>
        <p:txBody>
          <a:bodyPr anchor="t" rtlCol="false" tIns="0" lIns="0" bIns="0" rIns="0">
            <a:spAutoFit/>
          </a:bodyPr>
          <a:lstStyle/>
          <a:p>
            <a:pPr algn="l">
              <a:lnSpc>
                <a:spcPts val="2250"/>
              </a:lnSpc>
            </a:pPr>
            <a:r>
              <a:rPr lang="en-US" sz="1875">
                <a:solidFill>
                  <a:srgbClr val="4F2F1E"/>
                </a:solidFill>
                <a:latin typeface="Arimo"/>
                <a:ea typeface="Arimo"/>
                <a:cs typeface="Arimo"/>
                <a:sym typeface="Arimo"/>
              </a:rPr>
              <a:t>Alta · Edición · Baja</a:t>
            </a:r>
          </a:p>
        </p:txBody>
      </p:sp>
      <p:sp>
        <p:nvSpPr>
          <p:cNvPr name="TextBox 35" id="35"/>
          <p:cNvSpPr txBox="true"/>
          <p:nvPr/>
        </p:nvSpPr>
        <p:spPr>
          <a:xfrm rot="0">
            <a:off x="10906125" y="6781800"/>
            <a:ext cx="6858000" cy="415290"/>
          </a:xfrm>
          <a:prstGeom prst="rect">
            <a:avLst/>
          </a:prstGeom>
        </p:spPr>
        <p:txBody>
          <a:bodyPr anchor="t" rtlCol="false" tIns="0" lIns="0" bIns="0" rIns="0">
            <a:spAutoFit/>
          </a:bodyPr>
          <a:lstStyle/>
          <a:p>
            <a:pPr algn="l">
              <a:lnSpc>
                <a:spcPts val="3359"/>
              </a:lnSpc>
            </a:pPr>
            <a:r>
              <a:rPr lang="en-US" sz="2400" b="true">
                <a:solidFill>
                  <a:srgbClr val="4F2F1E"/>
                </a:solidFill>
                <a:latin typeface="Arimo Bold"/>
                <a:ea typeface="Arimo Bold"/>
                <a:cs typeface="Arimo Bold"/>
                <a:sym typeface="Arimo Bold"/>
              </a:rPr>
              <a:t>Dashboard y reportes · 4</a:t>
            </a:r>
          </a:p>
        </p:txBody>
      </p:sp>
      <p:sp>
        <p:nvSpPr>
          <p:cNvPr name="TextBox 36" id="36"/>
          <p:cNvSpPr txBox="true"/>
          <p:nvPr/>
        </p:nvSpPr>
        <p:spPr>
          <a:xfrm rot="0">
            <a:off x="10906125" y="7191375"/>
            <a:ext cx="6858000" cy="314325"/>
          </a:xfrm>
          <a:prstGeom prst="rect">
            <a:avLst/>
          </a:prstGeom>
        </p:spPr>
        <p:txBody>
          <a:bodyPr anchor="t" rtlCol="false" tIns="0" lIns="0" bIns="0" rIns="0">
            <a:spAutoFit/>
          </a:bodyPr>
          <a:lstStyle/>
          <a:p>
            <a:pPr algn="l">
              <a:lnSpc>
                <a:spcPts val="2250"/>
              </a:lnSpc>
            </a:pPr>
            <a:r>
              <a:rPr lang="en-US" sz="1875">
                <a:solidFill>
                  <a:srgbClr val="4F2F1E"/>
                </a:solidFill>
                <a:latin typeface="Arimo"/>
                <a:ea typeface="Arimo"/>
                <a:cs typeface="Arimo"/>
                <a:sym typeface="Arimo"/>
              </a:rPr>
              <a:t>Vista general, materiales más usados, historial diario y alertas</a:t>
            </a:r>
          </a:p>
        </p:txBody>
      </p:sp>
      <p:sp>
        <p:nvSpPr>
          <p:cNvPr name="TextBox 37" id="37"/>
          <p:cNvSpPr txBox="true"/>
          <p:nvPr/>
        </p:nvSpPr>
        <p:spPr>
          <a:xfrm rot="0">
            <a:off x="10906125" y="7810500"/>
            <a:ext cx="6858000" cy="415290"/>
          </a:xfrm>
          <a:prstGeom prst="rect">
            <a:avLst/>
          </a:prstGeom>
        </p:spPr>
        <p:txBody>
          <a:bodyPr anchor="t" rtlCol="false" tIns="0" lIns="0" bIns="0" rIns="0">
            <a:spAutoFit/>
          </a:bodyPr>
          <a:lstStyle/>
          <a:p>
            <a:pPr algn="l">
              <a:lnSpc>
                <a:spcPts val="3359"/>
              </a:lnSpc>
            </a:pPr>
            <a:r>
              <a:rPr lang="en-US" sz="2400" b="true">
                <a:solidFill>
                  <a:srgbClr val="4F2F1E"/>
                </a:solidFill>
                <a:latin typeface="Arimo Bold"/>
                <a:ea typeface="Arimo Bold"/>
                <a:cs typeface="Arimo Bold"/>
                <a:sym typeface="Arimo Bold"/>
              </a:rPr>
              <a:t>Requisitos no funcionales · 3</a:t>
            </a:r>
          </a:p>
        </p:txBody>
      </p:sp>
      <p:sp>
        <p:nvSpPr>
          <p:cNvPr name="TextBox 38" id="38"/>
          <p:cNvSpPr txBox="true"/>
          <p:nvPr/>
        </p:nvSpPr>
        <p:spPr>
          <a:xfrm rot="0">
            <a:off x="10906125" y="8220075"/>
            <a:ext cx="6858000" cy="314325"/>
          </a:xfrm>
          <a:prstGeom prst="rect">
            <a:avLst/>
          </a:prstGeom>
        </p:spPr>
        <p:txBody>
          <a:bodyPr anchor="t" rtlCol="false" tIns="0" lIns="0" bIns="0" rIns="0">
            <a:spAutoFit/>
          </a:bodyPr>
          <a:lstStyle/>
          <a:p>
            <a:pPr algn="l">
              <a:lnSpc>
                <a:spcPts val="2250"/>
              </a:lnSpc>
            </a:pPr>
            <a:r>
              <a:rPr lang="en-US" sz="1875">
                <a:solidFill>
                  <a:srgbClr val="4F2F1E"/>
                </a:solidFill>
                <a:latin typeface="Arimo"/>
                <a:ea typeface="Arimo"/>
                <a:cs typeface="Arimo"/>
                <a:sym typeface="Arimo"/>
              </a:rPr>
              <a:t>Vista móvil, confirmación de acciones y validaciones</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3003894" y="356264"/>
            <a:ext cx="6444402" cy="1234440"/>
            <a:chOff x="0" y="0"/>
            <a:chExt cx="8592536" cy="1645920"/>
          </a:xfrm>
        </p:grpSpPr>
        <p:sp>
          <p:nvSpPr>
            <p:cNvPr name="Freeform 5" id="5"/>
            <p:cNvSpPr/>
            <p:nvPr/>
          </p:nvSpPr>
          <p:spPr>
            <a:xfrm flipH="false" flipV="false" rot="0">
              <a:off x="0" y="0"/>
              <a:ext cx="8592536" cy="1645920"/>
            </a:xfrm>
            <a:custGeom>
              <a:avLst/>
              <a:gdLst/>
              <a:ahLst/>
              <a:cxnLst/>
              <a:rect r="r" b="b" t="t" l="l"/>
              <a:pathLst>
                <a:path h="1645920" w="8592536">
                  <a:moveTo>
                    <a:pt x="0" y="0"/>
                  </a:moveTo>
                  <a:lnTo>
                    <a:pt x="8592536" y="0"/>
                  </a:lnTo>
                  <a:lnTo>
                    <a:pt x="8592536" y="1645920"/>
                  </a:lnTo>
                  <a:lnTo>
                    <a:pt x="0" y="1645920"/>
                  </a:lnTo>
                  <a:close/>
                </a:path>
              </a:pathLst>
            </a:custGeom>
            <a:blipFill>
              <a:blip r:embed="rId4">
                <a:alphaModFix amt="0"/>
              </a:blip>
              <a:stretch>
                <a:fillRect l="0" t="-211965" r="-157531" b="-211965"/>
              </a:stretch>
            </a:blipFill>
          </p:spPr>
        </p:sp>
        <p:sp>
          <p:nvSpPr>
            <p:cNvPr name="TextBox 6" id="6"/>
            <p:cNvSpPr txBox="true"/>
            <p:nvPr/>
          </p:nvSpPr>
          <p:spPr>
            <a:xfrm>
              <a:off x="0" y="0"/>
              <a:ext cx="8592536" cy="1645920"/>
            </a:xfrm>
            <a:prstGeom prst="rect">
              <a:avLst/>
            </a:prstGeom>
          </p:spPr>
          <p:txBody>
            <a:bodyPr anchor="ctr" rtlCol="false" tIns="0" lIns="0" bIns="0" rIns="0"/>
            <a:lstStyle/>
            <a:p>
              <a:pPr algn="l">
                <a:lnSpc>
                  <a:spcPts val="6599"/>
                </a:lnSpc>
              </a:pPr>
              <a:r>
                <a:rPr lang="en-US" b="true" sz="5499">
                  <a:solidFill>
                    <a:srgbClr val="4F2F1E"/>
                  </a:solidFill>
                  <a:latin typeface="HK Grotesk Bold"/>
                  <a:ea typeface="HK Grotesk Bold"/>
                  <a:cs typeface="HK Grotesk Bold"/>
                  <a:sym typeface="HK Grotesk Bold"/>
                </a:rPr>
                <a:t>Demo del sistema</a:t>
              </a:r>
            </a:p>
          </p:txBody>
        </p:sp>
      </p:grpSp>
      <p:grpSp>
        <p:nvGrpSpPr>
          <p:cNvPr name="Group 7" id="7"/>
          <p:cNvGrpSpPr/>
          <p:nvPr/>
        </p:nvGrpSpPr>
        <p:grpSpPr>
          <a:xfrm rot="0">
            <a:off x="1004806" y="4084485"/>
            <a:ext cx="3928110" cy="3722370"/>
            <a:chOff x="0" y="0"/>
            <a:chExt cx="5237480" cy="4963160"/>
          </a:xfrm>
        </p:grpSpPr>
        <p:sp>
          <p:nvSpPr>
            <p:cNvPr name="Freeform 8" id="8"/>
            <p:cNvSpPr/>
            <p:nvPr/>
          </p:nvSpPr>
          <p:spPr>
            <a:xfrm flipH="false" flipV="false" rot="0">
              <a:off x="0" y="0"/>
              <a:ext cx="5237480" cy="4963160"/>
            </a:xfrm>
            <a:custGeom>
              <a:avLst/>
              <a:gdLst/>
              <a:ahLst/>
              <a:cxnLst/>
              <a:rect r="r" b="b" t="t" l="l"/>
              <a:pathLst>
                <a:path h="4963160" w="5237480">
                  <a:moveTo>
                    <a:pt x="0" y="183896"/>
                  </a:moveTo>
                  <a:cubicBezTo>
                    <a:pt x="0" y="82296"/>
                    <a:pt x="82296" y="0"/>
                    <a:pt x="183896" y="0"/>
                  </a:cubicBezTo>
                  <a:lnTo>
                    <a:pt x="5053584" y="0"/>
                  </a:lnTo>
                  <a:cubicBezTo>
                    <a:pt x="5155057" y="0"/>
                    <a:pt x="5237480" y="82296"/>
                    <a:pt x="5237480" y="183896"/>
                  </a:cubicBezTo>
                  <a:lnTo>
                    <a:pt x="5237480" y="4779264"/>
                  </a:lnTo>
                  <a:cubicBezTo>
                    <a:pt x="5237480" y="4880737"/>
                    <a:pt x="5155184" y="4963160"/>
                    <a:pt x="5053584" y="4963160"/>
                  </a:cubicBezTo>
                  <a:lnTo>
                    <a:pt x="183896" y="4963160"/>
                  </a:lnTo>
                  <a:cubicBezTo>
                    <a:pt x="82296" y="4963160"/>
                    <a:pt x="0" y="4880864"/>
                    <a:pt x="0" y="4779264"/>
                  </a:cubicBezTo>
                  <a:close/>
                </a:path>
              </a:pathLst>
            </a:custGeom>
            <a:solidFill>
              <a:srgbClr val="FFFBF7"/>
            </a:solidFill>
            <a:ln w="19050" cap="sq">
              <a:solidFill>
                <a:srgbClr val="FFFBF7"/>
              </a:solidFill>
              <a:prstDash val="solid"/>
              <a:miter/>
            </a:ln>
          </p:spPr>
        </p:sp>
      </p:grpSp>
      <p:grpSp>
        <p:nvGrpSpPr>
          <p:cNvPr name="Group 9" id="9"/>
          <p:cNvGrpSpPr/>
          <p:nvPr/>
        </p:nvGrpSpPr>
        <p:grpSpPr>
          <a:xfrm rot="0">
            <a:off x="2165646" y="3484615"/>
            <a:ext cx="1606430" cy="1638095"/>
            <a:chOff x="0" y="0"/>
            <a:chExt cx="2141907" cy="2184127"/>
          </a:xfrm>
        </p:grpSpPr>
        <p:sp>
          <p:nvSpPr>
            <p:cNvPr name="Freeform 10" id="10"/>
            <p:cNvSpPr/>
            <p:nvPr/>
          </p:nvSpPr>
          <p:spPr>
            <a:xfrm flipH="false" flipV="false" rot="0">
              <a:off x="0" y="0"/>
              <a:ext cx="2141907" cy="2184127"/>
            </a:xfrm>
            <a:custGeom>
              <a:avLst/>
              <a:gdLst/>
              <a:ahLst/>
              <a:cxnLst/>
              <a:rect r="r" b="b" t="t" l="l"/>
              <a:pathLst>
                <a:path h="2184127" w="2141907">
                  <a:moveTo>
                    <a:pt x="0" y="0"/>
                  </a:moveTo>
                  <a:lnTo>
                    <a:pt x="2141907" y="0"/>
                  </a:lnTo>
                  <a:lnTo>
                    <a:pt x="2141907" y="2184127"/>
                  </a:lnTo>
                  <a:lnTo>
                    <a:pt x="0" y="2184127"/>
                  </a:lnTo>
                  <a:close/>
                </a:path>
              </a:pathLst>
            </a:custGeom>
            <a:blipFill>
              <a:blip r:embed="rId4">
                <a:alphaModFix amt="0"/>
              </a:blip>
              <a:stretch>
                <a:fillRect l="-9224" t="0" r="-109871" b="16268"/>
              </a:stretch>
            </a:blipFill>
          </p:spPr>
        </p:sp>
        <p:sp>
          <p:nvSpPr>
            <p:cNvPr name="TextBox 11" id="11"/>
            <p:cNvSpPr txBox="true"/>
            <p:nvPr/>
          </p:nvSpPr>
          <p:spPr>
            <a:xfrm>
              <a:off x="0" y="-9525"/>
              <a:ext cx="2141907" cy="2193652"/>
            </a:xfrm>
            <a:prstGeom prst="rect">
              <a:avLst/>
            </a:prstGeom>
          </p:spPr>
          <p:txBody>
            <a:bodyPr anchor="ctr" rtlCol="false" tIns="0" lIns="0" bIns="0" rIns="0"/>
            <a:lstStyle/>
            <a:p>
              <a:pPr algn="l">
                <a:lnSpc>
                  <a:spcPts val="9720"/>
                </a:lnSpc>
              </a:pPr>
              <a:r>
                <a:rPr lang="en-US" b="true" sz="8100">
                  <a:solidFill>
                    <a:srgbClr val="4F2F1E"/>
                  </a:solidFill>
                  <a:latin typeface="HK Grotesk Bold"/>
                  <a:ea typeface="HK Grotesk Bold"/>
                  <a:cs typeface="HK Grotesk Bold"/>
                  <a:sym typeface="HK Grotesk Bold"/>
                </a:rPr>
                <a:t>1</a:t>
              </a:r>
            </a:p>
          </p:txBody>
        </p:sp>
      </p:grpSp>
      <p:grpSp>
        <p:nvGrpSpPr>
          <p:cNvPr name="Group 12" id="12"/>
          <p:cNvGrpSpPr/>
          <p:nvPr/>
        </p:nvGrpSpPr>
        <p:grpSpPr>
          <a:xfrm rot="0">
            <a:off x="5188186" y="4084485"/>
            <a:ext cx="3928110" cy="3722370"/>
            <a:chOff x="0" y="0"/>
            <a:chExt cx="5237480" cy="4963160"/>
          </a:xfrm>
        </p:grpSpPr>
        <p:sp>
          <p:nvSpPr>
            <p:cNvPr name="Freeform 13" id="13"/>
            <p:cNvSpPr/>
            <p:nvPr/>
          </p:nvSpPr>
          <p:spPr>
            <a:xfrm flipH="false" flipV="false" rot="0">
              <a:off x="0" y="0"/>
              <a:ext cx="5237480" cy="4963160"/>
            </a:xfrm>
            <a:custGeom>
              <a:avLst/>
              <a:gdLst/>
              <a:ahLst/>
              <a:cxnLst/>
              <a:rect r="r" b="b" t="t" l="l"/>
              <a:pathLst>
                <a:path h="4963160" w="5237480">
                  <a:moveTo>
                    <a:pt x="0" y="183896"/>
                  </a:moveTo>
                  <a:cubicBezTo>
                    <a:pt x="0" y="82296"/>
                    <a:pt x="82296" y="0"/>
                    <a:pt x="183896" y="0"/>
                  </a:cubicBezTo>
                  <a:lnTo>
                    <a:pt x="5053584" y="0"/>
                  </a:lnTo>
                  <a:cubicBezTo>
                    <a:pt x="5155057" y="0"/>
                    <a:pt x="5237480" y="82296"/>
                    <a:pt x="5237480" y="183896"/>
                  </a:cubicBezTo>
                  <a:lnTo>
                    <a:pt x="5237480" y="4779264"/>
                  </a:lnTo>
                  <a:cubicBezTo>
                    <a:pt x="5237480" y="4880737"/>
                    <a:pt x="5155184" y="4963160"/>
                    <a:pt x="5053584" y="4963160"/>
                  </a:cubicBezTo>
                  <a:lnTo>
                    <a:pt x="183896" y="4963160"/>
                  </a:lnTo>
                  <a:cubicBezTo>
                    <a:pt x="82296" y="4963160"/>
                    <a:pt x="0" y="4880864"/>
                    <a:pt x="0" y="4779264"/>
                  </a:cubicBezTo>
                  <a:close/>
                </a:path>
              </a:pathLst>
            </a:custGeom>
            <a:solidFill>
              <a:srgbClr val="FFFBF7"/>
            </a:solidFill>
            <a:ln w="19050" cap="sq">
              <a:solidFill>
                <a:srgbClr val="FFFBF7"/>
              </a:solidFill>
              <a:prstDash val="solid"/>
              <a:miter/>
            </a:ln>
          </p:spPr>
        </p:sp>
      </p:grpSp>
      <p:grpSp>
        <p:nvGrpSpPr>
          <p:cNvPr name="Group 14" id="14"/>
          <p:cNvGrpSpPr/>
          <p:nvPr/>
        </p:nvGrpSpPr>
        <p:grpSpPr>
          <a:xfrm rot="0">
            <a:off x="6351224" y="3431275"/>
            <a:ext cx="1366838" cy="1638095"/>
            <a:chOff x="0" y="0"/>
            <a:chExt cx="1822450" cy="2184127"/>
          </a:xfrm>
        </p:grpSpPr>
        <p:sp>
          <p:nvSpPr>
            <p:cNvPr name="Freeform 15" id="15"/>
            <p:cNvSpPr/>
            <p:nvPr/>
          </p:nvSpPr>
          <p:spPr>
            <a:xfrm flipH="false" flipV="false" rot="0">
              <a:off x="0" y="0"/>
              <a:ext cx="1822450" cy="2184127"/>
            </a:xfrm>
            <a:custGeom>
              <a:avLst/>
              <a:gdLst/>
              <a:ahLst/>
              <a:cxnLst/>
              <a:rect r="r" b="b" t="t" l="l"/>
              <a:pathLst>
                <a:path h="2184127" w="1822450">
                  <a:moveTo>
                    <a:pt x="0" y="0"/>
                  </a:moveTo>
                  <a:lnTo>
                    <a:pt x="1822450" y="0"/>
                  </a:lnTo>
                  <a:lnTo>
                    <a:pt x="1822450" y="2184127"/>
                  </a:lnTo>
                  <a:lnTo>
                    <a:pt x="0" y="2184127"/>
                  </a:lnTo>
                  <a:close/>
                </a:path>
              </a:pathLst>
            </a:custGeom>
            <a:blipFill>
              <a:blip r:embed="rId4">
                <a:alphaModFix amt="0"/>
              </a:blip>
              <a:stretch>
                <a:fillRect l="-10841" t="0" r="-146660" b="16268"/>
              </a:stretch>
            </a:blipFill>
          </p:spPr>
        </p:sp>
        <p:sp>
          <p:nvSpPr>
            <p:cNvPr name="TextBox 16" id="16"/>
            <p:cNvSpPr txBox="true"/>
            <p:nvPr/>
          </p:nvSpPr>
          <p:spPr>
            <a:xfrm>
              <a:off x="0" y="-9525"/>
              <a:ext cx="1822450" cy="2193652"/>
            </a:xfrm>
            <a:prstGeom prst="rect">
              <a:avLst/>
            </a:prstGeom>
          </p:spPr>
          <p:txBody>
            <a:bodyPr anchor="ctr" rtlCol="false" tIns="0" lIns="0" bIns="0" rIns="0"/>
            <a:lstStyle/>
            <a:p>
              <a:pPr algn="l">
                <a:lnSpc>
                  <a:spcPts val="9720"/>
                </a:lnSpc>
              </a:pPr>
              <a:r>
                <a:rPr lang="en-US" b="true" sz="8100">
                  <a:solidFill>
                    <a:srgbClr val="4F2F1E"/>
                  </a:solidFill>
                  <a:latin typeface="HK Grotesk Bold"/>
                  <a:ea typeface="HK Grotesk Bold"/>
                  <a:cs typeface="HK Grotesk Bold"/>
                  <a:sym typeface="HK Grotesk Bold"/>
                </a:rPr>
                <a:t>2</a:t>
              </a:r>
            </a:p>
          </p:txBody>
        </p:sp>
      </p:grpSp>
      <p:grpSp>
        <p:nvGrpSpPr>
          <p:cNvPr name="Group 17" id="17"/>
          <p:cNvGrpSpPr/>
          <p:nvPr/>
        </p:nvGrpSpPr>
        <p:grpSpPr>
          <a:xfrm rot="0">
            <a:off x="9371566" y="4084485"/>
            <a:ext cx="3928110" cy="3722370"/>
            <a:chOff x="0" y="0"/>
            <a:chExt cx="5237480" cy="4963160"/>
          </a:xfrm>
        </p:grpSpPr>
        <p:sp>
          <p:nvSpPr>
            <p:cNvPr name="Freeform 18" id="18"/>
            <p:cNvSpPr/>
            <p:nvPr/>
          </p:nvSpPr>
          <p:spPr>
            <a:xfrm flipH="false" flipV="false" rot="0">
              <a:off x="0" y="0"/>
              <a:ext cx="5237480" cy="4963160"/>
            </a:xfrm>
            <a:custGeom>
              <a:avLst/>
              <a:gdLst/>
              <a:ahLst/>
              <a:cxnLst/>
              <a:rect r="r" b="b" t="t" l="l"/>
              <a:pathLst>
                <a:path h="4963160" w="5237480">
                  <a:moveTo>
                    <a:pt x="0" y="183896"/>
                  </a:moveTo>
                  <a:cubicBezTo>
                    <a:pt x="0" y="82296"/>
                    <a:pt x="82296" y="0"/>
                    <a:pt x="183896" y="0"/>
                  </a:cubicBezTo>
                  <a:lnTo>
                    <a:pt x="5053584" y="0"/>
                  </a:lnTo>
                  <a:cubicBezTo>
                    <a:pt x="5155057" y="0"/>
                    <a:pt x="5237480" y="82296"/>
                    <a:pt x="5237480" y="183896"/>
                  </a:cubicBezTo>
                  <a:lnTo>
                    <a:pt x="5237480" y="4779264"/>
                  </a:lnTo>
                  <a:cubicBezTo>
                    <a:pt x="5237480" y="4880737"/>
                    <a:pt x="5155184" y="4963160"/>
                    <a:pt x="5053584" y="4963160"/>
                  </a:cubicBezTo>
                  <a:lnTo>
                    <a:pt x="183896" y="4963160"/>
                  </a:lnTo>
                  <a:cubicBezTo>
                    <a:pt x="82296" y="4963160"/>
                    <a:pt x="0" y="4880864"/>
                    <a:pt x="0" y="4779264"/>
                  </a:cubicBezTo>
                  <a:close/>
                </a:path>
              </a:pathLst>
            </a:custGeom>
            <a:solidFill>
              <a:srgbClr val="FFFBF7"/>
            </a:solidFill>
            <a:ln w="19050" cap="sq">
              <a:solidFill>
                <a:srgbClr val="FFFBF7"/>
              </a:solidFill>
              <a:prstDash val="solid"/>
              <a:miter/>
            </a:ln>
          </p:spPr>
        </p:sp>
      </p:grpSp>
      <p:grpSp>
        <p:nvGrpSpPr>
          <p:cNvPr name="Group 19" id="19"/>
          <p:cNvGrpSpPr/>
          <p:nvPr/>
        </p:nvGrpSpPr>
        <p:grpSpPr>
          <a:xfrm rot="0">
            <a:off x="9960614" y="3484615"/>
            <a:ext cx="2470548" cy="1638095"/>
            <a:chOff x="0" y="0"/>
            <a:chExt cx="3294064" cy="2184127"/>
          </a:xfrm>
        </p:grpSpPr>
        <p:sp>
          <p:nvSpPr>
            <p:cNvPr name="Freeform 20" id="20"/>
            <p:cNvSpPr/>
            <p:nvPr/>
          </p:nvSpPr>
          <p:spPr>
            <a:xfrm flipH="false" flipV="false" rot="0">
              <a:off x="0" y="0"/>
              <a:ext cx="3294064" cy="2184127"/>
            </a:xfrm>
            <a:custGeom>
              <a:avLst/>
              <a:gdLst/>
              <a:ahLst/>
              <a:cxnLst/>
              <a:rect r="r" b="b" t="t" l="l"/>
              <a:pathLst>
                <a:path h="2184127" w="3294064">
                  <a:moveTo>
                    <a:pt x="0" y="0"/>
                  </a:moveTo>
                  <a:lnTo>
                    <a:pt x="3294064" y="0"/>
                  </a:lnTo>
                  <a:lnTo>
                    <a:pt x="3294064" y="2184127"/>
                  </a:lnTo>
                  <a:lnTo>
                    <a:pt x="0" y="2184127"/>
                  </a:lnTo>
                  <a:close/>
                </a:path>
              </a:pathLst>
            </a:custGeom>
            <a:blipFill>
              <a:blip r:embed="rId4">
                <a:alphaModFix amt="0"/>
              </a:blip>
              <a:stretch>
                <a:fillRect l="-5997" t="0" r="-36465" b="16268"/>
              </a:stretch>
            </a:blipFill>
          </p:spPr>
        </p:sp>
        <p:sp>
          <p:nvSpPr>
            <p:cNvPr name="TextBox 21" id="21"/>
            <p:cNvSpPr txBox="true"/>
            <p:nvPr/>
          </p:nvSpPr>
          <p:spPr>
            <a:xfrm>
              <a:off x="0" y="-9525"/>
              <a:ext cx="3294064" cy="2193652"/>
            </a:xfrm>
            <a:prstGeom prst="rect">
              <a:avLst/>
            </a:prstGeom>
          </p:spPr>
          <p:txBody>
            <a:bodyPr anchor="ctr" rtlCol="false" tIns="0" lIns="0" bIns="0" rIns="0"/>
            <a:lstStyle/>
            <a:p>
              <a:pPr algn="l">
                <a:lnSpc>
                  <a:spcPts val="9720"/>
                </a:lnSpc>
              </a:pPr>
              <a:r>
                <a:rPr lang="en-US" b="true" sz="8100">
                  <a:solidFill>
                    <a:srgbClr val="4F2F1E"/>
                  </a:solidFill>
                  <a:latin typeface="HK Grotesk Bold"/>
                  <a:ea typeface="HK Grotesk Bold"/>
                  <a:cs typeface="HK Grotesk Bold"/>
                  <a:sym typeface="HK Grotesk Bold"/>
                </a:rPr>
                <a:t>3</a:t>
              </a:r>
            </a:p>
          </p:txBody>
        </p:sp>
      </p:grpSp>
      <p:grpSp>
        <p:nvGrpSpPr>
          <p:cNvPr name="Group 22" id="22"/>
          <p:cNvGrpSpPr/>
          <p:nvPr/>
        </p:nvGrpSpPr>
        <p:grpSpPr>
          <a:xfrm rot="0">
            <a:off x="13554946" y="4084485"/>
            <a:ext cx="3928110" cy="3722370"/>
            <a:chOff x="0" y="0"/>
            <a:chExt cx="5237480" cy="4963160"/>
          </a:xfrm>
        </p:grpSpPr>
        <p:sp>
          <p:nvSpPr>
            <p:cNvPr name="Freeform 23" id="23"/>
            <p:cNvSpPr/>
            <p:nvPr/>
          </p:nvSpPr>
          <p:spPr>
            <a:xfrm flipH="false" flipV="false" rot="0">
              <a:off x="0" y="0"/>
              <a:ext cx="5237480" cy="4963160"/>
            </a:xfrm>
            <a:custGeom>
              <a:avLst/>
              <a:gdLst/>
              <a:ahLst/>
              <a:cxnLst/>
              <a:rect r="r" b="b" t="t" l="l"/>
              <a:pathLst>
                <a:path h="4963160" w="5237480">
                  <a:moveTo>
                    <a:pt x="0" y="183896"/>
                  </a:moveTo>
                  <a:cubicBezTo>
                    <a:pt x="0" y="82296"/>
                    <a:pt x="82296" y="0"/>
                    <a:pt x="183896" y="0"/>
                  </a:cubicBezTo>
                  <a:lnTo>
                    <a:pt x="5053584" y="0"/>
                  </a:lnTo>
                  <a:cubicBezTo>
                    <a:pt x="5155057" y="0"/>
                    <a:pt x="5237480" y="82296"/>
                    <a:pt x="5237480" y="183896"/>
                  </a:cubicBezTo>
                  <a:lnTo>
                    <a:pt x="5237480" y="4779264"/>
                  </a:lnTo>
                  <a:cubicBezTo>
                    <a:pt x="5237480" y="4880737"/>
                    <a:pt x="5155184" y="4963160"/>
                    <a:pt x="5053584" y="4963160"/>
                  </a:cubicBezTo>
                  <a:lnTo>
                    <a:pt x="183896" y="4963160"/>
                  </a:lnTo>
                  <a:cubicBezTo>
                    <a:pt x="82296" y="4963160"/>
                    <a:pt x="0" y="4880864"/>
                    <a:pt x="0" y="4779264"/>
                  </a:cubicBezTo>
                  <a:close/>
                </a:path>
              </a:pathLst>
            </a:custGeom>
            <a:solidFill>
              <a:srgbClr val="FFFBF7"/>
            </a:solidFill>
            <a:ln w="19050" cap="sq">
              <a:solidFill>
                <a:srgbClr val="FFFBF7"/>
              </a:solidFill>
              <a:prstDash val="solid"/>
              <a:miter/>
            </a:ln>
          </p:spPr>
        </p:sp>
      </p:grpSp>
      <p:grpSp>
        <p:nvGrpSpPr>
          <p:cNvPr name="Group 24" id="24"/>
          <p:cNvGrpSpPr/>
          <p:nvPr/>
        </p:nvGrpSpPr>
        <p:grpSpPr>
          <a:xfrm rot="0">
            <a:off x="13596119" y="3431275"/>
            <a:ext cx="4014572" cy="1638088"/>
            <a:chOff x="0" y="0"/>
            <a:chExt cx="5352763" cy="2184117"/>
          </a:xfrm>
        </p:grpSpPr>
        <p:sp>
          <p:nvSpPr>
            <p:cNvPr name="Freeform 25" id="25"/>
            <p:cNvSpPr/>
            <p:nvPr/>
          </p:nvSpPr>
          <p:spPr>
            <a:xfrm flipH="false" flipV="false" rot="0">
              <a:off x="0" y="0"/>
              <a:ext cx="5352763" cy="2184117"/>
            </a:xfrm>
            <a:custGeom>
              <a:avLst/>
              <a:gdLst/>
              <a:ahLst/>
              <a:cxnLst/>
              <a:rect r="r" b="b" t="t" l="l"/>
              <a:pathLst>
                <a:path h="2184117" w="5352763">
                  <a:moveTo>
                    <a:pt x="0" y="0"/>
                  </a:moveTo>
                  <a:lnTo>
                    <a:pt x="5352763" y="0"/>
                  </a:lnTo>
                  <a:lnTo>
                    <a:pt x="5352763" y="2184117"/>
                  </a:lnTo>
                  <a:lnTo>
                    <a:pt x="0" y="2184117"/>
                  </a:lnTo>
                  <a:close/>
                </a:path>
              </a:pathLst>
            </a:custGeom>
            <a:blipFill>
              <a:blip r:embed="rId4">
                <a:alphaModFix amt="0"/>
              </a:blip>
              <a:stretch>
                <a:fillRect l="-3691" t="0" r="16019" b="16268"/>
              </a:stretch>
            </a:blipFill>
          </p:spPr>
        </p:sp>
        <p:sp>
          <p:nvSpPr>
            <p:cNvPr name="TextBox 26" id="26"/>
            <p:cNvSpPr txBox="true"/>
            <p:nvPr/>
          </p:nvSpPr>
          <p:spPr>
            <a:xfrm>
              <a:off x="0" y="-9525"/>
              <a:ext cx="5352763" cy="2193642"/>
            </a:xfrm>
            <a:prstGeom prst="rect">
              <a:avLst/>
            </a:prstGeom>
          </p:spPr>
          <p:txBody>
            <a:bodyPr anchor="ctr" rtlCol="false" tIns="0" lIns="0" bIns="0" rIns="0"/>
            <a:lstStyle/>
            <a:p>
              <a:pPr algn="l">
                <a:lnSpc>
                  <a:spcPts val="9719"/>
                </a:lnSpc>
              </a:pPr>
              <a:r>
                <a:rPr lang="en-US" b="true" sz="8099">
                  <a:solidFill>
                    <a:srgbClr val="4F2F1E"/>
                  </a:solidFill>
                  <a:latin typeface="HK Grotesk Bold"/>
                  <a:ea typeface="HK Grotesk Bold"/>
                  <a:cs typeface="HK Grotesk Bold"/>
                  <a:sym typeface="HK Grotesk Bold"/>
                </a:rPr>
                <a:t>4</a:t>
              </a:r>
            </a:p>
          </p:txBody>
        </p:sp>
      </p:grpSp>
      <p:sp>
        <p:nvSpPr>
          <p:cNvPr name="Freeform 27" id="27"/>
          <p:cNvSpPr/>
          <p:nvPr/>
        </p:nvSpPr>
        <p:spPr>
          <a:xfrm flipH="false" flipV="false" rot="0">
            <a:off x="677309" y="4956900"/>
            <a:ext cx="16805747" cy="3109063"/>
          </a:xfrm>
          <a:custGeom>
            <a:avLst/>
            <a:gdLst/>
            <a:ahLst/>
            <a:cxnLst/>
            <a:rect r="r" b="b" t="t" l="l"/>
            <a:pathLst>
              <a:path h="3109063" w="16805747">
                <a:moveTo>
                  <a:pt x="0" y="0"/>
                </a:moveTo>
                <a:lnTo>
                  <a:pt x="16805747" y="0"/>
                </a:lnTo>
                <a:lnTo>
                  <a:pt x="16805747" y="3109064"/>
                </a:lnTo>
                <a:lnTo>
                  <a:pt x="0" y="31090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false" flipV="false" rot="0">
            <a:off x="510989" y="593811"/>
            <a:ext cx="2266501" cy="2312756"/>
          </a:xfrm>
          <a:custGeom>
            <a:avLst/>
            <a:gdLst/>
            <a:ahLst/>
            <a:cxnLst/>
            <a:rect r="r" b="b" t="t" l="l"/>
            <a:pathLst>
              <a:path h="2312756" w="2266501">
                <a:moveTo>
                  <a:pt x="0" y="0"/>
                </a:moveTo>
                <a:lnTo>
                  <a:pt x="2266501" y="0"/>
                </a:lnTo>
                <a:lnTo>
                  <a:pt x="2266501" y="2312756"/>
                </a:lnTo>
                <a:lnTo>
                  <a:pt x="0" y="23127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9" id="29"/>
          <p:cNvSpPr/>
          <p:nvPr/>
        </p:nvSpPr>
        <p:spPr>
          <a:xfrm flipH="false" flipV="false" rot="0">
            <a:off x="3041548" y="8334132"/>
            <a:ext cx="1461057" cy="1529902"/>
          </a:xfrm>
          <a:custGeom>
            <a:avLst/>
            <a:gdLst/>
            <a:ahLst/>
            <a:cxnLst/>
            <a:rect r="r" b="b" t="t" l="l"/>
            <a:pathLst>
              <a:path h="1529902" w="1461057">
                <a:moveTo>
                  <a:pt x="0" y="0"/>
                </a:moveTo>
                <a:lnTo>
                  <a:pt x="1461057" y="0"/>
                </a:lnTo>
                <a:lnTo>
                  <a:pt x="1461057" y="1529902"/>
                </a:lnTo>
                <a:lnTo>
                  <a:pt x="0" y="15299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0" id="30"/>
          <p:cNvSpPr/>
          <p:nvPr/>
        </p:nvSpPr>
        <p:spPr>
          <a:xfrm flipH="false" flipV="false" rot="0">
            <a:off x="4692643" y="8240350"/>
            <a:ext cx="3066904" cy="1717466"/>
          </a:xfrm>
          <a:custGeom>
            <a:avLst/>
            <a:gdLst/>
            <a:ahLst/>
            <a:cxnLst/>
            <a:rect r="r" b="b" t="t" l="l"/>
            <a:pathLst>
              <a:path h="1717466" w="3066904">
                <a:moveTo>
                  <a:pt x="0" y="0"/>
                </a:moveTo>
                <a:lnTo>
                  <a:pt x="3066904" y="0"/>
                </a:lnTo>
                <a:lnTo>
                  <a:pt x="3066904" y="1717466"/>
                </a:lnTo>
                <a:lnTo>
                  <a:pt x="0" y="17174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1" id="31"/>
          <p:cNvGrpSpPr/>
          <p:nvPr/>
        </p:nvGrpSpPr>
        <p:grpSpPr>
          <a:xfrm rot="0">
            <a:off x="5176908" y="8569537"/>
            <a:ext cx="2098374" cy="1160145"/>
            <a:chOff x="0" y="0"/>
            <a:chExt cx="2977004" cy="1645920"/>
          </a:xfrm>
        </p:grpSpPr>
        <p:sp>
          <p:nvSpPr>
            <p:cNvPr name="Freeform 32" id="32"/>
            <p:cNvSpPr/>
            <p:nvPr/>
          </p:nvSpPr>
          <p:spPr>
            <a:xfrm flipH="false" flipV="false" rot="0">
              <a:off x="0" y="0"/>
              <a:ext cx="2977004" cy="1645920"/>
            </a:xfrm>
            <a:custGeom>
              <a:avLst/>
              <a:gdLst/>
              <a:ahLst/>
              <a:cxnLst/>
              <a:rect r="r" b="b" t="t" l="l"/>
              <a:pathLst>
                <a:path h="1645920" w="2977004">
                  <a:moveTo>
                    <a:pt x="0" y="0"/>
                  </a:moveTo>
                  <a:lnTo>
                    <a:pt x="2977004" y="0"/>
                  </a:lnTo>
                  <a:lnTo>
                    <a:pt x="2977004" y="1645920"/>
                  </a:lnTo>
                  <a:lnTo>
                    <a:pt x="0" y="1645920"/>
                  </a:lnTo>
                  <a:close/>
                </a:path>
              </a:pathLst>
            </a:custGeom>
            <a:blipFill>
              <a:blip r:embed="rId4">
                <a:alphaModFix amt="0"/>
              </a:blip>
              <a:stretch>
                <a:fillRect l="0" t="-211965" r="-643313" b="-211965"/>
              </a:stretch>
            </a:blipFill>
          </p:spPr>
        </p:sp>
        <p:sp>
          <p:nvSpPr>
            <p:cNvPr name="TextBox 33" id="33"/>
            <p:cNvSpPr txBox="true"/>
            <p:nvPr/>
          </p:nvSpPr>
          <p:spPr>
            <a:xfrm>
              <a:off x="0" y="0"/>
              <a:ext cx="2977004" cy="1645920"/>
            </a:xfrm>
            <a:prstGeom prst="rect">
              <a:avLst/>
            </a:prstGeom>
          </p:spPr>
          <p:txBody>
            <a:bodyPr anchor="ctr" rtlCol="false" tIns="0" lIns="0" bIns="0" rIns="0"/>
            <a:lstStyle/>
            <a:p>
              <a:pPr algn="l">
                <a:lnSpc>
                  <a:spcPts val="5879"/>
                </a:lnSpc>
              </a:pPr>
              <a:r>
                <a:rPr lang="en-US" sz="4899" b="true">
                  <a:solidFill>
                    <a:srgbClr val="4F2F1E"/>
                  </a:solidFill>
                  <a:latin typeface="HK Grotesk Bold"/>
                  <a:ea typeface="HK Grotesk Bold"/>
                  <a:cs typeface="HK Grotesk Bold"/>
                  <a:sym typeface="HK Grotesk Bold"/>
                </a:rPr>
                <a:t>VIDEO</a:t>
              </a:r>
            </a:p>
          </p:txBody>
        </p:sp>
      </p:grpSp>
      <p:sp>
        <p:nvSpPr>
          <p:cNvPr name="Freeform 34" id="34"/>
          <p:cNvSpPr/>
          <p:nvPr/>
        </p:nvSpPr>
        <p:spPr>
          <a:xfrm flipH="true" flipV="false" rot="0">
            <a:off x="15777132" y="6454964"/>
            <a:ext cx="1949361" cy="2096087"/>
          </a:xfrm>
          <a:custGeom>
            <a:avLst/>
            <a:gdLst/>
            <a:ahLst/>
            <a:cxnLst/>
            <a:rect r="r" b="b" t="t" l="l"/>
            <a:pathLst>
              <a:path h="2096087" w="1949361">
                <a:moveTo>
                  <a:pt x="1949361" y="0"/>
                </a:moveTo>
                <a:lnTo>
                  <a:pt x="0" y="0"/>
                </a:lnTo>
                <a:lnTo>
                  <a:pt x="0" y="2096087"/>
                </a:lnTo>
                <a:lnTo>
                  <a:pt x="1949361" y="2096087"/>
                </a:lnTo>
                <a:lnTo>
                  <a:pt x="1949361"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5" id="35"/>
          <p:cNvSpPr txBox="true"/>
          <p:nvPr/>
        </p:nvSpPr>
        <p:spPr>
          <a:xfrm rot="0">
            <a:off x="1220071" y="6574320"/>
            <a:ext cx="3223260" cy="742950"/>
          </a:xfrm>
          <a:prstGeom prst="rect">
            <a:avLst/>
          </a:prstGeom>
        </p:spPr>
        <p:txBody>
          <a:bodyPr anchor="t" rtlCol="false" tIns="0" lIns="0" bIns="0" rIns="0">
            <a:spAutoFit/>
          </a:bodyPr>
          <a:lstStyle/>
          <a:p>
            <a:pPr algn="ctr">
              <a:lnSpc>
                <a:spcPts val="2999"/>
              </a:lnSpc>
            </a:pPr>
            <a:r>
              <a:rPr lang="en-US" sz="2499" b="true">
                <a:solidFill>
                  <a:srgbClr val="4F2F1E"/>
                </a:solidFill>
                <a:latin typeface="HK Grotesk Bold"/>
                <a:ea typeface="HK Grotesk Bold"/>
                <a:cs typeface="HK Grotesk Bold"/>
                <a:sym typeface="HK Grotesk Bold"/>
              </a:rPr>
              <a:t>Alta unificada de un elemento</a:t>
            </a:r>
          </a:p>
        </p:txBody>
      </p:sp>
      <p:sp>
        <p:nvSpPr>
          <p:cNvPr name="Freeform 36" id="36"/>
          <p:cNvSpPr/>
          <p:nvPr/>
        </p:nvSpPr>
        <p:spPr>
          <a:xfrm flipH="false" flipV="true" rot="0">
            <a:off x="431390" y="5623049"/>
            <a:ext cx="1949361" cy="2096087"/>
          </a:xfrm>
          <a:custGeom>
            <a:avLst/>
            <a:gdLst/>
            <a:ahLst/>
            <a:cxnLst/>
            <a:rect r="r" b="b" t="t" l="l"/>
            <a:pathLst>
              <a:path h="2096087" w="1949361">
                <a:moveTo>
                  <a:pt x="0" y="2096087"/>
                </a:moveTo>
                <a:lnTo>
                  <a:pt x="1949361" y="2096087"/>
                </a:lnTo>
                <a:lnTo>
                  <a:pt x="1949361" y="0"/>
                </a:lnTo>
                <a:lnTo>
                  <a:pt x="0" y="0"/>
                </a:lnTo>
                <a:lnTo>
                  <a:pt x="0" y="2096087"/>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7" id="37"/>
          <p:cNvSpPr txBox="true"/>
          <p:nvPr/>
        </p:nvSpPr>
        <p:spPr>
          <a:xfrm rot="0">
            <a:off x="3003894" y="1624862"/>
            <a:ext cx="14415426" cy="1000125"/>
          </a:xfrm>
          <a:prstGeom prst="rect">
            <a:avLst/>
          </a:prstGeom>
        </p:spPr>
        <p:txBody>
          <a:bodyPr anchor="t" rtlCol="false" tIns="0" lIns="0" bIns="0" rIns="0">
            <a:spAutoFit/>
          </a:bodyPr>
          <a:lstStyle/>
          <a:p>
            <a:pPr algn="l">
              <a:lnSpc>
                <a:spcPts val="3959"/>
              </a:lnSpc>
            </a:pPr>
            <a:r>
              <a:rPr lang="en-US" sz="3299">
                <a:solidFill>
                  <a:srgbClr val="4F2F1E"/>
                </a:solidFill>
                <a:latin typeface="HK Grotesk"/>
                <a:ea typeface="HK Grotesk"/>
                <a:cs typeface="HK Grotesk"/>
                <a:sym typeface="HK Grotesk"/>
              </a:rPr>
              <a:t>Recorrido por el flujo principal del sistema, desde el alta de un elemento hasta el dashboard.</a:t>
            </a:r>
          </a:p>
        </p:txBody>
      </p:sp>
      <p:sp>
        <p:nvSpPr>
          <p:cNvPr name="TextBox 38" id="38"/>
          <p:cNvSpPr txBox="true"/>
          <p:nvPr/>
        </p:nvSpPr>
        <p:spPr>
          <a:xfrm rot="0">
            <a:off x="7960869" y="8672908"/>
            <a:ext cx="7756822" cy="981075"/>
          </a:xfrm>
          <a:prstGeom prst="rect">
            <a:avLst/>
          </a:prstGeom>
        </p:spPr>
        <p:txBody>
          <a:bodyPr anchor="t" rtlCol="false" tIns="0" lIns="0" bIns="0" rIns="0">
            <a:spAutoFit/>
          </a:bodyPr>
          <a:lstStyle/>
          <a:p>
            <a:pPr algn="r">
              <a:lnSpc>
                <a:spcPts val="3839"/>
              </a:lnSpc>
            </a:pPr>
            <a:r>
              <a:rPr lang="en-US" b="true" sz="3199">
                <a:solidFill>
                  <a:srgbClr val="4F2F1E"/>
                </a:solidFill>
                <a:latin typeface="HK Grotesk Bold"/>
                <a:ea typeface="HK Grotesk Bold"/>
                <a:cs typeface="HK Grotesk Bold"/>
                <a:sym typeface="HK Grotesk Bold"/>
              </a:rPr>
              <a:t>Duración: 5 Miinutos aprox</a:t>
            </a:r>
          </a:p>
          <a:p>
            <a:pPr algn="r">
              <a:lnSpc>
                <a:spcPts val="3839"/>
              </a:lnSpc>
            </a:pPr>
          </a:p>
        </p:txBody>
      </p:sp>
      <p:sp>
        <p:nvSpPr>
          <p:cNvPr name="TextBox 39" id="39"/>
          <p:cNvSpPr txBox="true"/>
          <p:nvPr/>
        </p:nvSpPr>
        <p:spPr>
          <a:xfrm rot="0">
            <a:off x="5334419" y="6574320"/>
            <a:ext cx="3223260" cy="742950"/>
          </a:xfrm>
          <a:prstGeom prst="rect">
            <a:avLst/>
          </a:prstGeom>
        </p:spPr>
        <p:txBody>
          <a:bodyPr anchor="t" rtlCol="false" tIns="0" lIns="0" bIns="0" rIns="0">
            <a:spAutoFit/>
          </a:bodyPr>
          <a:lstStyle/>
          <a:p>
            <a:pPr algn="ctr">
              <a:lnSpc>
                <a:spcPts val="2999"/>
              </a:lnSpc>
            </a:pPr>
            <a:r>
              <a:rPr lang="en-US" sz="2499" b="true">
                <a:solidFill>
                  <a:srgbClr val="4F2F1E"/>
                </a:solidFill>
                <a:latin typeface="HK Grotesk Bold"/>
                <a:ea typeface="HK Grotesk Bold"/>
                <a:cs typeface="HK Grotesk Bold"/>
                <a:sym typeface="HK Grotesk Bold"/>
              </a:rPr>
              <a:t>Solicitud del docente en el portal</a:t>
            </a:r>
          </a:p>
        </p:txBody>
      </p:sp>
      <p:sp>
        <p:nvSpPr>
          <p:cNvPr name="TextBox 40" id="40"/>
          <p:cNvSpPr txBox="true"/>
          <p:nvPr/>
        </p:nvSpPr>
        <p:spPr>
          <a:xfrm rot="0">
            <a:off x="9522185" y="6760058"/>
            <a:ext cx="3416263" cy="742950"/>
          </a:xfrm>
          <a:prstGeom prst="rect">
            <a:avLst/>
          </a:prstGeom>
        </p:spPr>
        <p:txBody>
          <a:bodyPr anchor="t" rtlCol="false" tIns="0" lIns="0" bIns="0" rIns="0">
            <a:spAutoFit/>
          </a:bodyPr>
          <a:lstStyle/>
          <a:p>
            <a:pPr algn="ctr">
              <a:lnSpc>
                <a:spcPts val="2999"/>
              </a:lnSpc>
            </a:pPr>
            <a:r>
              <a:rPr lang="en-US" sz="2499" b="true">
                <a:solidFill>
                  <a:srgbClr val="4F2F1E"/>
                </a:solidFill>
                <a:latin typeface="HK Grotesk Bold"/>
                <a:ea typeface="HK Grotesk Bold"/>
                <a:cs typeface="HK Grotesk Bold"/>
                <a:sym typeface="HK Grotesk Bold"/>
              </a:rPr>
              <a:t>Entrega parcial y devolución</a:t>
            </a:r>
          </a:p>
        </p:txBody>
      </p:sp>
      <p:sp>
        <p:nvSpPr>
          <p:cNvPr name="TextBox 41" id="41"/>
          <p:cNvSpPr txBox="true"/>
          <p:nvPr/>
        </p:nvSpPr>
        <p:spPr>
          <a:xfrm rot="0">
            <a:off x="13709251" y="6760058"/>
            <a:ext cx="3416263" cy="371475"/>
          </a:xfrm>
          <a:prstGeom prst="rect">
            <a:avLst/>
          </a:prstGeom>
        </p:spPr>
        <p:txBody>
          <a:bodyPr anchor="t" rtlCol="false" tIns="0" lIns="0" bIns="0" rIns="0">
            <a:spAutoFit/>
          </a:bodyPr>
          <a:lstStyle/>
          <a:p>
            <a:pPr algn="ctr">
              <a:lnSpc>
                <a:spcPts val="2999"/>
              </a:lnSpc>
            </a:pPr>
            <a:r>
              <a:rPr lang="en-US" sz="2499" b="true">
                <a:solidFill>
                  <a:srgbClr val="4F2F1E"/>
                </a:solidFill>
                <a:latin typeface="HK Grotesk Bold"/>
                <a:ea typeface="HK Grotesk Bold"/>
                <a:cs typeface="HK Grotesk Bold"/>
                <a:sym typeface="HK Grotesk Bold"/>
              </a:rPr>
              <a:t>Dashboard e historial</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grpSp>
        <p:nvGrpSpPr>
          <p:cNvPr name="Group 2" id="2"/>
          <p:cNvGrpSpPr/>
          <p:nvPr/>
        </p:nvGrpSpPr>
        <p:grpSpPr>
          <a:xfrm rot="0">
            <a:off x="822960" y="9628632"/>
            <a:ext cx="1988820" cy="329184"/>
            <a:chOff x="0" y="0"/>
            <a:chExt cx="2651760" cy="438912"/>
          </a:xfrm>
        </p:grpSpPr>
        <p:sp>
          <p:nvSpPr>
            <p:cNvPr name="Freeform 3" id="3" descr="logo.png"/>
            <p:cNvSpPr/>
            <p:nvPr/>
          </p:nvSpPr>
          <p:spPr>
            <a:xfrm flipH="false" flipV="false" rot="0">
              <a:off x="0" y="0"/>
              <a:ext cx="2651760" cy="438912"/>
            </a:xfrm>
            <a:custGeom>
              <a:avLst/>
              <a:gdLst/>
              <a:ahLst/>
              <a:cxnLst/>
              <a:rect r="r" b="b" t="t" l="l"/>
              <a:pathLst>
                <a:path h="438912" w="2651760">
                  <a:moveTo>
                    <a:pt x="0" y="0"/>
                  </a:moveTo>
                  <a:lnTo>
                    <a:pt x="2651760" y="0"/>
                  </a:lnTo>
                  <a:lnTo>
                    <a:pt x="2651760" y="438912"/>
                  </a:lnTo>
                  <a:lnTo>
                    <a:pt x="0" y="438912"/>
                  </a:lnTo>
                  <a:lnTo>
                    <a:pt x="0" y="0"/>
                  </a:lnTo>
                  <a:close/>
                </a:path>
              </a:pathLst>
            </a:custGeom>
            <a:blipFill>
              <a:blip r:embed="rId3"/>
              <a:stretch>
                <a:fillRect l="-11" t="0" r="-11" b="0"/>
              </a:stretch>
            </a:blipFill>
          </p:spPr>
        </p:sp>
      </p:grpSp>
      <p:grpSp>
        <p:nvGrpSpPr>
          <p:cNvPr name="Group 4" id="4"/>
          <p:cNvGrpSpPr/>
          <p:nvPr/>
        </p:nvGrpSpPr>
        <p:grpSpPr>
          <a:xfrm rot="0">
            <a:off x="3003894" y="356264"/>
            <a:ext cx="6444402" cy="1234440"/>
            <a:chOff x="0" y="0"/>
            <a:chExt cx="8592536" cy="1645920"/>
          </a:xfrm>
        </p:grpSpPr>
        <p:sp>
          <p:nvSpPr>
            <p:cNvPr name="Freeform 5" id="5"/>
            <p:cNvSpPr/>
            <p:nvPr/>
          </p:nvSpPr>
          <p:spPr>
            <a:xfrm flipH="false" flipV="false" rot="0">
              <a:off x="0" y="0"/>
              <a:ext cx="8592536" cy="1645920"/>
            </a:xfrm>
            <a:custGeom>
              <a:avLst/>
              <a:gdLst/>
              <a:ahLst/>
              <a:cxnLst/>
              <a:rect r="r" b="b" t="t" l="l"/>
              <a:pathLst>
                <a:path h="1645920" w="8592536">
                  <a:moveTo>
                    <a:pt x="0" y="0"/>
                  </a:moveTo>
                  <a:lnTo>
                    <a:pt x="8592536" y="0"/>
                  </a:lnTo>
                  <a:lnTo>
                    <a:pt x="8592536" y="1645920"/>
                  </a:lnTo>
                  <a:lnTo>
                    <a:pt x="0" y="1645920"/>
                  </a:lnTo>
                  <a:close/>
                </a:path>
              </a:pathLst>
            </a:custGeom>
            <a:blipFill>
              <a:blip r:embed="rId4">
                <a:alphaModFix amt="0"/>
              </a:blip>
              <a:stretch>
                <a:fillRect l="0" t="-211965" r="-157531" b="-211965"/>
              </a:stretch>
            </a:blipFill>
          </p:spPr>
        </p:sp>
        <p:sp>
          <p:nvSpPr>
            <p:cNvPr name="TextBox 6" id="6"/>
            <p:cNvSpPr txBox="true"/>
            <p:nvPr/>
          </p:nvSpPr>
          <p:spPr>
            <a:xfrm>
              <a:off x="0" y="0"/>
              <a:ext cx="8592536" cy="1645920"/>
            </a:xfrm>
            <a:prstGeom prst="rect">
              <a:avLst/>
            </a:prstGeom>
          </p:spPr>
          <p:txBody>
            <a:bodyPr anchor="ctr" rtlCol="false" tIns="0" lIns="0" bIns="0" rIns="0"/>
            <a:lstStyle/>
            <a:p>
              <a:pPr algn="l">
                <a:lnSpc>
                  <a:spcPts val="6599"/>
                </a:lnSpc>
              </a:pPr>
              <a:r>
                <a:rPr lang="en-US" b="true" sz="5499">
                  <a:solidFill>
                    <a:srgbClr val="4F2F1E"/>
                  </a:solidFill>
                  <a:latin typeface="HK Grotesk Bold"/>
                  <a:ea typeface="HK Grotesk Bold"/>
                  <a:cs typeface="HK Grotesk Bold"/>
                  <a:sym typeface="HK Grotesk Bold"/>
                </a:rPr>
                <a:t>Demo del sistema</a:t>
              </a:r>
            </a:p>
          </p:txBody>
        </p:sp>
      </p:grpSp>
      <p:sp>
        <p:nvSpPr>
          <p:cNvPr name="Freeform 7" id="7"/>
          <p:cNvSpPr/>
          <p:nvPr/>
        </p:nvSpPr>
        <p:spPr>
          <a:xfrm flipH="false" flipV="false" rot="0">
            <a:off x="510989" y="593811"/>
            <a:ext cx="2266501" cy="2312756"/>
          </a:xfrm>
          <a:custGeom>
            <a:avLst/>
            <a:gdLst/>
            <a:ahLst/>
            <a:cxnLst/>
            <a:rect r="r" b="b" t="t" l="l"/>
            <a:pathLst>
              <a:path h="2312756" w="2266501">
                <a:moveTo>
                  <a:pt x="0" y="0"/>
                </a:moveTo>
                <a:lnTo>
                  <a:pt x="2266501" y="0"/>
                </a:lnTo>
                <a:lnTo>
                  <a:pt x="2266501" y="2312756"/>
                </a:lnTo>
                <a:lnTo>
                  <a:pt x="0" y="23127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8" id="8">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0" t="4778" r="0" b="0"/>
          <a:stretch>
            <a:fillRect/>
          </a:stretch>
        </p:blipFill>
        <p:spPr>
          <a:xfrm flipH="false" flipV="false" rot="0">
            <a:off x="3003894" y="1590704"/>
            <a:ext cx="14573250" cy="7836363"/>
          </a:xfrm>
          <a:prstGeom prst="rect">
            <a:avLst/>
          </a:prstGeom>
        </p:spPr>
      </p:pic>
    </p:spTree>
  </p:cSld>
  <p:clrMapOvr>
    <a:masterClrMapping/>
  </p:clrMapOvr>
  <p:transition spd="fast">
    <p:fade/>
  </p:transition>
  <p:timing>
    <p:tnLst>
      <p:par>
        <p:cTn dur="indefinite" restart="never" nodeType="tmRoot">
          <p:childTnLst>
            <p:video>
              <p:cMediaNode vol="100000">
                <p:cTn fill="hold" display="false">
                  <p:stCondLst>
                    <p:cond delay="indefinite"/>
                  </p:stCondLst>
                </p:cTn>
                <p:tgtEl>
                  <p:spTgt spid="8"/>
                </p:tgtEl>
              </p:cMediaNode>
            </p:video>
          </p:childTnLst>
        </p:cTn>
      </p:par>
    </p:tnLst>
  </p:timing>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sp>
        <p:nvSpPr>
          <p:cNvPr name="Freeform 2" id="2"/>
          <p:cNvSpPr/>
          <p:nvPr/>
        </p:nvSpPr>
        <p:spPr>
          <a:xfrm flipH="false" flipV="false" rot="0">
            <a:off x="0" y="-513427"/>
            <a:ext cx="18288000" cy="11620566"/>
          </a:xfrm>
          <a:custGeom>
            <a:avLst/>
            <a:gdLst/>
            <a:ahLst/>
            <a:cxnLst/>
            <a:rect r="r" b="b" t="t" l="l"/>
            <a:pathLst>
              <a:path h="11620566" w="18288000">
                <a:moveTo>
                  <a:pt x="0" y="0"/>
                </a:moveTo>
                <a:lnTo>
                  <a:pt x="18288000" y="0"/>
                </a:lnTo>
                <a:lnTo>
                  <a:pt x="18288000" y="11620566"/>
                </a:lnTo>
                <a:lnTo>
                  <a:pt x="0" y="11620566"/>
                </a:lnTo>
                <a:lnTo>
                  <a:pt x="0" y="0"/>
                </a:lnTo>
                <a:close/>
              </a:path>
            </a:pathLst>
          </a:custGeom>
          <a:blipFill>
            <a:blip r:embed="rId3"/>
            <a:stretch>
              <a:fillRect l="0" t="-3507" r="0" b="-3507"/>
            </a:stretch>
          </a:blipFill>
        </p:spPr>
      </p:sp>
      <p:grpSp>
        <p:nvGrpSpPr>
          <p:cNvPr name="Group 3" id="3"/>
          <p:cNvGrpSpPr/>
          <p:nvPr/>
        </p:nvGrpSpPr>
        <p:grpSpPr>
          <a:xfrm rot="0">
            <a:off x="2952750" y="1714500"/>
            <a:ext cx="12382500" cy="1238250"/>
            <a:chOff x="0" y="0"/>
            <a:chExt cx="16510000" cy="1651000"/>
          </a:xfrm>
        </p:grpSpPr>
        <p:sp>
          <p:nvSpPr>
            <p:cNvPr name="Freeform 4" id="4"/>
            <p:cNvSpPr/>
            <p:nvPr/>
          </p:nvSpPr>
          <p:spPr>
            <a:xfrm flipH="false" flipV="false" rot="0">
              <a:off x="0" y="0"/>
              <a:ext cx="16510000" cy="1651000"/>
            </a:xfrm>
            <a:custGeom>
              <a:avLst/>
              <a:gdLst/>
              <a:ahLst/>
              <a:cxnLst/>
              <a:rect r="r" b="b" t="t" l="l"/>
              <a:pathLst>
                <a:path h="1651000" w="16510000">
                  <a:moveTo>
                    <a:pt x="0" y="0"/>
                  </a:moveTo>
                  <a:lnTo>
                    <a:pt x="16510000" y="0"/>
                  </a:lnTo>
                  <a:lnTo>
                    <a:pt x="16510000" y="1651000"/>
                  </a:lnTo>
                  <a:lnTo>
                    <a:pt x="0" y="1651000"/>
                  </a:lnTo>
                  <a:close/>
                </a:path>
              </a:pathLst>
            </a:custGeom>
            <a:blipFill>
              <a:blip r:embed="rId4">
                <a:alphaModFix amt="0"/>
              </a:blip>
              <a:stretch>
                <a:fillRect l="0" t="-211313" r="-34030" b="-211005"/>
              </a:stretch>
            </a:blipFill>
          </p:spPr>
        </p:sp>
        <p:sp>
          <p:nvSpPr>
            <p:cNvPr name="TextBox 5" id="5"/>
            <p:cNvSpPr txBox="true"/>
            <p:nvPr/>
          </p:nvSpPr>
          <p:spPr>
            <a:xfrm>
              <a:off x="0" y="-9525"/>
              <a:ext cx="16510000" cy="1660525"/>
            </a:xfrm>
            <a:prstGeom prst="rect">
              <a:avLst/>
            </a:prstGeom>
          </p:spPr>
          <p:txBody>
            <a:bodyPr anchor="ctr" rtlCol="false" tIns="0" lIns="0" bIns="0" rIns="0"/>
            <a:lstStyle/>
            <a:p>
              <a:pPr algn="ctr" marL="0" indent="0" lvl="0">
                <a:lnSpc>
                  <a:spcPts val="7200"/>
                </a:lnSpc>
                <a:spcBef>
                  <a:spcPct val="0"/>
                </a:spcBef>
              </a:pPr>
              <a:r>
                <a:rPr lang="en-US" b="true" sz="6000" strike="noStrike" u="none">
                  <a:solidFill>
                    <a:srgbClr val="4F2F1E"/>
                  </a:solidFill>
                  <a:latin typeface="HK Grotesk Bold"/>
                  <a:ea typeface="HK Grotesk Bold"/>
                  <a:cs typeface="HK Grotesk Bold"/>
                  <a:sym typeface="HK Grotesk Bold"/>
                </a:rPr>
                <a:t>Reflexión y conclusión</a:t>
              </a:r>
            </a:p>
          </p:txBody>
        </p:sp>
      </p:grpSp>
      <p:grpSp>
        <p:nvGrpSpPr>
          <p:cNvPr name="Group 6" id="6"/>
          <p:cNvGrpSpPr/>
          <p:nvPr/>
        </p:nvGrpSpPr>
        <p:grpSpPr>
          <a:xfrm rot="0">
            <a:off x="4289360" y="6913718"/>
            <a:ext cx="1896437" cy="1896437"/>
            <a:chOff x="0" y="0"/>
            <a:chExt cx="1305560" cy="1305560"/>
          </a:xfrm>
        </p:grpSpPr>
        <p:sp>
          <p:nvSpPr>
            <p:cNvPr name="Freeform 7" id="7"/>
            <p:cNvSpPr/>
            <p:nvPr/>
          </p:nvSpPr>
          <p:spPr>
            <a:xfrm flipH="false" flipV="false" rot="0">
              <a:off x="0" y="0"/>
              <a:ext cx="1305560" cy="1305560"/>
            </a:xfrm>
            <a:custGeom>
              <a:avLst/>
              <a:gdLst/>
              <a:ahLst/>
              <a:cxnLst/>
              <a:rect r="r" b="b" t="t" l="l"/>
              <a:pathLst>
                <a:path h="1305560" w="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F9DD92"/>
            </a:solidFill>
            <a:ln w="19050" cap="sq">
              <a:solidFill>
                <a:srgbClr val="FFFFFF"/>
              </a:solidFill>
              <a:prstDash val="solid"/>
              <a:miter/>
            </a:ln>
          </p:spPr>
        </p:sp>
      </p:grpSp>
      <p:grpSp>
        <p:nvGrpSpPr>
          <p:cNvPr name="Group 8" id="8"/>
          <p:cNvGrpSpPr/>
          <p:nvPr/>
        </p:nvGrpSpPr>
        <p:grpSpPr>
          <a:xfrm rot="0">
            <a:off x="4791289" y="7415647"/>
            <a:ext cx="892580" cy="892580"/>
            <a:chOff x="0" y="0"/>
            <a:chExt cx="614477" cy="614477"/>
          </a:xfrm>
        </p:grpSpPr>
        <p:sp>
          <p:nvSpPr>
            <p:cNvPr name="Freeform 9" id="9" descr="Icono Queda por cerrar"/>
            <p:cNvSpPr/>
            <p:nvPr/>
          </p:nvSpPr>
          <p:spPr>
            <a:xfrm flipH="false" flipV="false" rot="0">
              <a:off x="0" y="0"/>
              <a:ext cx="614426" cy="614426"/>
            </a:xfrm>
            <a:custGeom>
              <a:avLst/>
              <a:gdLst/>
              <a:ahLst/>
              <a:cxnLst/>
              <a:rect r="r" b="b" t="t" l="l"/>
              <a:pathLst>
                <a:path h="614426" w="614426">
                  <a:moveTo>
                    <a:pt x="0" y="0"/>
                  </a:moveTo>
                  <a:lnTo>
                    <a:pt x="614426" y="0"/>
                  </a:lnTo>
                  <a:lnTo>
                    <a:pt x="614426" y="614426"/>
                  </a:lnTo>
                  <a:lnTo>
                    <a:pt x="0" y="614426"/>
                  </a:lnTo>
                  <a:lnTo>
                    <a:pt x="0" y="0"/>
                  </a:lnTo>
                  <a:close/>
                </a:path>
              </a:pathLst>
            </a:custGeom>
            <a:blipFill>
              <a:blip r:embed="rId5"/>
              <a:stretch>
                <a:fillRect l="0" t="0" r="-8" b="-8"/>
              </a:stretch>
            </a:blipFill>
          </p:spPr>
        </p:sp>
      </p:grpSp>
      <p:grpSp>
        <p:nvGrpSpPr>
          <p:cNvPr name="Group 10" id="10"/>
          <p:cNvGrpSpPr/>
          <p:nvPr/>
        </p:nvGrpSpPr>
        <p:grpSpPr>
          <a:xfrm rot="0">
            <a:off x="6698647" y="6932166"/>
            <a:ext cx="6906868" cy="1859541"/>
            <a:chOff x="0" y="0"/>
            <a:chExt cx="4754880" cy="1280160"/>
          </a:xfrm>
        </p:grpSpPr>
        <p:sp>
          <p:nvSpPr>
            <p:cNvPr name="Freeform 11" id="11"/>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4">
                <a:alphaModFix amt="0"/>
              </a:blip>
              <a:stretch>
                <a:fillRect l="0" t="-22372" r="0" b="-22372"/>
              </a:stretch>
            </a:blipFill>
          </p:spPr>
        </p:sp>
        <p:sp>
          <p:nvSpPr>
            <p:cNvPr name="TextBox 12" id="12"/>
            <p:cNvSpPr txBox="true"/>
            <p:nvPr/>
          </p:nvSpPr>
          <p:spPr>
            <a:xfrm>
              <a:off x="0" y="0"/>
              <a:ext cx="4754880" cy="1280160"/>
            </a:xfrm>
            <a:prstGeom prst="rect">
              <a:avLst/>
            </a:prstGeom>
          </p:spPr>
          <p:txBody>
            <a:bodyPr anchor="ctr" rtlCol="false" tIns="0" lIns="0" bIns="0" rIns="0"/>
            <a:lstStyle/>
            <a:p>
              <a:pPr algn="l">
                <a:lnSpc>
                  <a:spcPts val="3240"/>
                </a:lnSpc>
              </a:pPr>
              <a:r>
                <a:rPr lang="en-US" sz="2700" b="true">
                  <a:solidFill>
                    <a:srgbClr val="4F2F1E"/>
                  </a:solidFill>
                  <a:latin typeface="HK Grotesk Bold"/>
                  <a:ea typeface="HK Grotesk Bold"/>
                  <a:cs typeface="HK Grotesk Bold"/>
                  <a:sym typeface="HK Grotesk Bold"/>
                </a:rPr>
                <a:t>Queda por cerrar: </a:t>
              </a:r>
              <a:r>
                <a:rPr lang="en-US" sz="2700">
                  <a:solidFill>
                    <a:srgbClr val="4F2F1E"/>
                  </a:solidFill>
                  <a:latin typeface="HK Grotesk"/>
                  <a:ea typeface="HK Grotesk"/>
                  <a:cs typeface="HK Grotesk"/>
                  <a:sym typeface="HK Grotesk"/>
                </a:rPr>
                <a:t>Seguridad previa a producción, UAT y quién mantiene el sistema.</a:t>
              </a:r>
            </a:p>
          </p:txBody>
        </p:sp>
      </p:grpSp>
      <p:sp>
        <p:nvSpPr>
          <p:cNvPr name="TextBox 13" id="13"/>
          <p:cNvSpPr txBox="true"/>
          <p:nvPr/>
        </p:nvSpPr>
        <p:spPr>
          <a:xfrm rot="0">
            <a:off x="4548619" y="3336133"/>
            <a:ext cx="9056895" cy="1638300"/>
          </a:xfrm>
          <a:prstGeom prst="rect">
            <a:avLst/>
          </a:prstGeom>
        </p:spPr>
        <p:txBody>
          <a:bodyPr anchor="t" rtlCol="false" tIns="0" lIns="0" bIns="0" rIns="0">
            <a:spAutoFit/>
          </a:bodyPr>
          <a:lstStyle/>
          <a:p>
            <a:pPr algn="ctr" marL="0" indent="0" lvl="0">
              <a:lnSpc>
                <a:spcPts val="4320"/>
              </a:lnSpc>
              <a:spcBef>
                <a:spcPct val="0"/>
              </a:spcBef>
            </a:pPr>
            <a:r>
              <a:rPr lang="en-US" sz="3600">
                <a:solidFill>
                  <a:srgbClr val="4F2F1E"/>
                </a:solidFill>
                <a:latin typeface="HK Grotesk"/>
                <a:ea typeface="HK Grotesk"/>
                <a:cs typeface="HK Grotesk"/>
                <a:sym typeface="HK Grotesk"/>
              </a:rPr>
              <a:t>U</a:t>
            </a:r>
            <a:r>
              <a:rPr lang="en-US" sz="3600" strike="noStrike" u="none">
                <a:solidFill>
                  <a:srgbClr val="4F2F1E"/>
                </a:solidFill>
                <a:latin typeface="HK Grotesk"/>
                <a:ea typeface="HK Grotesk"/>
                <a:cs typeface="HK Grotesk"/>
                <a:sym typeface="HK Grotesk"/>
              </a:rPr>
              <a:t>n </a:t>
            </a:r>
            <a:r>
              <a:rPr lang="en-US" sz="3600" strike="noStrike" u="none">
                <a:solidFill>
                  <a:srgbClr val="4F2F1E"/>
                </a:solidFill>
                <a:latin typeface="HK Grotesk"/>
                <a:ea typeface="HK Grotesk"/>
                <a:cs typeface="HK Grotesk"/>
                <a:sym typeface="HK Grotesk"/>
              </a:rPr>
              <a:t>s</a:t>
            </a:r>
            <a:r>
              <a:rPr lang="en-US" sz="3600" strike="noStrike" u="none">
                <a:solidFill>
                  <a:srgbClr val="4F2F1E"/>
                </a:solidFill>
                <a:latin typeface="HK Grotesk"/>
                <a:ea typeface="HK Grotesk"/>
                <a:cs typeface="HK Grotesk"/>
                <a:sym typeface="HK Grotesk"/>
              </a:rPr>
              <a:t>i</a:t>
            </a:r>
            <a:r>
              <a:rPr lang="en-US" sz="3600" strike="noStrike" u="none">
                <a:solidFill>
                  <a:srgbClr val="4F2F1E"/>
                </a:solidFill>
                <a:latin typeface="HK Grotesk"/>
                <a:ea typeface="HK Grotesk"/>
                <a:cs typeface="HK Grotesk"/>
                <a:sym typeface="HK Grotesk"/>
              </a:rPr>
              <a:t>s</a:t>
            </a:r>
            <a:r>
              <a:rPr lang="en-US" sz="3600" strike="noStrike" u="none">
                <a:solidFill>
                  <a:srgbClr val="4F2F1E"/>
                </a:solidFill>
                <a:latin typeface="HK Grotesk"/>
                <a:ea typeface="HK Grotesk"/>
                <a:cs typeface="HK Grotesk"/>
                <a:sym typeface="HK Grotesk"/>
              </a:rPr>
              <a:t>tema </a:t>
            </a:r>
            <a:r>
              <a:rPr lang="en-US" sz="3600" strike="noStrike" u="none">
                <a:solidFill>
                  <a:srgbClr val="4F2F1E"/>
                </a:solidFill>
                <a:latin typeface="HK Grotesk"/>
                <a:ea typeface="HK Grotesk"/>
                <a:cs typeface="HK Grotesk"/>
                <a:sym typeface="HK Grotesk"/>
              </a:rPr>
              <a:t>qu</a:t>
            </a:r>
            <a:r>
              <a:rPr lang="en-US" sz="3600" strike="noStrike" u="none">
                <a:solidFill>
                  <a:srgbClr val="4F2F1E"/>
                </a:solidFill>
                <a:latin typeface="HK Grotesk"/>
                <a:ea typeface="HK Grotesk"/>
                <a:cs typeface="HK Grotesk"/>
                <a:sym typeface="HK Grotesk"/>
              </a:rPr>
              <a:t>e </a:t>
            </a:r>
            <a:r>
              <a:rPr lang="en-US" sz="3600" strike="noStrike" u="none">
                <a:solidFill>
                  <a:srgbClr val="4F2F1E"/>
                </a:solidFill>
                <a:latin typeface="HK Grotesk"/>
                <a:ea typeface="HK Grotesk"/>
                <a:cs typeface="HK Grotesk"/>
                <a:sym typeface="HK Grotesk"/>
              </a:rPr>
              <a:t>y</a:t>
            </a:r>
            <a:r>
              <a:rPr lang="en-US" sz="3600" strike="noStrike" u="none">
                <a:solidFill>
                  <a:srgbClr val="4F2F1E"/>
                </a:solidFill>
                <a:latin typeface="HK Grotesk"/>
                <a:ea typeface="HK Grotesk"/>
                <a:cs typeface="HK Grotesk"/>
                <a:sym typeface="HK Grotesk"/>
              </a:rPr>
              <a:t>a re</a:t>
            </a:r>
            <a:r>
              <a:rPr lang="en-US" sz="3600" strike="noStrike" u="none">
                <a:solidFill>
                  <a:srgbClr val="4F2F1E"/>
                </a:solidFill>
                <a:latin typeface="HK Grotesk"/>
                <a:ea typeface="HK Grotesk"/>
                <a:cs typeface="HK Grotesk"/>
                <a:sym typeface="HK Grotesk"/>
              </a:rPr>
              <a:t>em</a:t>
            </a:r>
            <a:r>
              <a:rPr lang="en-US" sz="3600" strike="noStrike" u="none">
                <a:solidFill>
                  <a:srgbClr val="4F2F1E"/>
                </a:solidFill>
                <a:latin typeface="HK Grotesk"/>
                <a:ea typeface="HK Grotesk"/>
                <a:cs typeface="HK Grotesk"/>
                <a:sym typeface="HK Grotesk"/>
              </a:rPr>
              <a:t>pla</a:t>
            </a:r>
            <a:r>
              <a:rPr lang="en-US" sz="3600" strike="noStrike" u="none">
                <a:solidFill>
                  <a:srgbClr val="4F2F1E"/>
                </a:solidFill>
                <a:latin typeface="HK Grotesk"/>
                <a:ea typeface="HK Grotesk"/>
                <a:cs typeface="HK Grotesk"/>
                <a:sym typeface="HK Grotesk"/>
              </a:rPr>
              <a:t>za</a:t>
            </a:r>
            <a:r>
              <a:rPr lang="en-US" sz="3600" strike="noStrike" u="none">
                <a:solidFill>
                  <a:srgbClr val="4F2F1E"/>
                </a:solidFill>
                <a:latin typeface="HK Grotesk"/>
                <a:ea typeface="HK Grotesk"/>
                <a:cs typeface="HK Grotesk"/>
                <a:sym typeface="HK Grotesk"/>
              </a:rPr>
              <a:t> el re</a:t>
            </a:r>
            <a:r>
              <a:rPr lang="en-US" sz="3600" strike="noStrike" u="none">
                <a:solidFill>
                  <a:srgbClr val="4F2F1E"/>
                </a:solidFill>
                <a:latin typeface="HK Grotesk"/>
                <a:ea typeface="HK Grotesk"/>
                <a:cs typeface="HK Grotesk"/>
                <a:sym typeface="HK Grotesk"/>
              </a:rPr>
              <a:t>gi</a:t>
            </a:r>
            <a:r>
              <a:rPr lang="en-US" sz="3600" strike="noStrike" u="none">
                <a:solidFill>
                  <a:srgbClr val="4F2F1E"/>
                </a:solidFill>
                <a:latin typeface="HK Grotesk"/>
                <a:ea typeface="HK Grotesk"/>
                <a:cs typeface="HK Grotesk"/>
                <a:sym typeface="HK Grotesk"/>
              </a:rPr>
              <a:t>s</a:t>
            </a:r>
            <a:r>
              <a:rPr lang="en-US" sz="3600" strike="noStrike" u="none">
                <a:solidFill>
                  <a:srgbClr val="4F2F1E"/>
                </a:solidFill>
                <a:latin typeface="HK Grotesk"/>
                <a:ea typeface="HK Grotesk"/>
                <a:cs typeface="HK Grotesk"/>
                <a:sym typeface="HK Grotesk"/>
              </a:rPr>
              <a:t>t</a:t>
            </a:r>
            <a:r>
              <a:rPr lang="en-US" sz="3600" strike="noStrike" u="none">
                <a:solidFill>
                  <a:srgbClr val="4F2F1E"/>
                </a:solidFill>
                <a:latin typeface="HK Grotesk"/>
                <a:ea typeface="HK Grotesk"/>
                <a:cs typeface="HK Grotesk"/>
                <a:sym typeface="HK Grotesk"/>
              </a:rPr>
              <a:t>ro </a:t>
            </a:r>
            <a:r>
              <a:rPr lang="en-US" sz="3600" strike="noStrike" u="none">
                <a:solidFill>
                  <a:srgbClr val="4F2F1E"/>
                </a:solidFill>
                <a:latin typeface="HK Grotesk"/>
                <a:ea typeface="HK Grotesk"/>
                <a:cs typeface="HK Grotesk"/>
                <a:sym typeface="HK Grotesk"/>
              </a:rPr>
              <a:t>m</a:t>
            </a:r>
            <a:r>
              <a:rPr lang="en-US" sz="3600" strike="noStrike" u="none">
                <a:solidFill>
                  <a:srgbClr val="4F2F1E"/>
                </a:solidFill>
                <a:latin typeface="HK Grotesk"/>
                <a:ea typeface="HK Grotesk"/>
                <a:cs typeface="HK Grotesk"/>
                <a:sym typeface="HK Grotesk"/>
              </a:rPr>
              <a:t>an</a:t>
            </a:r>
            <a:r>
              <a:rPr lang="en-US" sz="3600" strike="noStrike" u="none">
                <a:solidFill>
                  <a:srgbClr val="4F2F1E"/>
                </a:solidFill>
                <a:latin typeface="HK Grotesk"/>
                <a:ea typeface="HK Grotesk"/>
                <a:cs typeface="HK Grotesk"/>
                <a:sym typeface="HK Grotesk"/>
              </a:rPr>
              <a:t>ua</a:t>
            </a:r>
            <a:r>
              <a:rPr lang="en-US" sz="3600" strike="noStrike" u="none">
                <a:solidFill>
                  <a:srgbClr val="4F2F1E"/>
                </a:solidFill>
                <a:latin typeface="HK Grotesk"/>
                <a:ea typeface="HK Grotesk"/>
                <a:cs typeface="HK Grotesk"/>
                <a:sym typeface="HK Grotesk"/>
              </a:rPr>
              <a:t>l</a:t>
            </a:r>
            <a:r>
              <a:rPr lang="en-US" sz="3600" strike="noStrike" u="none">
                <a:solidFill>
                  <a:srgbClr val="4F2F1E"/>
                </a:solidFill>
                <a:latin typeface="HK Grotesk"/>
                <a:ea typeface="HK Grotesk"/>
                <a:cs typeface="HK Grotesk"/>
                <a:sym typeface="HK Grotesk"/>
              </a:rPr>
              <a:t> de</a:t>
            </a:r>
            <a:r>
              <a:rPr lang="en-US" sz="3600" strike="noStrike" u="none">
                <a:solidFill>
                  <a:srgbClr val="4F2F1E"/>
                </a:solidFill>
                <a:latin typeface="HK Grotesk"/>
                <a:ea typeface="HK Grotesk"/>
                <a:cs typeface="HK Grotesk"/>
                <a:sym typeface="HK Grotesk"/>
              </a:rPr>
              <a:t>l </a:t>
            </a:r>
            <a:r>
              <a:rPr lang="en-US" sz="3600" strike="noStrike" u="none">
                <a:solidFill>
                  <a:srgbClr val="4F2F1E"/>
                </a:solidFill>
                <a:latin typeface="HK Grotesk"/>
                <a:ea typeface="HK Grotesk"/>
                <a:cs typeface="HK Grotesk"/>
                <a:sym typeface="HK Grotesk"/>
              </a:rPr>
              <a:t>p</a:t>
            </a:r>
            <a:r>
              <a:rPr lang="en-US" sz="3600" strike="noStrike" u="none">
                <a:solidFill>
                  <a:srgbClr val="4F2F1E"/>
                </a:solidFill>
                <a:latin typeface="HK Grotesk"/>
                <a:ea typeface="HK Grotesk"/>
                <a:cs typeface="HK Grotesk"/>
                <a:sym typeface="HK Grotesk"/>
              </a:rPr>
              <a:t>a</a:t>
            </a:r>
            <a:r>
              <a:rPr lang="en-US" sz="3600" strike="noStrike" u="none">
                <a:solidFill>
                  <a:srgbClr val="4F2F1E"/>
                </a:solidFill>
                <a:latin typeface="HK Grotesk"/>
                <a:ea typeface="HK Grotesk"/>
                <a:cs typeface="HK Grotesk"/>
                <a:sym typeface="HK Grotesk"/>
              </a:rPr>
              <a:t>ñ</a:t>
            </a:r>
            <a:r>
              <a:rPr lang="en-US" sz="3600" strike="noStrike" u="none">
                <a:solidFill>
                  <a:srgbClr val="4F2F1E"/>
                </a:solidFill>
                <a:latin typeface="HK Grotesk"/>
                <a:ea typeface="HK Grotesk"/>
                <a:cs typeface="HK Grotesk"/>
                <a:sym typeface="HK Grotesk"/>
              </a:rPr>
              <a:t>o</a:t>
            </a:r>
            <a:r>
              <a:rPr lang="en-US" sz="3600" strike="noStrike" u="none">
                <a:solidFill>
                  <a:srgbClr val="4F2F1E"/>
                </a:solidFill>
                <a:latin typeface="HK Grotesk"/>
                <a:ea typeface="HK Grotesk"/>
                <a:cs typeface="HK Grotesk"/>
                <a:sym typeface="HK Grotesk"/>
              </a:rPr>
              <a:t>l</a:t>
            </a:r>
            <a:r>
              <a:rPr lang="en-US" sz="3600" strike="noStrike" u="none">
                <a:solidFill>
                  <a:srgbClr val="4F2F1E"/>
                </a:solidFill>
                <a:latin typeface="HK Grotesk"/>
                <a:ea typeface="HK Grotesk"/>
                <a:cs typeface="HK Grotesk"/>
                <a:sym typeface="HK Grotesk"/>
              </a:rPr>
              <a:t> </a:t>
            </a:r>
            <a:r>
              <a:rPr lang="en-US" sz="3600" strike="noStrike" u="none">
                <a:solidFill>
                  <a:srgbClr val="4F2F1E"/>
                </a:solidFill>
                <a:latin typeface="HK Grotesk"/>
                <a:ea typeface="HK Grotesk"/>
                <a:cs typeface="HK Grotesk"/>
                <a:sym typeface="HK Grotesk"/>
              </a:rPr>
              <a:t>y</a:t>
            </a:r>
            <a:r>
              <a:rPr lang="en-US" sz="3600" strike="noStrike" u="none">
                <a:solidFill>
                  <a:srgbClr val="4F2F1E"/>
                </a:solidFill>
                <a:latin typeface="HK Grotesk"/>
                <a:ea typeface="HK Grotesk"/>
                <a:cs typeface="HK Grotesk"/>
                <a:sym typeface="HK Grotesk"/>
              </a:rPr>
              <a:t> </a:t>
            </a:r>
            <a:r>
              <a:rPr lang="en-US" sz="3600" strike="noStrike" u="none">
                <a:solidFill>
                  <a:srgbClr val="4F2F1E"/>
                </a:solidFill>
                <a:latin typeface="HK Grotesk"/>
                <a:ea typeface="HK Grotesk"/>
                <a:cs typeface="HK Grotesk"/>
                <a:sym typeface="HK Grotesk"/>
              </a:rPr>
              <a:t>q</a:t>
            </a:r>
            <a:r>
              <a:rPr lang="en-US" sz="3600" strike="noStrike" u="none">
                <a:solidFill>
                  <a:srgbClr val="4F2F1E"/>
                </a:solidFill>
                <a:latin typeface="HK Grotesk"/>
                <a:ea typeface="HK Grotesk"/>
                <a:cs typeface="HK Grotesk"/>
                <a:sym typeface="HK Grotesk"/>
              </a:rPr>
              <a:t>u</a:t>
            </a:r>
            <a:r>
              <a:rPr lang="en-US" sz="3600" strike="noStrike" u="none">
                <a:solidFill>
                  <a:srgbClr val="4F2F1E"/>
                </a:solidFill>
                <a:latin typeface="HK Grotesk"/>
                <a:ea typeface="HK Grotesk"/>
                <a:cs typeface="HK Grotesk"/>
                <a:sym typeface="HK Grotesk"/>
              </a:rPr>
              <a:t>e</a:t>
            </a:r>
            <a:r>
              <a:rPr lang="en-US" sz="3600" strike="noStrike" u="none">
                <a:solidFill>
                  <a:srgbClr val="4F2F1E"/>
                </a:solidFill>
                <a:latin typeface="HK Grotesk"/>
                <a:ea typeface="HK Grotesk"/>
                <a:cs typeface="HK Grotesk"/>
                <a:sym typeface="HK Grotesk"/>
              </a:rPr>
              <a:t> </a:t>
            </a:r>
            <a:r>
              <a:rPr lang="en-US" sz="3600" strike="noStrike" u="none">
                <a:solidFill>
                  <a:srgbClr val="4F2F1E"/>
                </a:solidFill>
                <a:latin typeface="HK Grotesk"/>
                <a:ea typeface="HK Grotesk"/>
                <a:cs typeface="HK Grotesk"/>
                <a:sym typeface="HK Grotesk"/>
              </a:rPr>
              <a:t>s</a:t>
            </a:r>
            <a:r>
              <a:rPr lang="en-US" sz="3600" strike="noStrike" u="none">
                <a:solidFill>
                  <a:srgbClr val="4F2F1E"/>
                </a:solidFill>
                <a:latin typeface="HK Grotesk"/>
                <a:ea typeface="HK Grotesk"/>
                <a:cs typeface="HK Grotesk"/>
                <a:sym typeface="HK Grotesk"/>
              </a:rPr>
              <a:t>e </a:t>
            </a:r>
            <a:r>
              <a:rPr lang="en-US" sz="3600" strike="noStrike" u="none">
                <a:solidFill>
                  <a:srgbClr val="4F2F1E"/>
                </a:solidFill>
                <a:latin typeface="HK Grotesk"/>
                <a:ea typeface="HK Grotesk"/>
                <a:cs typeface="HK Grotesk"/>
                <a:sym typeface="HK Grotesk"/>
              </a:rPr>
              <a:t>aj</a:t>
            </a:r>
            <a:r>
              <a:rPr lang="en-US" sz="3600" strike="noStrike" u="none">
                <a:solidFill>
                  <a:srgbClr val="4F2F1E"/>
                </a:solidFill>
                <a:latin typeface="HK Grotesk"/>
                <a:ea typeface="HK Grotesk"/>
                <a:cs typeface="HK Grotesk"/>
                <a:sym typeface="HK Grotesk"/>
              </a:rPr>
              <a:t>u</a:t>
            </a:r>
            <a:r>
              <a:rPr lang="en-US" sz="3600" strike="noStrike" u="none">
                <a:solidFill>
                  <a:srgbClr val="4F2F1E"/>
                </a:solidFill>
                <a:latin typeface="HK Grotesk"/>
                <a:ea typeface="HK Grotesk"/>
                <a:cs typeface="HK Grotesk"/>
                <a:sym typeface="HK Grotesk"/>
              </a:rPr>
              <a:t>st</a:t>
            </a:r>
            <a:r>
              <a:rPr lang="en-US" sz="3600" strike="noStrike" u="none">
                <a:solidFill>
                  <a:srgbClr val="4F2F1E"/>
                </a:solidFill>
                <a:latin typeface="HK Grotesk"/>
                <a:ea typeface="HK Grotesk"/>
                <a:cs typeface="HK Grotesk"/>
                <a:sym typeface="HK Grotesk"/>
              </a:rPr>
              <a:t>a </a:t>
            </a:r>
            <a:r>
              <a:rPr lang="en-US" sz="3600" strike="noStrike" u="none">
                <a:solidFill>
                  <a:srgbClr val="4F2F1E"/>
                </a:solidFill>
                <a:latin typeface="HK Grotesk"/>
                <a:ea typeface="HK Grotesk"/>
                <a:cs typeface="HK Grotesk"/>
                <a:sym typeface="HK Grotesk"/>
              </a:rPr>
              <a:t>con</a:t>
            </a:r>
            <a:r>
              <a:rPr lang="en-US" sz="3600" strike="noStrike" u="none">
                <a:solidFill>
                  <a:srgbClr val="4F2F1E"/>
                </a:solidFill>
                <a:latin typeface="HK Grotesk"/>
                <a:ea typeface="HK Grotesk"/>
                <a:cs typeface="HK Grotesk"/>
                <a:sym typeface="HK Grotesk"/>
              </a:rPr>
              <a:t> e</a:t>
            </a:r>
            <a:r>
              <a:rPr lang="en-US" sz="3600" strike="noStrike" u="none">
                <a:solidFill>
                  <a:srgbClr val="4F2F1E"/>
                </a:solidFill>
                <a:latin typeface="HK Grotesk"/>
                <a:ea typeface="HK Grotesk"/>
                <a:cs typeface="HK Grotesk"/>
                <a:sym typeface="HK Grotesk"/>
              </a:rPr>
              <a:t>l u</a:t>
            </a:r>
            <a:r>
              <a:rPr lang="en-US" sz="3600" strike="noStrike" u="none">
                <a:solidFill>
                  <a:srgbClr val="4F2F1E"/>
                </a:solidFill>
                <a:latin typeface="HK Grotesk"/>
                <a:ea typeface="HK Grotesk"/>
                <a:cs typeface="HK Grotesk"/>
                <a:sym typeface="HK Grotesk"/>
              </a:rPr>
              <a:t>s</a:t>
            </a:r>
            <a:r>
              <a:rPr lang="en-US" sz="3600" strike="noStrike" u="none">
                <a:solidFill>
                  <a:srgbClr val="4F2F1E"/>
                </a:solidFill>
                <a:latin typeface="HK Grotesk"/>
                <a:ea typeface="HK Grotesk"/>
                <a:cs typeface="HK Grotesk"/>
                <a:sym typeface="HK Grotesk"/>
              </a:rPr>
              <a:t>u</a:t>
            </a:r>
            <a:r>
              <a:rPr lang="en-US" sz="3600" strike="noStrike" u="none">
                <a:solidFill>
                  <a:srgbClr val="4F2F1E"/>
                </a:solidFill>
                <a:latin typeface="HK Grotesk"/>
                <a:ea typeface="HK Grotesk"/>
                <a:cs typeface="HK Grotesk"/>
                <a:sym typeface="HK Grotesk"/>
              </a:rPr>
              <a:t>ar</a:t>
            </a:r>
            <a:r>
              <a:rPr lang="en-US" sz="3600" strike="noStrike" u="none">
                <a:solidFill>
                  <a:srgbClr val="4F2F1E"/>
                </a:solidFill>
                <a:latin typeface="HK Grotesk"/>
                <a:ea typeface="HK Grotesk"/>
                <a:cs typeface="HK Grotesk"/>
                <a:sym typeface="HK Grotesk"/>
              </a:rPr>
              <a:t>i</a:t>
            </a:r>
            <a:r>
              <a:rPr lang="en-US" sz="3600" strike="noStrike" u="none">
                <a:solidFill>
                  <a:srgbClr val="4F2F1E"/>
                </a:solidFill>
                <a:latin typeface="HK Grotesk"/>
                <a:ea typeface="HK Grotesk"/>
                <a:cs typeface="HK Grotesk"/>
                <a:sym typeface="HK Grotesk"/>
              </a:rPr>
              <a:t>o e</a:t>
            </a:r>
            <a:r>
              <a:rPr lang="en-US" sz="3600" strike="noStrike" u="none">
                <a:solidFill>
                  <a:srgbClr val="4F2F1E"/>
                </a:solidFill>
                <a:latin typeface="HK Grotesk"/>
                <a:ea typeface="HK Grotesk"/>
                <a:cs typeface="HK Grotesk"/>
                <a:sym typeface="HK Grotesk"/>
              </a:rPr>
              <a:t>n</a:t>
            </a:r>
            <a:r>
              <a:rPr lang="en-US" sz="3600" strike="noStrike" u="none">
                <a:solidFill>
                  <a:srgbClr val="4F2F1E"/>
                </a:solidFill>
                <a:latin typeface="HK Grotesk"/>
                <a:ea typeface="HK Grotesk"/>
                <a:cs typeface="HK Grotesk"/>
                <a:sym typeface="HK Grotesk"/>
              </a:rPr>
              <a:t> </a:t>
            </a:r>
            <a:r>
              <a:rPr lang="en-US" sz="3600" strike="noStrike" u="none">
                <a:solidFill>
                  <a:srgbClr val="4F2F1E"/>
                </a:solidFill>
                <a:latin typeface="HK Grotesk"/>
                <a:ea typeface="HK Grotesk"/>
                <a:cs typeface="HK Grotesk"/>
                <a:sym typeface="HK Grotesk"/>
              </a:rPr>
              <a:t>cad</a:t>
            </a:r>
            <a:r>
              <a:rPr lang="en-US" sz="3600" strike="noStrike" u="none">
                <a:solidFill>
                  <a:srgbClr val="4F2F1E"/>
                </a:solidFill>
                <a:latin typeface="HK Grotesk"/>
                <a:ea typeface="HK Grotesk"/>
                <a:cs typeface="HK Grotesk"/>
                <a:sym typeface="HK Grotesk"/>
              </a:rPr>
              <a:t>a i</a:t>
            </a:r>
            <a:r>
              <a:rPr lang="en-US" sz="3600" strike="noStrike" u="none">
                <a:solidFill>
                  <a:srgbClr val="4F2F1E"/>
                </a:solidFill>
                <a:latin typeface="HK Grotesk"/>
                <a:ea typeface="HK Grotesk"/>
                <a:cs typeface="HK Grotesk"/>
                <a:sym typeface="HK Grotesk"/>
              </a:rPr>
              <a:t>ncr</a:t>
            </a:r>
            <a:r>
              <a:rPr lang="en-US" sz="3600" strike="noStrike" u="none">
                <a:solidFill>
                  <a:srgbClr val="4F2F1E"/>
                </a:solidFill>
                <a:latin typeface="HK Grotesk"/>
                <a:ea typeface="HK Grotesk"/>
                <a:cs typeface="HK Grotesk"/>
                <a:sym typeface="HK Grotesk"/>
              </a:rPr>
              <a:t>em</a:t>
            </a:r>
            <a:r>
              <a:rPr lang="en-US" sz="3600" strike="noStrike" u="none">
                <a:solidFill>
                  <a:srgbClr val="4F2F1E"/>
                </a:solidFill>
                <a:latin typeface="HK Grotesk"/>
                <a:ea typeface="HK Grotesk"/>
                <a:cs typeface="HK Grotesk"/>
                <a:sym typeface="HK Grotesk"/>
              </a:rPr>
              <a:t>ent</a:t>
            </a:r>
            <a:r>
              <a:rPr lang="en-US" sz="3600" strike="noStrike" u="none">
                <a:solidFill>
                  <a:srgbClr val="4F2F1E"/>
                </a:solidFill>
                <a:latin typeface="HK Grotesk"/>
                <a:ea typeface="HK Grotesk"/>
                <a:cs typeface="HK Grotesk"/>
                <a:sym typeface="HK Grotesk"/>
              </a:rPr>
              <a:t>o.</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DAHYIc2r5Jk</dc:identifier>
  <dcterms:modified xsi:type="dcterms:W3CDTF">2011-08-01T06:04:30Z</dcterms:modified>
  <cp:revision>1</cp:revision>
  <dc:title>Presentación Control de Pañol — estructura final</dc:title>
</cp:coreProperties>
</file>